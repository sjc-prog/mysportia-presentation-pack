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time. What I’m going to show you today is not an app, and it’s not a booking website. It’s infrastructure — national infrastructure for sport and activity in Thailand. My name is Justin Cohen. I’m the Chief Executive of Education AI Group, and MySportia is what we build. I’ll show you why it exists, what’s already running today, and what we’re building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built follows from one problem. So let me start there — with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seventy-five percent of Thai adults are highly sedentary. Sitting more than seven hours a day. And three out of four people stop playing sport — entirely — after they leave education. (Pause.) Three in four. And here’s the part that matters: it is not because people stop wanting to play. Nobody falls out of love with football at twenty-two. They stop because access breaks down. And access is a problem you can actually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slide is my own afternoon. It once took me over two hours on the phone to organise one game of paintball. One game. A venue with no online booking, friends to coordinate, no way to see what was available. And I can book a flight in ninety seconds. A hotel in ninety seconds. Sport is one of the last major categories of modern life with no unified way in. That gap is why three in four people stop playing — and it’s the exact moment this idea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is it so hard? Four reasons, and they compound. The sector is fragmented — phone calls, LINE chats, paper diaries. Over sixty percent of venues have no online booking at all. People have no one to play with — and having someone at your level is one of the strongest predictors there is of whether you keep going. Not motivation. A person. The smaller sports are invisible — I’ll show you that in a second. And because so much runs on cash, the state can’t see it — no data, no sector picture, and tax that never gets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for a moment. Climbing. Diving. Archery. Muay Thai. Every one of these is happening somewhere in Thailand right now — and almost none of it can be found by the people who would play it. These sports are not unpopular. They are invisible. And here’s what infrastructure changes: once the connective layer exists, adding one more sport costs almost nothing. For the first time, the small sports get the same infrastructure as the big ones — no one builds dedicated software for the archery community, and the infrastructure carries them anyway, at no extra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what MySportia is, in one sentence. (Read it from the slide, slowly. Do not paraphrase it.) That’s the whole company. Everything else I show you today is just this sentence,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two sides, and they’re one system. The venue side is the engine. It runs the business — bookings, schedules, payments through PromptPay and Thai QR and cards, automatic invoices and VAT, memberships, customer records, staff. Everything a venue owner currently does by hand at eleven o’clock at night. The consumer side is the storefront. Find any sport, book it and pay in a few taps, find someone at your level. And the person gets control — their bookings, their passes, their memberships, in one account in their pocket. In Thai and in English. One system. The engine makes the storefront possible — and that’s the next part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actually build this? The honest answer is: in the wrong order — deliberately. Let me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the marketplace couldn’t be built first — because that’s where we started. We tried. It could not be built. The venues were the bottleneck. Notebooks. Spreadsheets. LINE messages. You cannot build a marketplace on top of businesses that are not bookable. There is nothing to connect to. There’s a precedent, and it’s a good one. Hotels went through exactly this: they got reservation systems first — and only once hotels were bookable could a marketplace like Booking.com exist. So we inverted the order, deliberately. First fix the venues. Then build the thing people actually use. We spent our first year on the unglamorous half — and it’s the only reason the rest of this presentation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gives you the three phases — and tells you exactly where we are. Phase one: fix the venues. One system that runs the whole business. Built. Phase two: the marketplace. One place to find and book any sport, in Thai and English. Built. Phase three: the lifestyle layer. Profiles and skill ratings. Matching you to an opponent at your level. Leagues, tournaments, national rankings. Community. Native mobile apps. That is this project. Discovery. Booking. Participation. Community. Progression. The first two get someone to one session. The last three decide whether they’re still playing in a year — they’re what turns the three-in-four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everything on this slide is live. This is not a concept and these are not mockups. This is the marketplace, live at mysportia.com — real venues on a real map. This is the booking flow on a phone — pick a trainer, pick a time, pay. And this is the back office a venue manager sees every morning. It’s running today at thirty-two pilot venues in Thailand, taking real bookings and real payments, right now. And underneath it sits real payment infrastructure: we operate as a master merchant with Stripe and with Omise — a new venue is taking digital payments in hours, not weeks. Measured against the full product we’ve planned, this is roughly fifteen percent of it. The venues are fixed. The plumbing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 venue actually get? Four things. More revenue — the marketplace brings customers they could never reach, and empty slots start to fill. Zero admin — bookings, payments, reminders, invoices, VAT — it runs itself. Staff coach instead of doing paperwork. Their own brand — their storefront, their customer relationships. We stay in the background. And the numbers to grow — which classes fill, who comes back, what earns. That's why venues join. And it's why they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player? Everything in one place — any sport, any venue, live availability. Booked and paid in seconds — PromptPay, Thai QR, a card. Control — bookings, passes, memberships in one account in their pocket. And with this project: someone to play with — matched to their level, with leagues and rankings to play for. That's what turns one booking into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build next. Eight functions — and none of them exists in the system today. A player feed, so people discover what’s near them. Opponent matching — sport, skill level, location, availability — so a person without a group can still play. Leagues, tournaments and national rankings, so there’s something to play for. Automated tax reporting — the venue’s returns prepared from its own transaction records and submitted through the Revenue Department’s digital channels, so a venue enters the tax system without doing the paperwork. Venue hardware — gates, kiosks, point of sale, QR entry. Native mobile apps for players and venue operators. AI-assisted onboarding, so a venue joins in hours, not weeks. And the backend for national scale — thousands of venues, not thirty-two. All of it built in Thailand, by our Thai engineering team, in twelve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so the proportions are clear. The fifteen percent is what we’ve shown you — built, running, taking payments. The eighty-five percent is this project. The first half is the plumbing. The second half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about how this grows, because it’s the part people miss. Every venue that joins brings its members with it. The gym signs on Monday — and by Tuesday its whole membership is on the marketplace. And we spent nothing on consumer advertising to make that happen. Zero. That’s why the consumer side reaches national scale without national marketing spend. The supply side carries its own demand in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about the infrastructure, because it's worth seeing where this goes. Nothing in the venue engine is sport-specific. Bookings, schedules, master-merchant payments, memberships, automatic accounting, tax reporting — every service business in Thailand needs the same machine. MySportia is the live proof, in sport. And within the group, the same model is already built for other industries — Kizzem for venue and service booking generally, PetFlow HQ for pet care. More follow. This application funds the sports platform. But the infrastructure it completes is a model Thailand keeps — built once,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take you deep into the technology today — the full stack is documented for anyone who wants it, and our Chief Technology Officer will happily go as deep as you like. What matters in this room is simpler: it’s a modern cloud platform, it already runs in production, it already handles real payments — and everything new gets built in Thailand, in Bangkok, by the Thai team we’re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runs twelve months, in four quarters. Foundations first — the backend for scale and the core consumer experience. Then hardware integration and the mobile applications through the middle of the year. Leagues, rankings and the community layer complete it. One team, one office in Bangkok, one deadline. At the end of it: a system ready to operate at national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pays, and how. It’s deliberately simple. Our customers are sports and activity venues in Thailand — Muay Thai gyms, fitness centres, padel and tennis courts, pools. And on the other side, the players who book them. Venues pay a tiered monthly software licence — a fixed fee by venue size, from a thousand baht a month for the smallest to ten thousand and up for the largest. Fixed means fixed: it does not move with the venue’s own revenue. A venue always knows exactly what the software costs. There’s also payment processing income when venues use our integrated payments — ordinary income, fully disclosed, taxed normally. But the licence is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act. Who’s building this — and what Thailand gets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spell out what this means for Thailand, because it's bigger than sport. When a venue runs on MySportia, its whole revenue runs through one system. Every booking, every payment, recorded as it happens. Accounts produced automatically — invoices, receipts, VAT — without a bookkeeper. And under this project, filing itself: returns prepared from the venue's own records, submitted through the Revenue Department's digital channels. Today most of this sector is cash. Revenue goes unrecorded, tax goes uncollected. A connected venue is a visible venue — and we don't just make them visible, we make them bigger: new customers from the marketplace, automated operations, more revenue to declare. A bigger, cleaner tax base — at no cost to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AI Group has no employees today — and that’s deliberate. Every role you see here is a job we create after approval. This project doesn’t shift existing jobs around; it creates new ones. I lead the company. My background is twenty years of building technology, product and consumer businesses — including taking hardware from design through manufacture. Dmytro Bodlev is our Chief Technology Officer. He architected the platform you saw running — and after approval, he builds and leads the Thai engineering team in Bangkok. Around us: a Chief Operating Officer, a Project Manager, and a Head of Sales — and the Thai engineering team itself: four engineers in year one, eight in year two, twelve in year three. All new hires. All in Bangkok.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commitment: five point six five million baht of investment. Thai IT salaries of just over two million baht in year one — the requirement is one and a half; the exact figure is on the slide. Twelve months to completion. Two sites — Ko Samui and Bangkok. And the return — because this is the reason the project deserves promotion: Participation goes up, against that seventy-five percent sedentary rate. The small sports become visible. Venues come into the digital tax system. It supports the government’s own sports tourism campaigns. It creates skilled Thai technology employment. And it produces something Thailand has never had: real participation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 four people stop playing. Not because they want to — because nothing connects them to the places where they could. We’ve spent a year building the half nobody sees. Now we build the half everyone will use. (Pause.) Get Thailand playing. Thank you. I’m happy to take questions — and if you’d like, the live system is a phone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
          </a:blip>
          <a:stretch>
            <a:fillRect/>
          </a:stretch>
        </p:blipFill>
        <p:spPr>
          <a:xfrm>
            <a:off x="6857985" y="-380927"/>
            <a:ext cx="14287483" cy="8397017"/>
          </a:xfrm>
          <a:prstGeom prst="rect">
            <a:avLst/>
          </a:prstGeom>
        </p:spPr>
      </p:pic>
      <p:pic>
        <p:nvPicPr>
          <p:cNvPr id="3" name="Image 1" descr="preencoded.png">    </p:cNvPr>
          <p:cNvPicPr>
            <a:picLocks noChangeAspect="1"/>
          </p:cNvPicPr>
          <p:nvPr/>
        </p:nvPicPr>
        <p:blipFill>
          <a:blip r:embed="rId2"/>
          <a:stretch>
            <a:fillRect/>
          </a:stretch>
        </p:blipFill>
        <p:spPr>
          <a:xfrm>
            <a:off x="914371" y="533363"/>
            <a:ext cx="1171229" cy="380927"/>
          </a:xfrm>
          <a:prstGeom prst="rect">
            <a:avLst/>
          </a:prstGeom>
        </p:spPr>
      </p:pic>
      <p:sp>
        <p:nvSpPr>
          <p:cNvPr id="4" name="Text 0"/>
          <p:cNvSpPr/>
          <p:nvPr/>
        </p:nvSpPr>
        <p:spPr>
          <a:xfrm>
            <a:off x="16771129" y="609010"/>
            <a:ext cx="678689"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01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pic>
        <p:nvPicPr>
          <p:cNvPr id="5" name="Image 2" descr="preencoded.png">    </p:cNvPr>
          <p:cNvPicPr>
            <a:picLocks noChangeAspect="1"/>
          </p:cNvPicPr>
          <p:nvPr/>
        </p:nvPicPr>
        <p:blipFill>
          <a:blip r:embed="rId3"/>
          <a:stretch>
            <a:fillRect/>
          </a:stretch>
        </p:blipFill>
        <p:spPr>
          <a:xfrm>
            <a:off x="914371" y="3270851"/>
            <a:ext cx="6918715" cy="1428740"/>
          </a:xfrm>
          <a:prstGeom prst="rect">
            <a:avLst/>
          </a:prstGeom>
        </p:spPr>
      </p:pic>
      <p:sp>
        <p:nvSpPr>
          <p:cNvPr id="6" name="Text 1"/>
          <p:cNvSpPr/>
          <p:nvPr/>
        </p:nvSpPr>
        <p:spPr>
          <a:xfrm>
            <a:off x="914371" y="5156735"/>
            <a:ext cx="12753915" cy="1226774"/>
          </a:xfrm>
          <a:prstGeom prst="rect">
            <a:avLst/>
          </a:prstGeom>
          <a:noFill/>
          <a:ln/>
        </p:spPr>
        <p:txBody>
          <a:bodyPr wrap="square" lIns="25400" tIns="25400" rIns="25400" bIns="25400" rtlCol="0" anchor="t">
            <a:normAutofit/>
          </a:bodyPr>
          <a:lstStyle/>
          <a:p>
            <a:pPr algn="l" indent="0" marL="0">
              <a:lnSpc>
                <a:spcPct val="104520"/>
              </a:lnSpc>
              <a:buNone/>
            </a:pPr>
            <a:r>
              <a:rPr lang="en-US" sz="3900" spc="-37" kern="0" dirty="0">
                <a:solidFill>
                  <a:srgbClr val="0B132B"/>
                </a:solidFill>
                <a:latin typeface="Arial" pitchFamily="34" charset="0"/>
                <a:ea typeface="Arial" pitchFamily="34" charset="-122"/>
                <a:cs typeface="Arial" pitchFamily="34" charset="-120"/>
              </a:rPr>
              <a:t>National sports and activity infrastructure for </a:t>
            </a:r>
            <a:pPr algn="l" indent="0" marL="0">
              <a:lnSpc>
                <a:spcPct val="104520"/>
              </a:lnSpc>
              <a:buNone/>
            </a:pPr>
            <a:r>
              <a:rPr lang="en-US" sz="3900" spc="-37" kern="0" dirty="0">
                <a:solidFill>
                  <a:srgbClr val="ED3163"/>
                </a:solidFill>
                <a:latin typeface="Arial" pitchFamily="34" charset="0"/>
                <a:ea typeface="Arial" pitchFamily="34" charset="-122"/>
                <a:cs typeface="Arial" pitchFamily="34" charset="-120"/>
              </a:rPr>
              <a:t>Thailand</a:t>
            </a:r>
            <a:endParaRPr lang="en-US" sz="3900" dirty="0"/>
          </a:p>
        </p:txBody>
      </p:sp>
      <p:sp>
        <p:nvSpPr>
          <p:cNvPr id="7" name="Text 2"/>
          <p:cNvSpPr/>
          <p:nvPr/>
        </p:nvSpPr>
        <p:spPr>
          <a:xfrm>
            <a:off x="914371" y="8702052"/>
            <a:ext cx="18105171" cy="373377"/>
          </a:xfrm>
          <a:prstGeom prst="rect">
            <a:avLst/>
          </a:prstGeom>
          <a:noFill/>
          <a:ln/>
        </p:spPr>
        <p:txBody>
          <a:bodyPr wrap="square" lIns="25400" tIns="25400" rIns="25400" bIns="25400" rtlCol="0" anchor="t">
            <a:normAutofit/>
          </a:bodyPr>
          <a:lstStyle/>
          <a:p>
            <a:pPr algn="l" indent="0" marL="0">
              <a:lnSpc>
                <a:spcPct val="139709"/>
              </a:lnSpc>
              <a:buNone/>
            </a:pPr>
            <a:r>
              <a:rPr lang="en-US" sz="1650" b="1" dirty="0">
                <a:solidFill>
                  <a:srgbClr val="0B132B"/>
                </a:solidFill>
                <a:latin typeface="Arial" pitchFamily="34" charset="0"/>
                <a:ea typeface="Arial" pitchFamily="34" charset="-122"/>
                <a:cs typeface="Arial" pitchFamily="34" charset="-120"/>
              </a:rPr>
              <a:t>A product of Education AI Group Co., Ltd.</a:t>
            </a:r>
            <a:endParaRPr lang="en-US" sz="1650" dirty="0"/>
          </a:p>
        </p:txBody>
      </p:sp>
      <p:sp>
        <p:nvSpPr>
          <p:cNvPr id="8" name="Text 3"/>
          <p:cNvSpPr/>
          <p:nvPr/>
        </p:nvSpPr>
        <p:spPr>
          <a:xfrm>
            <a:off x="914371" y="9037329"/>
            <a:ext cx="18105171" cy="373377"/>
          </a:xfrm>
          <a:prstGeom prst="rect">
            <a:avLst/>
          </a:prstGeom>
          <a:noFill/>
          <a:ln/>
        </p:spPr>
        <p:txBody>
          <a:bodyPr wrap="square" lIns="25400" tIns="25400" rIns="25400" bIns="25400" rtlCol="0" anchor="t">
            <a:normAutofit/>
          </a:bodyPr>
          <a:lstStyle/>
          <a:p>
            <a:pPr algn="l" indent="0" marL="0">
              <a:lnSpc>
                <a:spcPct val="139709"/>
              </a:lnSpc>
              <a:buNone/>
            </a:pPr>
            <a:r>
              <a:rPr lang="en-US" sz="1650" dirty="0">
                <a:solidFill>
                  <a:srgbClr val="475569"/>
                </a:solidFill>
                <a:latin typeface="Arial" pitchFamily="34" charset="0"/>
                <a:ea typeface="Arial" pitchFamily="34" charset="-122"/>
                <a:cs typeface="Arial" pitchFamily="34" charset="-120"/>
              </a:rPr>
              <a:t>September 2026</a:t>
            </a:r>
            <a:endParaRPr lang="en-US" sz="1650" dirty="0"/>
          </a:p>
        </p:txBody>
      </p:sp>
      <p:sp>
        <p:nvSpPr>
          <p:cNvPr id="9" name="Shape 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
          </a:blip>
          <a:stretch>
            <a:fillRect/>
          </a:stretch>
        </p:blipFill>
        <p:spPr>
          <a:xfrm>
            <a:off x="6857985" y="3402255"/>
            <a:ext cx="13334962" cy="7837162"/>
          </a:xfrm>
          <a:prstGeom prst="rect">
            <a:avLst/>
          </a:prstGeom>
        </p:spPr>
      </p:pic>
      <p:pic>
        <p:nvPicPr>
          <p:cNvPr id="3" name="Image 1" descr="preencoded.png">    </p:cNvPr>
          <p:cNvPicPr>
            <a:picLocks noChangeAspect="1"/>
          </p:cNvPicPr>
          <p:nvPr/>
        </p:nvPicPr>
        <p:blipFill>
          <a:blip r:embed="rId2"/>
          <a:stretch>
            <a:fillRect/>
          </a:stretch>
        </p:blipFill>
        <p:spPr>
          <a:xfrm>
            <a:off x="914371" y="533363"/>
            <a:ext cx="322561" cy="380927"/>
          </a:xfrm>
          <a:prstGeom prst="rect">
            <a:avLst/>
          </a:prstGeom>
        </p:spPr>
      </p:pic>
      <p:sp>
        <p:nvSpPr>
          <p:cNvPr id="4" name="Text 0"/>
          <p:cNvSpPr/>
          <p:nvPr/>
        </p:nvSpPr>
        <p:spPr>
          <a:xfrm>
            <a:off x="1332143" y="533770"/>
            <a:ext cx="1001902" cy="418130"/>
          </a:xfrm>
          <a:prstGeom prst="rect">
            <a:avLst/>
          </a:prstGeom>
          <a:noFill/>
          <a:ln/>
        </p:spPr>
        <p:txBody>
          <a:bodyPr wrap="square" lIns="25400" tIns="25400" rIns="25400" bIns="25400" rtlCol="0" anchor="t">
            <a:normAutofit/>
          </a:bodyPr>
          <a:lstStyle/>
          <a:p>
            <a:pPr algn="l" indent="0" marL="0">
              <a:lnSpc>
                <a:spcPct val="93394"/>
              </a:lnSpc>
              <a:buNone/>
            </a:pPr>
            <a:r>
              <a:rPr lang="en-US" sz="1425" b="1" dirty="0">
                <a:solidFill>
                  <a:srgbClr val="F6F8FA"/>
                </a:solidFill>
                <a:latin typeface="Arial" pitchFamily="34" charset="0"/>
                <a:ea typeface="Arial" pitchFamily="34" charset="-122"/>
                <a:cs typeface="Arial" pitchFamily="34" charset="-120"/>
              </a:rPr>
              <a:t>Education AI Group</a:t>
            </a:r>
            <a:endParaRPr lang="en-US" sz="1425" dirty="0"/>
          </a:p>
        </p:txBody>
      </p:sp>
      <p:sp>
        <p:nvSpPr>
          <p:cNvPr id="5" name="Text 1"/>
          <p:cNvSpPr/>
          <p:nvPr/>
        </p:nvSpPr>
        <p:spPr>
          <a:xfrm>
            <a:off x="16732408" y="609010"/>
            <a:ext cx="717409" cy="267651"/>
          </a:xfrm>
          <a:prstGeom prst="rect">
            <a:avLst/>
          </a:prstGeom>
          <a:noFill/>
          <a:ln/>
        </p:spPr>
        <p:txBody>
          <a:bodyPr wrap="none" lIns="25400" tIns="25400" rIns="25400" bIns="25400" rtlCol="0" anchor="t">
            <a:normAutofit/>
          </a:bodyPr>
          <a:lstStyle/>
          <a:p>
            <a:pPr algn="l" indent="0" marL="0">
              <a:buNone/>
            </a:pPr>
            <a:r>
              <a:rPr lang="en-US" sz="1500" dirty="0">
                <a:solidFill>
                  <a:srgbClr val="F6F8FA"/>
                </a:solidFill>
                <a:latin typeface="Arial" pitchFamily="34" charset="0"/>
                <a:ea typeface="Arial" pitchFamily="34" charset="-122"/>
                <a:cs typeface="Arial" pitchFamily="34" charset="-120"/>
              </a:rPr>
              <a:t>02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F6F8FA"/>
                </a:solidFill>
                <a:latin typeface="Arial" pitchFamily="34" charset="0"/>
                <a:ea typeface="Arial" pitchFamily="34" charset="-122"/>
                <a:cs typeface="Arial" pitchFamily="34" charset="-120"/>
              </a:rPr>
              <a:t>26</a:t>
            </a:r>
            <a:endParaRPr lang="en-US" sz="1500" dirty="0"/>
          </a:p>
        </p:txBody>
      </p:sp>
      <p:pic>
        <p:nvPicPr>
          <p:cNvPr id="6" name="Image 2" descr="preencoded.png">    </p:cNvPr>
          <p:cNvPicPr>
            <a:picLocks noChangeAspect="1"/>
          </p:cNvPicPr>
          <p:nvPr/>
        </p:nvPicPr>
        <p:blipFill>
          <a:blip r:embed="rId3"/>
          <a:stretch>
            <a:fillRect/>
          </a:stretch>
        </p:blipFill>
        <p:spPr>
          <a:xfrm>
            <a:off x="914371" y="3887768"/>
            <a:ext cx="2770747" cy="609581"/>
          </a:xfrm>
          <a:prstGeom prst="rect">
            <a:avLst/>
          </a:prstGeom>
        </p:spPr>
      </p:pic>
      <p:sp>
        <p:nvSpPr>
          <p:cNvPr id="7" name="Text 2"/>
          <p:cNvSpPr/>
          <p:nvPr/>
        </p:nvSpPr>
        <p:spPr>
          <a:xfrm>
            <a:off x="914371" y="4878275"/>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WHY THIS EXISTS</a:t>
            </a:r>
            <a:endParaRPr lang="en-US" sz="1200" dirty="0"/>
          </a:p>
        </p:txBody>
      </p:sp>
      <p:sp>
        <p:nvSpPr>
          <p:cNvPr id="8" name="Text 3"/>
          <p:cNvSpPr/>
          <p:nvPr/>
        </p:nvSpPr>
        <p:spPr>
          <a:xfrm>
            <a:off x="914371" y="5279010"/>
            <a:ext cx="18105171" cy="1158219"/>
          </a:xfrm>
          <a:prstGeom prst="rect">
            <a:avLst/>
          </a:prstGeom>
          <a:noFill/>
          <a:ln/>
        </p:spPr>
        <p:txBody>
          <a:bodyPr wrap="square" lIns="25400" tIns="25400" rIns="25400" bIns="25400" rtlCol="0" anchor="t">
            <a:normAutofit/>
          </a:bodyPr>
          <a:lstStyle/>
          <a:p>
            <a:pPr algn="l" indent="0" marL="0">
              <a:lnSpc>
                <a:spcPct val="91365"/>
              </a:lnSpc>
              <a:buNone/>
            </a:pPr>
            <a:r>
              <a:rPr lang="en-US" sz="8400" b="1" spc="-90" kern="0" dirty="0">
                <a:solidFill>
                  <a:srgbClr val="F6F8FA"/>
                </a:solidFill>
                <a:latin typeface="Arial" pitchFamily="34" charset="0"/>
                <a:ea typeface="Arial" pitchFamily="34" charset="-122"/>
                <a:cs typeface="Arial" pitchFamily="34" charset="-120"/>
              </a:rPr>
              <a:t>The </a:t>
            </a:r>
            <a:pPr algn="l" indent="0" marL="0">
              <a:lnSpc>
                <a:spcPct val="91365"/>
              </a:lnSpc>
              <a:buNone/>
            </a:pPr>
            <a:r>
              <a:rPr lang="en-US" sz="8400" b="1" spc="-90" kern="0" dirty="0">
                <a:solidFill>
                  <a:srgbClr val="ED3163"/>
                </a:solidFill>
                <a:latin typeface="Arial" pitchFamily="34" charset="0"/>
                <a:ea typeface="Arial" pitchFamily="34" charset="-122"/>
                <a:cs typeface="Arial" pitchFamily="34" charset="-120"/>
              </a:rPr>
              <a:t>opportunity</a:t>
            </a:r>
            <a:endParaRPr lang="en-US" sz="8400" dirty="0"/>
          </a:p>
        </p:txBody>
      </p:sp>
      <p:sp>
        <p:nvSpPr>
          <p:cNvPr id="9" name="Shape 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0940" y="609010"/>
            <a:ext cx="718876"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03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THE OPPORTUNITY</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problem</a:t>
            </a:r>
            <a:endParaRPr lang="en-US" sz="4050" dirty="0"/>
          </a:p>
        </p:txBody>
      </p:sp>
      <p:sp>
        <p:nvSpPr>
          <p:cNvPr id="6" name="Text 3"/>
          <p:cNvSpPr/>
          <p:nvPr/>
        </p:nvSpPr>
        <p:spPr>
          <a:xfrm>
            <a:off x="914371" y="2609670"/>
            <a:ext cx="7962893" cy="2038352"/>
          </a:xfrm>
          <a:prstGeom prst="rect">
            <a:avLst/>
          </a:prstGeom>
          <a:noFill/>
          <a:ln/>
        </p:spPr>
        <p:txBody>
          <a:bodyPr wrap="square" lIns="25400" tIns="25400" rIns="25400" bIns="25400" rtlCol="0" anchor="t">
            <a:normAutofit/>
          </a:bodyPr>
          <a:lstStyle/>
          <a:p>
            <a:pPr algn="l" indent="0" marL="0">
              <a:lnSpc>
                <a:spcPct val="86940"/>
              </a:lnSpc>
              <a:buNone/>
            </a:pPr>
            <a:r>
              <a:rPr lang="en-US" sz="15750" b="1" spc="-600" kern="0" dirty="0">
                <a:solidFill>
                  <a:srgbClr val="0B132B"/>
                </a:solidFill>
                <a:latin typeface="Arial" pitchFamily="34" charset="0"/>
                <a:ea typeface="Arial" pitchFamily="34" charset="-122"/>
                <a:cs typeface="Arial" pitchFamily="34" charset="-120"/>
              </a:rPr>
              <a:t>75</a:t>
            </a:r>
            <a:pPr algn="l" indent="0" marL="0">
              <a:lnSpc>
                <a:spcPct val="86940"/>
              </a:lnSpc>
              <a:buNone/>
            </a:pPr>
            <a:r>
              <a:rPr lang="en-US" sz="15750" b="1" spc="-600" kern="0" dirty="0">
                <a:solidFill>
                  <a:srgbClr val="ED3163"/>
                </a:solidFill>
                <a:latin typeface="Arial" pitchFamily="34" charset="0"/>
                <a:ea typeface="Arial" pitchFamily="34" charset="-122"/>
                <a:cs typeface="Arial" pitchFamily="34" charset="-120"/>
              </a:rPr>
              <a:t>%</a:t>
            </a:r>
            <a:endParaRPr lang="en-US" sz="15750" dirty="0"/>
          </a:p>
        </p:txBody>
      </p:sp>
      <p:sp>
        <p:nvSpPr>
          <p:cNvPr id="7" name="Text 4"/>
          <p:cNvSpPr/>
          <p:nvPr/>
        </p:nvSpPr>
        <p:spPr>
          <a:xfrm>
            <a:off x="8610509" y="3167895"/>
            <a:ext cx="7456163" cy="921902"/>
          </a:xfrm>
          <a:prstGeom prst="rect">
            <a:avLst/>
          </a:prstGeom>
          <a:noFill/>
          <a:ln/>
        </p:spPr>
        <p:txBody>
          <a:bodyPr wrap="square" lIns="25400" tIns="25400" rIns="25400" bIns="25400" rtlCol="0" anchor="t">
            <a:normAutofit/>
          </a:bodyPr>
          <a:lstStyle/>
          <a:p>
            <a:pPr algn="l" indent="0" marL="0">
              <a:lnSpc>
                <a:spcPct val="126439"/>
              </a:lnSpc>
              <a:buNone/>
            </a:pPr>
            <a:r>
              <a:rPr lang="en-US" sz="2400" dirty="0">
                <a:solidFill>
                  <a:srgbClr val="475569"/>
                </a:solidFill>
                <a:latin typeface="Arial" pitchFamily="34" charset="0"/>
                <a:ea typeface="Arial" pitchFamily="34" charset="-122"/>
                <a:cs typeface="Arial" pitchFamily="34" charset="-120"/>
              </a:rPr>
              <a:t>of Thai adults are highly sedentary, sitting more than seven hours a day</a:t>
            </a:r>
            <a:endParaRPr lang="en-US" sz="2400" dirty="0"/>
          </a:p>
        </p:txBody>
      </p:sp>
      <p:sp>
        <p:nvSpPr>
          <p:cNvPr id="8" name="Text 5"/>
          <p:cNvSpPr/>
          <p:nvPr/>
        </p:nvSpPr>
        <p:spPr>
          <a:xfrm>
            <a:off x="914371" y="4952781"/>
            <a:ext cx="7962893" cy="2038352"/>
          </a:xfrm>
          <a:prstGeom prst="rect">
            <a:avLst/>
          </a:prstGeom>
          <a:noFill/>
          <a:ln/>
        </p:spPr>
        <p:txBody>
          <a:bodyPr wrap="none" lIns="25400" tIns="25400" rIns="25400" bIns="25400" rtlCol="0" anchor="t">
            <a:normAutofit/>
          </a:bodyPr>
          <a:lstStyle/>
          <a:p>
            <a:pPr algn="l" indent="0" marL="0">
              <a:lnSpc>
                <a:spcPct val="86940"/>
              </a:lnSpc>
              <a:buNone/>
            </a:pPr>
            <a:r>
              <a:rPr lang="en-US" sz="15750" b="1" spc="-600" kern="0" dirty="0">
                <a:solidFill>
                  <a:srgbClr val="0B132B"/>
                </a:solidFill>
                <a:latin typeface="Arial" pitchFamily="34" charset="0"/>
                <a:ea typeface="Arial" pitchFamily="34" charset="-122"/>
                <a:cs typeface="Arial" pitchFamily="34" charset="-120"/>
              </a:rPr>
              <a:t>3 </a:t>
            </a:r>
            <a:pPr algn="l" indent="0" marL="0">
              <a:lnSpc>
                <a:spcPct val="86940"/>
              </a:lnSpc>
              <a:buNone/>
            </a:pPr>
            <a:r>
              <a:rPr lang="en-US" sz="10500" b="1" spc="-600" kern="0" dirty="0">
                <a:solidFill>
                  <a:srgbClr val="ED3163"/>
                </a:solidFill>
                <a:latin typeface="Arial" pitchFamily="34" charset="0"/>
                <a:ea typeface="Arial" pitchFamily="34" charset="-122"/>
                <a:cs typeface="Arial" pitchFamily="34" charset="-120"/>
              </a:rPr>
              <a:t>in </a:t>
            </a:r>
            <a:pPr algn="l" indent="0" marL="0">
              <a:lnSpc>
                <a:spcPct val="86940"/>
              </a:lnSpc>
              <a:buNone/>
            </a:pPr>
            <a:r>
              <a:rPr lang="en-US" sz="15750" b="1" spc="-600" kern="0" dirty="0">
                <a:solidFill>
                  <a:srgbClr val="0B132B"/>
                </a:solidFill>
                <a:latin typeface="Arial" pitchFamily="34" charset="0"/>
                <a:ea typeface="Arial" pitchFamily="34" charset="-122"/>
                <a:cs typeface="Arial" pitchFamily="34" charset="-120"/>
              </a:rPr>
              <a:t>4</a:t>
            </a:r>
            <a:endParaRPr lang="en-US" sz="15750" dirty="0"/>
          </a:p>
        </p:txBody>
      </p:sp>
      <p:sp>
        <p:nvSpPr>
          <p:cNvPr id="9" name="Text 6"/>
          <p:cNvSpPr/>
          <p:nvPr/>
        </p:nvSpPr>
        <p:spPr>
          <a:xfrm>
            <a:off x="8610509" y="5731916"/>
            <a:ext cx="7962893" cy="480001"/>
          </a:xfrm>
          <a:prstGeom prst="rect">
            <a:avLst/>
          </a:prstGeom>
          <a:noFill/>
          <a:ln/>
        </p:spPr>
        <p:txBody>
          <a:bodyPr wrap="square" lIns="25400" tIns="25400" rIns="25400" bIns="25400" rtlCol="0" anchor="t">
            <a:normAutofit/>
          </a:bodyPr>
          <a:lstStyle/>
          <a:p>
            <a:pPr algn="l" indent="0" marL="0">
              <a:lnSpc>
                <a:spcPct val="126439"/>
              </a:lnSpc>
              <a:buNone/>
            </a:pPr>
            <a:r>
              <a:rPr lang="en-US" sz="2400" dirty="0">
                <a:solidFill>
                  <a:srgbClr val="475569"/>
                </a:solidFill>
                <a:latin typeface="Arial" pitchFamily="34" charset="0"/>
                <a:ea typeface="Arial" pitchFamily="34" charset="-122"/>
                <a:cs typeface="Arial" pitchFamily="34" charset="-120"/>
              </a:rPr>
              <a:t>stop playing sport entirely after leaving education</a:t>
            </a:r>
            <a:endParaRPr lang="en-US" sz="2400" dirty="0"/>
          </a:p>
        </p:txBody>
      </p:sp>
      <p:sp>
        <p:nvSpPr>
          <p:cNvPr id="10" name="Shape 7"/>
          <p:cNvSpPr/>
          <p:nvPr/>
        </p:nvSpPr>
        <p:spPr>
          <a:xfrm>
            <a:off x="914371" y="8644990"/>
            <a:ext cx="914371" cy="28531"/>
          </a:xfrm>
          <a:prstGeom prst="rect">
            <a:avLst/>
          </a:prstGeom>
          <a:solidFill>
            <a:srgbClr val="ED3163"/>
          </a:solidFill>
          <a:ln/>
        </p:spPr>
      </p:sp>
      <p:sp>
        <p:nvSpPr>
          <p:cNvPr id="11" name="Text 8"/>
          <p:cNvSpPr/>
          <p:nvPr/>
        </p:nvSpPr>
        <p:spPr>
          <a:xfrm>
            <a:off x="914371" y="8902094"/>
            <a:ext cx="18105171" cy="508613"/>
          </a:xfrm>
          <a:prstGeom prst="rect">
            <a:avLst/>
          </a:prstGeom>
          <a:noFill/>
          <a:ln/>
        </p:spPr>
        <p:txBody>
          <a:bodyPr wrap="square" lIns="25400" tIns="25400" rIns="25400" bIns="25400" rtlCol="0" anchor="t">
            <a:normAutofit/>
          </a:bodyPr>
          <a:lstStyle/>
          <a:p>
            <a:pPr algn="l" indent="0" marL="0">
              <a:lnSpc>
                <a:spcPct val="112740"/>
              </a:lnSpc>
              <a:buNone/>
            </a:pPr>
            <a:r>
              <a:rPr lang="en-US" sz="2850" spc="-22" kern="0" dirty="0">
                <a:solidFill>
                  <a:srgbClr val="0B132B"/>
                </a:solidFill>
                <a:latin typeface="Arial" pitchFamily="34" charset="0"/>
                <a:ea typeface="Arial" pitchFamily="34" charset="-122"/>
                <a:cs typeface="Arial" pitchFamily="34" charset="-120"/>
              </a:rPr>
              <a:t>The reason is not lack of interest. </a:t>
            </a:r>
            <a:pPr algn="l" indent="0" marL="0">
              <a:lnSpc>
                <a:spcPct val="112740"/>
              </a:lnSpc>
              <a:buNone/>
            </a:pPr>
            <a:r>
              <a:rPr lang="en-US" sz="2850" spc="-22" kern="0" dirty="0">
                <a:solidFill>
                  <a:srgbClr val="ED3163"/>
                </a:solidFill>
                <a:latin typeface="Arial" pitchFamily="34" charset="0"/>
                <a:ea typeface="Arial" pitchFamily="34" charset="-122"/>
                <a:cs typeface="Arial" pitchFamily="34" charset="-120"/>
              </a:rPr>
              <a:t>It is lack of access.</a:t>
            </a:r>
            <a:endParaRPr lang="en-US" sz="2850" dirty="0"/>
          </a:p>
        </p:txBody>
      </p:sp>
      <p:sp>
        <p:nvSpPr>
          <p:cNvPr id="12" name="Shape 9"/>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25560" y="609010"/>
            <a:ext cx="724256"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04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THE OPPORTUNITY</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Where it started</a:t>
            </a:r>
            <a:endParaRPr lang="en-US" sz="4050" dirty="0"/>
          </a:p>
        </p:txBody>
      </p:sp>
      <p:sp>
        <p:nvSpPr>
          <p:cNvPr id="6" name="Text 3"/>
          <p:cNvSpPr/>
          <p:nvPr/>
        </p:nvSpPr>
        <p:spPr>
          <a:xfrm>
            <a:off x="914371" y="2609670"/>
            <a:ext cx="13620686" cy="563882"/>
          </a:xfrm>
          <a:prstGeom prst="rect">
            <a:avLst/>
          </a:prstGeom>
          <a:noFill/>
          <a:ln/>
        </p:spPr>
        <p:txBody>
          <a:bodyPr wrap="square" lIns="25400" tIns="25400" rIns="25400" bIns="25400" rtlCol="0" anchor="t">
            <a:normAutofit/>
          </a:bodyPr>
          <a:lstStyle/>
          <a:p>
            <a:pPr algn="l" indent="0" marL="0">
              <a:lnSpc>
                <a:spcPct val="103898"/>
              </a:lnSpc>
              <a:buNone/>
            </a:pPr>
            <a:r>
              <a:rPr lang="en-US" sz="3450" b="1" spc="-37" kern="0" dirty="0">
                <a:solidFill>
                  <a:srgbClr val="0B132B"/>
                </a:solidFill>
                <a:latin typeface="Arial" pitchFamily="34" charset="0"/>
                <a:ea typeface="Arial" pitchFamily="34" charset="-122"/>
                <a:cs typeface="Arial" pitchFamily="34" charset="-120"/>
              </a:rPr>
              <a:t>Sport is everywhere in education. Then it stops.</a:t>
            </a:r>
            <a:endParaRPr lang="en-US" sz="3450" dirty="0"/>
          </a:p>
        </p:txBody>
      </p:sp>
      <p:sp>
        <p:nvSpPr>
          <p:cNvPr id="7" name="Text 4"/>
          <p:cNvSpPr/>
          <p:nvPr/>
        </p:nvSpPr>
        <p:spPr>
          <a:xfrm>
            <a:off x="914371" y="3554528"/>
            <a:ext cx="8005611" cy="1194656"/>
          </a:xfrm>
          <a:prstGeom prst="rect">
            <a:avLst/>
          </a:prstGeom>
          <a:noFill/>
          <a:ln/>
        </p:spPr>
        <p:txBody>
          <a:bodyPr wrap="square" lIns="25400" tIns="25400" rIns="25400" bIns="25400" rtlCol="0" anchor="t">
            <a:normAutofit/>
          </a:bodyPr>
          <a:lstStyle/>
          <a:p>
            <a:pPr algn="l" indent="0" marL="0">
              <a:lnSpc>
                <a:spcPct val="133777"/>
              </a:lnSpc>
              <a:buNone/>
            </a:pPr>
            <a:r>
              <a:rPr lang="en-US" sz="1950" dirty="0">
                <a:solidFill>
                  <a:srgbClr val="475569"/>
                </a:solidFill>
                <a:latin typeface="Arial" pitchFamily="34" charset="0"/>
                <a:ea typeface="Arial" pitchFamily="34" charset="-122"/>
                <a:cs typeface="Arial" pitchFamily="34" charset="-120"/>
              </a:rPr>
              <a:t>It once took over </a:t>
            </a:r>
            <a:pPr algn="l" indent="0" marL="0">
              <a:lnSpc>
                <a:spcPct val="133777"/>
              </a:lnSpc>
              <a:buNone/>
            </a:pPr>
            <a:r>
              <a:rPr lang="en-US" sz="1950" b="1" dirty="0">
                <a:solidFill>
                  <a:srgbClr val="0B132B"/>
                </a:solidFill>
                <a:latin typeface="Arial" pitchFamily="34" charset="0"/>
                <a:ea typeface="Arial" pitchFamily="34" charset="-122"/>
                <a:cs typeface="Arial" pitchFamily="34" charset="-120"/>
              </a:rPr>
              <a:t>two hours </a:t>
            </a:r>
            <a:pPr algn="l" indent="0" marL="0">
              <a:lnSpc>
                <a:spcPct val="133777"/>
              </a:lnSpc>
              <a:buNone/>
            </a:pPr>
            <a:r>
              <a:rPr lang="en-US" sz="1950" dirty="0">
                <a:solidFill>
                  <a:srgbClr val="475569"/>
                </a:solidFill>
                <a:latin typeface="Arial" pitchFamily="34" charset="0"/>
                <a:ea typeface="Arial" pitchFamily="34" charset="-122"/>
                <a:cs typeface="Arial" pitchFamily="34" charset="-120"/>
              </a:rPr>
              <a:t>of phone calls to organise a single game of paintball — a venue with no online booking, a group to coordinate, and no way to see whether anything was available.</a:t>
            </a:r>
            <a:endParaRPr lang="en-US" sz="1950" dirty="0"/>
          </a:p>
        </p:txBody>
      </p:sp>
      <p:sp>
        <p:nvSpPr>
          <p:cNvPr id="8" name="Text 5"/>
          <p:cNvSpPr/>
          <p:nvPr/>
        </p:nvSpPr>
        <p:spPr>
          <a:xfrm>
            <a:off x="9601179" y="3554528"/>
            <a:ext cx="8005611" cy="1194656"/>
          </a:xfrm>
          <a:prstGeom prst="rect">
            <a:avLst/>
          </a:prstGeom>
          <a:noFill/>
          <a:ln/>
        </p:spPr>
        <p:txBody>
          <a:bodyPr wrap="square" lIns="25400" tIns="25400" rIns="25400" bIns="25400" rtlCol="0" anchor="t">
            <a:normAutofit/>
          </a:bodyPr>
          <a:lstStyle/>
          <a:p>
            <a:pPr algn="l" indent="0" marL="0">
              <a:lnSpc>
                <a:spcPct val="133777"/>
              </a:lnSpc>
              <a:buNone/>
            </a:pPr>
            <a:r>
              <a:rPr lang="en-US" sz="1950" dirty="0">
                <a:solidFill>
                  <a:srgbClr val="475569"/>
                </a:solidFill>
                <a:latin typeface="Arial" pitchFamily="34" charset="0"/>
                <a:ea typeface="Arial" pitchFamily="34" charset="-122"/>
                <a:cs typeface="Arial" pitchFamily="34" charset="-120"/>
              </a:rPr>
              <a:t>A flight, a hotel or a car can be booked in </a:t>
            </a:r>
            <a:pPr algn="l" indent="0" marL="0">
              <a:lnSpc>
                <a:spcPct val="133777"/>
              </a:lnSpc>
              <a:buNone/>
            </a:pPr>
            <a:r>
              <a:rPr lang="en-US" sz="1950" b="1" dirty="0">
                <a:solidFill>
                  <a:srgbClr val="0B132B"/>
                </a:solidFill>
                <a:latin typeface="Arial" pitchFamily="34" charset="0"/>
                <a:ea typeface="Arial" pitchFamily="34" charset="-122"/>
                <a:cs typeface="Arial" pitchFamily="34" charset="-120"/>
              </a:rPr>
              <a:t>ninety seconds</a:t>
            </a:r>
            <a:pPr algn="l" indent="0" marL="0">
              <a:lnSpc>
                <a:spcPct val="133777"/>
              </a:lnSpc>
              <a:buNone/>
            </a:pPr>
            <a:r>
              <a:rPr lang="en-US" sz="1950" dirty="0">
                <a:solidFill>
                  <a:srgbClr val="475569"/>
                </a:solidFill>
                <a:latin typeface="Arial" pitchFamily="34" charset="0"/>
                <a:ea typeface="Arial" pitchFamily="34" charset="-122"/>
                <a:cs typeface="Arial" pitchFamily="34" charset="-120"/>
              </a:rPr>
              <a:t>.</a:t>
            </a:r>
            <a:endParaRPr lang="en-US" sz="1950" dirty="0"/>
          </a:p>
        </p:txBody>
      </p:sp>
      <p:sp>
        <p:nvSpPr>
          <p:cNvPr id="9" name="Text 6"/>
          <p:cNvSpPr/>
          <p:nvPr/>
        </p:nvSpPr>
        <p:spPr>
          <a:xfrm>
            <a:off x="914371" y="6473635"/>
            <a:ext cx="3143228" cy="267651"/>
          </a:xfrm>
          <a:prstGeom prst="rect">
            <a:avLst/>
          </a:prstGeom>
          <a:noFill/>
          <a:ln/>
        </p:spPr>
        <p:txBody>
          <a:bodyPr wrap="square" lIns="25400" tIns="25400" rIns="25400" bIns="25400" rtlCol="0" anchor="t">
            <a:normAutofit/>
          </a:bodyPr>
          <a:lstStyle/>
          <a:p>
            <a:pPr algn="l" indent="0" marL="0">
              <a:buNone/>
            </a:pPr>
            <a:r>
              <a:rPr lang="en-US" sz="1500" dirty="0">
                <a:solidFill>
                  <a:srgbClr val="475569"/>
                </a:solidFill>
                <a:latin typeface="Arial" pitchFamily="34" charset="0"/>
                <a:ea typeface="Arial" pitchFamily="34" charset="-122"/>
                <a:cs typeface="Arial" pitchFamily="34" charset="-120"/>
              </a:rPr>
              <a:t>One game of paintball</a:t>
            </a:r>
            <a:endParaRPr lang="en-US" sz="1500" dirty="0"/>
          </a:p>
        </p:txBody>
      </p:sp>
      <p:sp>
        <p:nvSpPr>
          <p:cNvPr id="10" name="Shape 7"/>
          <p:cNvSpPr/>
          <p:nvPr/>
        </p:nvSpPr>
        <p:spPr>
          <a:xfrm>
            <a:off x="4000424" y="6378912"/>
            <a:ext cx="13373193" cy="419076"/>
          </a:xfrm>
          <a:prstGeom prst="roundRect">
            <a:avLst>
              <a:gd name="adj" fmla="val 13637"/>
            </a:avLst>
          </a:prstGeom>
          <a:solidFill>
            <a:srgbClr val="0B132B"/>
          </a:solidFill>
          <a:ln/>
        </p:spPr>
      </p:sp>
      <p:sp>
        <p:nvSpPr>
          <p:cNvPr id="11" name="Text 8"/>
          <p:cNvSpPr/>
          <p:nvPr/>
        </p:nvSpPr>
        <p:spPr>
          <a:xfrm>
            <a:off x="3789728" y="6378912"/>
            <a:ext cx="13393389" cy="457176"/>
          </a:xfrm>
          <a:prstGeom prst="rect">
            <a:avLst/>
          </a:prstGeom>
          <a:noFill/>
          <a:ln/>
        </p:spPr>
        <p:txBody>
          <a:bodyPr wrap="square" lIns="25400" tIns="25400" rIns="25400" bIns="25400" rtlCol="0" anchor="ctr">
            <a:normAutofit/>
          </a:bodyPr>
          <a:lstStyle/>
          <a:p>
            <a:pPr algn="r" indent="0" marL="0">
              <a:buNone/>
            </a:pPr>
            <a:r>
              <a:rPr lang="en-US" sz="1500" b="1" dirty="0">
                <a:solidFill>
                  <a:srgbClr val="F6F8FA"/>
                </a:solidFill>
                <a:latin typeface="Arial" pitchFamily="34" charset="0"/>
                <a:ea typeface="Arial" pitchFamily="34" charset="-122"/>
                <a:cs typeface="Arial" pitchFamily="34" charset="-120"/>
              </a:rPr>
              <a:t>2 hours</a:t>
            </a:r>
            <a:endParaRPr lang="en-US" sz="1500" dirty="0"/>
          </a:p>
        </p:txBody>
      </p:sp>
      <p:sp>
        <p:nvSpPr>
          <p:cNvPr id="12" name="Text 9"/>
          <p:cNvSpPr/>
          <p:nvPr/>
        </p:nvSpPr>
        <p:spPr>
          <a:xfrm>
            <a:off x="914371" y="7083134"/>
            <a:ext cx="3143228" cy="267651"/>
          </a:xfrm>
          <a:prstGeom prst="rect">
            <a:avLst/>
          </a:prstGeom>
          <a:noFill/>
          <a:ln/>
        </p:spPr>
        <p:txBody>
          <a:bodyPr wrap="square" lIns="25400" tIns="25400" rIns="25400" bIns="25400" rtlCol="0" anchor="t">
            <a:normAutofit/>
          </a:bodyPr>
          <a:lstStyle/>
          <a:p>
            <a:pPr algn="l" indent="0" marL="0">
              <a:buNone/>
            </a:pPr>
            <a:r>
              <a:rPr lang="en-US" sz="1500" dirty="0">
                <a:solidFill>
                  <a:srgbClr val="475569"/>
                </a:solidFill>
                <a:latin typeface="Arial" pitchFamily="34" charset="0"/>
                <a:ea typeface="Arial" pitchFamily="34" charset="-122"/>
                <a:cs typeface="Arial" pitchFamily="34" charset="-120"/>
              </a:rPr>
              <a:t>A flight, a hotel, a car</a:t>
            </a:r>
            <a:endParaRPr lang="en-US" sz="1500" dirty="0"/>
          </a:p>
        </p:txBody>
      </p:sp>
      <p:sp>
        <p:nvSpPr>
          <p:cNvPr id="13" name="Shape 10"/>
          <p:cNvSpPr/>
          <p:nvPr/>
        </p:nvSpPr>
        <p:spPr>
          <a:xfrm>
            <a:off x="4000424" y="6988412"/>
            <a:ext cx="171429" cy="419076"/>
          </a:xfrm>
          <a:prstGeom prst="roundRect">
            <a:avLst>
              <a:gd name="adj" fmla="val 22225"/>
            </a:avLst>
          </a:prstGeom>
          <a:solidFill>
            <a:srgbClr val="ED3163"/>
          </a:solidFill>
          <a:ln/>
        </p:spPr>
      </p:sp>
      <p:sp>
        <p:nvSpPr>
          <p:cNvPr id="14" name="Text 11"/>
          <p:cNvSpPr/>
          <p:nvPr/>
        </p:nvSpPr>
        <p:spPr>
          <a:xfrm>
            <a:off x="4324207" y="7088351"/>
            <a:ext cx="1050486" cy="257216"/>
          </a:xfrm>
          <a:prstGeom prst="rect">
            <a:avLst/>
          </a:prstGeom>
          <a:noFill/>
          <a:ln/>
        </p:spPr>
        <p:txBody>
          <a:bodyPr wrap="none" lIns="25400" tIns="25400" rIns="25400" bIns="25400" rtlCol="0" anchor="t">
            <a:normAutofit/>
          </a:bodyPr>
          <a:lstStyle/>
          <a:p>
            <a:pPr algn="l" indent="0" marL="0">
              <a:buNone/>
            </a:pPr>
            <a:r>
              <a:rPr lang="en-US" sz="1500" b="1" dirty="0">
                <a:solidFill>
                  <a:srgbClr val="0B132B"/>
                </a:solidFill>
                <a:latin typeface="Arial" pitchFamily="34" charset="0"/>
                <a:ea typeface="Arial" pitchFamily="34" charset="-122"/>
                <a:cs typeface="Arial" pitchFamily="34" charset="-120"/>
              </a:rPr>
              <a:t>90 seconds</a:t>
            </a:r>
            <a:endParaRPr lang="en-US" sz="1500" dirty="0"/>
          </a:p>
        </p:txBody>
      </p:sp>
      <p:sp>
        <p:nvSpPr>
          <p:cNvPr id="15" name="Text 12"/>
          <p:cNvSpPr/>
          <p:nvPr/>
        </p:nvSpPr>
        <p:spPr>
          <a:xfrm>
            <a:off x="914371" y="9075234"/>
            <a:ext cx="18105171" cy="335472"/>
          </a:xfrm>
          <a:prstGeom prst="rect">
            <a:avLst/>
          </a:prstGeom>
          <a:noFill/>
          <a:ln/>
        </p:spPr>
        <p:txBody>
          <a:bodyPr wrap="square" lIns="25400" tIns="25400" rIns="25400" bIns="25400" rtlCol="0" anchor="t">
            <a:normAutofit/>
          </a:bodyPr>
          <a:lstStyle/>
          <a:p>
            <a:pPr algn="l" indent="0" marL="0">
              <a:buNone/>
            </a:pPr>
            <a:r>
              <a:rPr lang="en-US" sz="1950" dirty="0">
                <a:solidFill>
                  <a:srgbClr val="0B132B"/>
                </a:solidFill>
                <a:latin typeface="Arial" pitchFamily="34" charset="0"/>
                <a:ea typeface="Arial" pitchFamily="34" charset="-122"/>
                <a:cs typeface="Arial" pitchFamily="34" charset="-120"/>
              </a:rPr>
              <a:t>Sport is one of the last major consumer categories with no unified way in.</a:t>
            </a:r>
            <a:endParaRPr lang="en-US" sz="1950" dirty="0"/>
          </a:p>
        </p:txBody>
      </p:sp>
      <p:sp>
        <p:nvSpPr>
          <p:cNvPr id="16" name="Shape 13"/>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5587" y="609010"/>
            <a:ext cx="714230"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05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THE OPPORTUNITY</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Why access is hard</a:t>
            </a:r>
            <a:endParaRPr lang="en-US" sz="4050" dirty="0"/>
          </a:p>
        </p:txBody>
      </p:sp>
      <p:sp>
        <p:nvSpPr>
          <p:cNvPr id="6" name="Shape 3"/>
          <p:cNvSpPr/>
          <p:nvPr/>
        </p:nvSpPr>
        <p:spPr>
          <a:xfrm>
            <a:off x="914371" y="2609670"/>
            <a:ext cx="8115296" cy="3267182"/>
          </a:xfrm>
          <a:prstGeom prst="roundRect">
            <a:avLst>
              <a:gd name="adj" fmla="val 46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7" name="Text 4"/>
          <p:cNvSpPr/>
          <p:nvPr/>
        </p:nvSpPr>
        <p:spPr>
          <a:xfrm>
            <a:off x="1224378" y="2919677"/>
            <a:ext cx="8244810" cy="371992"/>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Fragmented</a:t>
            </a:r>
            <a:endParaRPr lang="en-US" sz="2250" dirty="0"/>
          </a:p>
        </p:txBody>
      </p:sp>
      <p:sp>
        <p:nvSpPr>
          <p:cNvPr id="8" name="Text 5"/>
          <p:cNvSpPr/>
          <p:nvPr/>
        </p:nvSpPr>
        <p:spPr>
          <a:xfrm>
            <a:off x="1224378" y="3386849"/>
            <a:ext cx="7720140" cy="1056404"/>
          </a:xfrm>
          <a:prstGeom prst="rect">
            <a:avLst/>
          </a:prstGeom>
          <a:noFill/>
          <a:ln/>
        </p:spPr>
        <p:txBody>
          <a:bodyPr wrap="square" lIns="25400" tIns="25400" rIns="25400" bIns="25400" rtlCol="0" anchor="t">
            <a:normAutofit/>
          </a:bodyPr>
          <a:lstStyle/>
          <a:p>
            <a:pPr algn="l" indent="0" marL="0">
              <a:lnSpc>
                <a:spcPct val="135599"/>
              </a:lnSpc>
              <a:buNone/>
            </a:pPr>
            <a:r>
              <a:rPr lang="en-US" sz="1725" dirty="0">
                <a:solidFill>
                  <a:srgbClr val="475569"/>
                </a:solidFill>
                <a:latin typeface="Arial" pitchFamily="34" charset="0"/>
                <a:ea typeface="Arial" pitchFamily="34" charset="-122"/>
                <a:cs typeface="Arial" pitchFamily="34" charset="-120"/>
              </a:rPr>
              <a:t>Venues run on phone calls, LINE chats, paper schedules and spreadsheets. Over 60% have no online booking system at all. There is no central place to discover or book anything.</a:t>
            </a:r>
            <a:endParaRPr lang="en-US" sz="1725" dirty="0"/>
          </a:p>
        </p:txBody>
      </p:sp>
      <p:sp>
        <p:nvSpPr>
          <p:cNvPr id="9" name="Shape 6"/>
          <p:cNvSpPr/>
          <p:nvPr/>
        </p:nvSpPr>
        <p:spPr>
          <a:xfrm>
            <a:off x="9258240" y="2609670"/>
            <a:ext cx="8115377" cy="3267182"/>
          </a:xfrm>
          <a:prstGeom prst="roundRect">
            <a:avLst>
              <a:gd name="adj" fmla="val 46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10" name="Text 7"/>
          <p:cNvSpPr/>
          <p:nvPr/>
        </p:nvSpPr>
        <p:spPr>
          <a:xfrm>
            <a:off x="9568247" y="2919677"/>
            <a:ext cx="8244899" cy="371992"/>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No one to play with</a:t>
            </a:r>
            <a:endParaRPr lang="en-US" sz="2250" dirty="0"/>
          </a:p>
        </p:txBody>
      </p:sp>
      <p:sp>
        <p:nvSpPr>
          <p:cNvPr id="11" name="Text 8"/>
          <p:cNvSpPr/>
          <p:nvPr/>
        </p:nvSpPr>
        <p:spPr>
          <a:xfrm>
            <a:off x="9568247" y="3386849"/>
            <a:ext cx="7720224" cy="716970"/>
          </a:xfrm>
          <a:prstGeom prst="rect">
            <a:avLst/>
          </a:prstGeom>
          <a:noFill/>
          <a:ln/>
        </p:spPr>
        <p:txBody>
          <a:bodyPr wrap="square" lIns="25400" tIns="25400" rIns="25400" bIns="25400" rtlCol="0" anchor="t">
            <a:normAutofit/>
          </a:bodyPr>
          <a:lstStyle/>
          <a:p>
            <a:pPr algn="l" indent="0" marL="0">
              <a:lnSpc>
                <a:spcPct val="135599"/>
              </a:lnSpc>
              <a:buNone/>
            </a:pPr>
            <a:r>
              <a:rPr lang="en-US" sz="1725" dirty="0">
                <a:solidFill>
                  <a:srgbClr val="475569"/>
                </a:solidFill>
                <a:latin typeface="Arial" pitchFamily="34" charset="0"/>
                <a:ea typeface="Arial" pitchFamily="34" charset="-122"/>
                <a:cs typeface="Arial" pitchFamily="34" charset="-120"/>
              </a:rPr>
              <a:t>Having someone at your level to play against is the single biggest predictor of whether a person keeps participating.</a:t>
            </a:r>
            <a:endParaRPr lang="en-US" sz="1725" dirty="0"/>
          </a:p>
        </p:txBody>
      </p:sp>
      <p:sp>
        <p:nvSpPr>
          <p:cNvPr id="12" name="Shape 9"/>
          <p:cNvSpPr/>
          <p:nvPr/>
        </p:nvSpPr>
        <p:spPr>
          <a:xfrm>
            <a:off x="914371" y="6105424"/>
            <a:ext cx="8115296" cy="3267182"/>
          </a:xfrm>
          <a:prstGeom prst="roundRect">
            <a:avLst>
              <a:gd name="adj" fmla="val 46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13" name="Text 10"/>
          <p:cNvSpPr/>
          <p:nvPr/>
        </p:nvSpPr>
        <p:spPr>
          <a:xfrm>
            <a:off x="1224378" y="6415432"/>
            <a:ext cx="8244810" cy="371992"/>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Minority sports are invisible</a:t>
            </a:r>
            <a:endParaRPr lang="en-US" sz="2250" dirty="0"/>
          </a:p>
        </p:txBody>
      </p:sp>
      <p:sp>
        <p:nvSpPr>
          <p:cNvPr id="14" name="Text 11"/>
          <p:cNvSpPr/>
          <p:nvPr/>
        </p:nvSpPr>
        <p:spPr>
          <a:xfrm>
            <a:off x="1224378" y="6882603"/>
            <a:ext cx="7720140" cy="1056404"/>
          </a:xfrm>
          <a:prstGeom prst="rect">
            <a:avLst/>
          </a:prstGeom>
          <a:noFill/>
          <a:ln/>
        </p:spPr>
        <p:txBody>
          <a:bodyPr wrap="square" lIns="25400" tIns="25400" rIns="25400" bIns="25400" rtlCol="0" anchor="t">
            <a:normAutofit/>
          </a:bodyPr>
          <a:lstStyle/>
          <a:p>
            <a:pPr algn="l" indent="0" marL="0">
              <a:lnSpc>
                <a:spcPct val="135599"/>
              </a:lnSpc>
              <a:buNone/>
            </a:pPr>
            <a:r>
              <a:rPr lang="en-US" sz="1725" dirty="0">
                <a:solidFill>
                  <a:srgbClr val="475569"/>
                </a:solidFill>
                <a:latin typeface="Arial" pitchFamily="34" charset="0"/>
                <a:ea typeface="Arial" pitchFamily="34" charset="-122"/>
                <a:cs typeface="Arial" pitchFamily="34" charset="-120"/>
              </a:rPr>
              <a:t>Climbing, diving, Muay Thai, archery, community leagues — happening across the country, with no way for the people who would play them to find them.</a:t>
            </a:r>
            <a:endParaRPr lang="en-US" sz="1725" dirty="0"/>
          </a:p>
        </p:txBody>
      </p:sp>
      <p:sp>
        <p:nvSpPr>
          <p:cNvPr id="15" name="Shape 12"/>
          <p:cNvSpPr/>
          <p:nvPr/>
        </p:nvSpPr>
        <p:spPr>
          <a:xfrm>
            <a:off x="9258240" y="6105424"/>
            <a:ext cx="8115377" cy="3267182"/>
          </a:xfrm>
          <a:prstGeom prst="roundRect">
            <a:avLst>
              <a:gd name="adj" fmla="val 46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16" name="Text 13"/>
          <p:cNvSpPr/>
          <p:nvPr/>
        </p:nvSpPr>
        <p:spPr>
          <a:xfrm>
            <a:off x="9568247" y="6415432"/>
            <a:ext cx="8244899" cy="371992"/>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No visibility for the state</a:t>
            </a:r>
            <a:endParaRPr lang="en-US" sz="2250" dirty="0"/>
          </a:p>
        </p:txBody>
      </p:sp>
      <p:sp>
        <p:nvSpPr>
          <p:cNvPr id="17" name="Text 14"/>
          <p:cNvSpPr/>
          <p:nvPr/>
        </p:nvSpPr>
        <p:spPr>
          <a:xfrm>
            <a:off x="9568247" y="6882603"/>
            <a:ext cx="7720224" cy="716970"/>
          </a:xfrm>
          <a:prstGeom prst="rect">
            <a:avLst/>
          </a:prstGeom>
          <a:noFill/>
          <a:ln/>
        </p:spPr>
        <p:txBody>
          <a:bodyPr wrap="square" lIns="25400" tIns="25400" rIns="25400" bIns="25400" rtlCol="0" anchor="t">
            <a:normAutofit/>
          </a:bodyPr>
          <a:lstStyle/>
          <a:p>
            <a:pPr algn="l" indent="0" marL="0">
              <a:lnSpc>
                <a:spcPct val="135599"/>
              </a:lnSpc>
              <a:buNone/>
            </a:pPr>
            <a:r>
              <a:rPr lang="en-US" sz="1725" dirty="0">
                <a:solidFill>
                  <a:srgbClr val="475569"/>
                </a:solidFill>
                <a:latin typeface="Arial" pitchFamily="34" charset="0"/>
                <a:ea typeface="Arial" pitchFamily="34" charset="-122"/>
                <a:cs typeface="Arial" pitchFamily="34" charset="-120"/>
              </a:rPr>
              <a:t>A largely cash sector means no participation data, no sector picture, and tax revenue that goes uncollected.</a:t>
            </a:r>
            <a:endParaRPr lang="en-US" sz="1725" dirty="0"/>
          </a:p>
        </p:txBody>
      </p:sp>
      <p:sp>
        <p:nvSpPr>
          <p:cNvPr id="18" name="Shape 15"/>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0451" y="609010"/>
            <a:ext cx="719365"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06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THE OPPORTUNITY</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Every sport — including the ones nobody builds for</a:t>
            </a:r>
            <a:endParaRPr lang="en-US" sz="4050" dirty="0"/>
          </a:p>
        </p:txBody>
      </p:sp>
      <p:pic>
        <p:nvPicPr>
          <p:cNvPr id="6" name="Image 1" descr="preencoded.png">    </p:cNvPr>
          <p:cNvPicPr>
            <a:picLocks noChangeAspect="1"/>
          </p:cNvPicPr>
          <p:nvPr/>
        </p:nvPicPr>
        <p:blipFill>
          <a:blip r:embed="rId2"/>
          <a:stretch>
            <a:fillRect/>
          </a:stretch>
        </p:blipFill>
        <p:spPr>
          <a:xfrm>
            <a:off x="914371" y="2800256"/>
            <a:ext cx="10858491" cy="6381684"/>
          </a:xfrm>
          <a:prstGeom prst="rect">
            <a:avLst/>
          </a:prstGeom>
        </p:spPr>
      </p:pic>
      <p:sp>
        <p:nvSpPr>
          <p:cNvPr id="7" name="Text 3"/>
          <p:cNvSpPr/>
          <p:nvPr/>
        </p:nvSpPr>
        <p:spPr>
          <a:xfrm>
            <a:off x="12382442" y="4424635"/>
            <a:ext cx="5140910" cy="1546726"/>
          </a:xfrm>
          <a:prstGeom prst="rect">
            <a:avLst/>
          </a:prstGeom>
          <a:noFill/>
          <a:ln/>
        </p:spPr>
        <p:txBody>
          <a:bodyPr wrap="square" lIns="25400" tIns="25400" rIns="25400" bIns="25400" rtlCol="0" anchor="t">
            <a:normAutofit/>
          </a:bodyPr>
          <a:lstStyle/>
          <a:p>
            <a:pPr algn="l" indent="0" marL="0">
              <a:lnSpc>
                <a:spcPct val="103655"/>
              </a:lnSpc>
              <a:buNone/>
            </a:pPr>
            <a:r>
              <a:rPr lang="en-US" sz="3300" b="1" spc="-37" kern="0" dirty="0">
                <a:solidFill>
                  <a:srgbClr val="0B132B"/>
                </a:solidFill>
                <a:latin typeface="Arial" pitchFamily="34" charset="0"/>
                <a:ea typeface="Arial" pitchFamily="34" charset="-122"/>
                <a:cs typeface="Arial" pitchFamily="34" charset="-120"/>
              </a:rPr>
              <a:t>Every sport. Every activity. </a:t>
            </a:r>
            <a:pPr algn="l" indent="0" marL="0">
              <a:lnSpc>
                <a:spcPct val="103655"/>
              </a:lnSpc>
              <a:buNone/>
            </a:pPr>
            <a:r>
              <a:rPr lang="en-US" sz="3300" b="1" spc="-37" kern="0" dirty="0">
                <a:solidFill>
                  <a:srgbClr val="ED3163"/>
                </a:solidFill>
                <a:latin typeface="Arial" pitchFamily="34" charset="0"/>
                <a:ea typeface="Arial" pitchFamily="34" charset="-122"/>
                <a:cs typeface="Arial" pitchFamily="34" charset="-120"/>
              </a:rPr>
              <a:t>One infrastructure.</a:t>
            </a:r>
            <a:endParaRPr lang="en-US" sz="3300" dirty="0"/>
          </a:p>
        </p:txBody>
      </p:sp>
      <p:sp>
        <p:nvSpPr>
          <p:cNvPr id="8" name="Text 4"/>
          <p:cNvSpPr/>
          <p:nvPr/>
        </p:nvSpPr>
        <p:spPr>
          <a:xfrm>
            <a:off x="12382442" y="6199902"/>
            <a:ext cx="5140910" cy="1395839"/>
          </a:xfrm>
          <a:prstGeom prst="rect">
            <a:avLst/>
          </a:prstGeom>
          <a:noFill/>
          <a:ln/>
        </p:spPr>
        <p:txBody>
          <a:bodyPr wrap="square" lIns="25400" tIns="25400" rIns="25400" bIns="25400" rtlCol="0" anchor="t">
            <a:normAutofit/>
          </a:bodyPr>
          <a:lstStyle/>
          <a:p>
            <a:pPr algn="l" indent="0" marL="0">
              <a:lnSpc>
                <a:spcPct val="135599"/>
              </a:lnSpc>
              <a:buNone/>
            </a:pPr>
            <a:r>
              <a:rPr lang="en-US" sz="1725" dirty="0">
                <a:solidFill>
                  <a:srgbClr val="475569"/>
                </a:solidFill>
                <a:latin typeface="Arial" pitchFamily="34" charset="0"/>
                <a:ea typeface="Arial" pitchFamily="34" charset="-122"/>
                <a:cs typeface="Arial" pitchFamily="34" charset="-120"/>
              </a:rPr>
              <a:t>Once the connective layer exists, the marginal cost of carrying one more sport is close to zero. The small sports get the same infrastructure as the big ones.</a:t>
            </a:r>
            <a:endParaRPr lang="en-US" sz="1725" dirty="0"/>
          </a:p>
        </p:txBody>
      </p:sp>
      <p:sp>
        <p:nvSpPr>
          <p:cNvPr id="9" name="Shape 5"/>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44554" y="609010"/>
            <a:ext cx="705263"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07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THE OPPORTUNITY</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What MySportia is</a:t>
            </a:r>
            <a:endParaRPr lang="en-US" sz="4050" dirty="0"/>
          </a:p>
        </p:txBody>
      </p:sp>
      <p:pic>
        <p:nvPicPr>
          <p:cNvPr id="6" name="Image 1" descr="preencoded.png">    </p:cNvPr>
          <p:cNvPicPr>
            <a:picLocks noChangeAspect="1"/>
          </p:cNvPicPr>
          <p:nvPr/>
        </p:nvPicPr>
        <p:blipFill>
          <a:blip r:embed="rId2"/>
          <a:stretch>
            <a:fillRect/>
          </a:stretch>
        </p:blipFill>
        <p:spPr>
          <a:xfrm>
            <a:off x="914371" y="4378660"/>
            <a:ext cx="2476472" cy="3224875"/>
          </a:xfrm>
          <a:prstGeom prst="rect">
            <a:avLst/>
          </a:prstGeom>
        </p:spPr>
      </p:pic>
      <p:sp>
        <p:nvSpPr>
          <p:cNvPr id="7" name="Text 3"/>
          <p:cNvSpPr/>
          <p:nvPr/>
        </p:nvSpPr>
        <p:spPr>
          <a:xfrm>
            <a:off x="4076641" y="4443547"/>
            <a:ext cx="13342572" cy="3133282"/>
          </a:xfrm>
          <a:prstGeom prst="rect">
            <a:avLst/>
          </a:prstGeom>
          <a:noFill/>
          <a:ln/>
        </p:spPr>
        <p:txBody>
          <a:bodyPr wrap="square" lIns="25400" tIns="25400" rIns="25400" bIns="25400" rtlCol="0" anchor="t">
            <a:normAutofit/>
          </a:bodyPr>
          <a:lstStyle/>
          <a:p>
            <a:pPr algn="l" indent="0" marL="0">
              <a:lnSpc>
                <a:spcPct val="113022"/>
              </a:lnSpc>
              <a:buNone/>
            </a:pPr>
            <a:r>
              <a:rPr lang="en-US" sz="3750" spc="-37" kern="0" dirty="0">
                <a:solidFill>
                  <a:srgbClr val="0B132B"/>
                </a:solidFill>
                <a:latin typeface="Arial" pitchFamily="34" charset="0"/>
                <a:ea typeface="Arial" pitchFamily="34" charset="-122"/>
                <a:cs typeface="Arial" pitchFamily="34" charset="-120"/>
              </a:rPr>
              <a:t>National infrastructure connecting people to the places where they can play — raising participation in sport and activity, including amateur and minority sports, by automating the business side so venues can concentrate on delivering the service.</a:t>
            </a:r>
            <a:endParaRPr lang="en-US" sz="3750" dirty="0"/>
          </a:p>
        </p:txBody>
      </p:sp>
      <p:sp>
        <p:nvSpPr>
          <p:cNvPr id="8" name="Shape 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0778" y="609010"/>
            <a:ext cx="719039"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08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 · THE OPPORTUNITY</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architecture — two sides, one system</a:t>
            </a:r>
            <a:endParaRPr lang="en-US" sz="4050" dirty="0"/>
          </a:p>
        </p:txBody>
      </p:sp>
      <p:sp>
        <p:nvSpPr>
          <p:cNvPr id="6" name="Shape 3"/>
          <p:cNvSpPr/>
          <p:nvPr/>
        </p:nvSpPr>
        <p:spPr>
          <a:xfrm>
            <a:off x="914371" y="2609670"/>
            <a:ext cx="8077228" cy="4671467"/>
          </a:xfrm>
          <a:prstGeom prst="roundRect">
            <a:avLst>
              <a:gd name="adj" fmla="val 3262"/>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7" name="Text 4"/>
          <p:cNvSpPr/>
          <p:nvPr/>
        </p:nvSpPr>
        <p:spPr>
          <a:xfrm>
            <a:off x="1224378" y="4082266"/>
            <a:ext cx="820293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B132B"/>
                </a:solidFill>
                <a:latin typeface="Arial" pitchFamily="34" charset="0"/>
                <a:ea typeface="Arial" pitchFamily="34" charset="-122"/>
                <a:cs typeface="Arial" pitchFamily="34" charset="-120"/>
              </a:rPr>
              <a:t>VENUE SIDE </a:t>
            </a:r>
            <a:pPr algn="l" indent="0" marL="0">
              <a:buNone/>
            </a:pPr>
            <a:r>
              <a:rPr lang="en-US" sz="1200" b="1" spc="150" kern="0" dirty="0">
                <a:solidFill>
                  <a:srgbClr val="ED3163"/>
                </a:solidFill>
                <a:latin typeface="Arial" pitchFamily="34" charset="0"/>
                <a:ea typeface="Arial" pitchFamily="34" charset="-122"/>
                <a:cs typeface="Arial" pitchFamily="34" charset="-120"/>
              </a:rPr>
              <a:t>— THE ENGINE</a:t>
            </a:r>
            <a:endParaRPr lang="en-US" sz="1200" dirty="0"/>
          </a:p>
        </p:txBody>
      </p:sp>
      <p:sp>
        <p:nvSpPr>
          <p:cNvPr id="8" name="Text 5"/>
          <p:cNvSpPr/>
          <p:nvPr/>
        </p:nvSpPr>
        <p:spPr>
          <a:xfrm>
            <a:off x="1224378" y="4406783"/>
            <a:ext cx="7680930" cy="1439858"/>
          </a:xfrm>
          <a:prstGeom prst="rect">
            <a:avLst/>
          </a:prstGeom>
          <a:noFill/>
          <a:ln/>
        </p:spPr>
        <p:txBody>
          <a:bodyPr wrap="square" lIns="25400" tIns="25400" rIns="25400" bIns="25400" rtlCol="0" anchor="t">
            <a:normAutofit/>
          </a:bodyPr>
          <a:lstStyle/>
          <a:p>
            <a:pPr algn="l" indent="0" marL="0">
              <a:lnSpc>
                <a:spcPct val="139974"/>
              </a:lnSpc>
              <a:buNone/>
            </a:pPr>
            <a:r>
              <a:rPr lang="en-US" sz="1725" dirty="0">
                <a:solidFill>
                  <a:srgbClr val="475569"/>
                </a:solidFill>
                <a:latin typeface="Arial" pitchFamily="34" charset="0"/>
                <a:ea typeface="Arial" pitchFamily="34" charset="-122"/>
                <a:cs typeface="Arial" pitchFamily="34" charset="-120"/>
              </a:rPr>
              <a:t>Online booking and schedules · payments as a master merchant with Stripe and Omise (PromptPay, Thai QR, cards) · automatic invoices, receipts and VAT · customer database and marketing · memberships and packages · automated reminders · resource and staff management</a:t>
            </a:r>
            <a:endParaRPr lang="en-US" sz="1725" dirty="0"/>
          </a:p>
        </p:txBody>
      </p:sp>
      <p:sp>
        <p:nvSpPr>
          <p:cNvPr id="9" name="Shape 6"/>
          <p:cNvSpPr/>
          <p:nvPr/>
        </p:nvSpPr>
        <p:spPr>
          <a:xfrm>
            <a:off x="9296389" y="2609670"/>
            <a:ext cx="8077228" cy="4671467"/>
          </a:xfrm>
          <a:prstGeom prst="roundRect">
            <a:avLst>
              <a:gd name="adj" fmla="val 3262"/>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10" name="Text 7"/>
          <p:cNvSpPr/>
          <p:nvPr/>
        </p:nvSpPr>
        <p:spPr>
          <a:xfrm>
            <a:off x="9606396" y="3907005"/>
            <a:ext cx="820293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B132B"/>
                </a:solidFill>
                <a:latin typeface="Arial" pitchFamily="34" charset="0"/>
                <a:ea typeface="Arial" pitchFamily="34" charset="-122"/>
                <a:cs typeface="Arial" pitchFamily="34" charset="-120"/>
              </a:rPr>
              <a:t>CONSUMER SIDE </a:t>
            </a:r>
            <a:pPr algn="l" indent="0" marL="0">
              <a:buNone/>
            </a:pPr>
            <a:r>
              <a:rPr lang="en-US" sz="1200" b="1" spc="150" kern="0" dirty="0">
                <a:solidFill>
                  <a:srgbClr val="ED3163"/>
                </a:solidFill>
                <a:latin typeface="Arial" pitchFamily="34" charset="0"/>
                <a:ea typeface="Arial" pitchFamily="34" charset="-122"/>
                <a:cs typeface="Arial" pitchFamily="34" charset="-120"/>
              </a:rPr>
              <a:t>— THE STOREFRONT</a:t>
            </a:r>
            <a:endParaRPr lang="en-US" sz="1200" dirty="0"/>
          </a:p>
        </p:txBody>
      </p:sp>
      <p:sp>
        <p:nvSpPr>
          <p:cNvPr id="11" name="Text 8"/>
          <p:cNvSpPr/>
          <p:nvPr/>
        </p:nvSpPr>
        <p:spPr>
          <a:xfrm>
            <a:off x="9606396" y="4231523"/>
            <a:ext cx="7680930" cy="1790298"/>
          </a:xfrm>
          <a:prstGeom prst="rect">
            <a:avLst/>
          </a:prstGeom>
          <a:noFill/>
          <a:ln/>
        </p:spPr>
        <p:txBody>
          <a:bodyPr wrap="square" lIns="25400" tIns="25400" rIns="25400" bIns="25400" rtlCol="0" anchor="t">
            <a:normAutofit/>
          </a:bodyPr>
          <a:lstStyle/>
          <a:p>
            <a:pPr algn="l" indent="0" marL="0">
              <a:lnSpc>
                <a:spcPct val="139974"/>
              </a:lnSpc>
              <a:buNone/>
            </a:pPr>
            <a:r>
              <a:rPr lang="en-US" sz="1725" dirty="0">
                <a:solidFill>
                  <a:srgbClr val="475569"/>
                </a:solidFill>
                <a:latin typeface="Arial" pitchFamily="34" charset="0"/>
                <a:ea typeface="Arial" pitchFamily="34" charset="-122"/>
                <a:cs typeface="Arial" pitchFamily="34" charset="-120"/>
              </a:rPr>
              <a:t>Find any sport by location, date or type · instant booking and payment · peer matchmaking by skill level · create a game, league or tournament · rankings, leaderboards and results · your bookings, passes and memberships in one account, under your control · vetted activities, in Thai and English</a:t>
            </a:r>
            <a:endParaRPr lang="en-US" sz="1725" dirty="0"/>
          </a:p>
        </p:txBody>
      </p:sp>
      <p:sp>
        <p:nvSpPr>
          <p:cNvPr id="12" name="Shape 9"/>
          <p:cNvSpPr/>
          <p:nvPr/>
        </p:nvSpPr>
        <p:spPr>
          <a:xfrm>
            <a:off x="4943488" y="7281138"/>
            <a:ext cx="18993" cy="457145"/>
          </a:xfrm>
          <a:prstGeom prst="rect">
            <a:avLst/>
          </a:prstGeom>
          <a:solidFill>
            <a:srgbClr val="ED3163"/>
          </a:solidFill>
          <a:ln/>
        </p:spPr>
      </p:sp>
      <p:sp>
        <p:nvSpPr>
          <p:cNvPr id="13" name="Shape 10"/>
          <p:cNvSpPr/>
          <p:nvPr/>
        </p:nvSpPr>
        <p:spPr>
          <a:xfrm>
            <a:off x="13325506" y="7281138"/>
            <a:ext cx="18993" cy="457145"/>
          </a:xfrm>
          <a:prstGeom prst="rect">
            <a:avLst/>
          </a:prstGeom>
          <a:solidFill>
            <a:srgbClr val="ED3163"/>
          </a:solidFill>
          <a:ln/>
        </p:spPr>
      </p:sp>
      <p:sp>
        <p:nvSpPr>
          <p:cNvPr id="14" name="Shape 11"/>
          <p:cNvSpPr/>
          <p:nvPr/>
        </p:nvSpPr>
        <p:spPr>
          <a:xfrm>
            <a:off x="914371" y="7738282"/>
            <a:ext cx="16459247" cy="1120037"/>
          </a:xfrm>
          <a:prstGeom prst="roundRect">
            <a:avLst>
              <a:gd name="adj" fmla="val 13607"/>
            </a:avLst>
          </a:prstGeom>
          <a:solidFill>
            <a:srgbClr val="0B132B"/>
          </a:solidFill>
          <a:ln/>
        </p:spPr>
      </p:sp>
      <p:sp>
        <p:nvSpPr>
          <p:cNvPr id="15" name="Text 12"/>
          <p:cNvSpPr/>
          <p:nvPr/>
        </p:nvSpPr>
        <p:spPr>
          <a:xfrm>
            <a:off x="1295298" y="8040056"/>
            <a:ext cx="2250044" cy="554589"/>
          </a:xfrm>
          <a:prstGeom prst="rect">
            <a:avLst/>
          </a:prstGeom>
          <a:noFill/>
          <a:ln/>
        </p:spPr>
        <p:txBody>
          <a:bodyPr wrap="none" lIns="25400" tIns="25400" rIns="25400" bIns="25400" rtlCol="0" anchor="t">
            <a:normAutofit/>
          </a:bodyPr>
          <a:lstStyle/>
          <a:p>
            <a:pPr algn="l" indent="0" marL="0">
              <a:buNone/>
            </a:pPr>
            <a:r>
              <a:rPr lang="en-US" sz="2700" b="1" spc="-22" kern="0" dirty="0">
                <a:solidFill>
                  <a:srgbClr val="F6F8FA"/>
                </a:solidFill>
                <a:latin typeface="Arial" pitchFamily="34" charset="0"/>
                <a:ea typeface="Arial" pitchFamily="34" charset="-122"/>
                <a:cs typeface="Arial" pitchFamily="34" charset="-120"/>
              </a:rPr>
              <a:t>One system</a:t>
            </a:r>
            <a:endParaRPr lang="en-US" sz="2700" dirty="0"/>
          </a:p>
        </p:txBody>
      </p:sp>
      <p:sp>
        <p:nvSpPr>
          <p:cNvPr id="16" name="Text 13"/>
          <p:cNvSpPr/>
          <p:nvPr/>
        </p:nvSpPr>
        <p:spPr>
          <a:xfrm>
            <a:off x="8163076" y="8004922"/>
            <a:ext cx="8829614" cy="624856"/>
          </a:xfrm>
          <a:prstGeom prst="rect">
            <a:avLst/>
          </a:prstGeom>
          <a:noFill/>
          <a:ln/>
        </p:spPr>
        <p:txBody>
          <a:bodyPr wrap="square" lIns="25400" tIns="25400" rIns="25400" bIns="25400" rtlCol="0" anchor="t">
            <a:normAutofit/>
          </a:bodyPr>
          <a:lstStyle/>
          <a:p>
            <a:pPr algn="r" indent="0" marL="0">
              <a:lnSpc>
                <a:spcPct val="122245"/>
              </a:lnSpc>
              <a:buNone/>
            </a:pPr>
            <a:r>
              <a:rPr lang="en-US" sz="1650" dirty="0">
                <a:solidFill>
                  <a:srgbClr val="00D4C8"/>
                </a:solidFill>
                <a:latin typeface="Arial" pitchFamily="34" charset="0"/>
                <a:ea typeface="Arial" pitchFamily="34" charset="-122"/>
                <a:cs typeface="Arial" pitchFamily="34" charset="-120"/>
              </a:rPr>
              <a:t>Venue transactions generate the availability, schedules and results the consumer side draws from</a:t>
            </a:r>
            <a:endParaRPr lang="en-US" sz="1650" dirty="0"/>
          </a:p>
        </p:txBody>
      </p:sp>
      <p:sp>
        <p:nvSpPr>
          <p:cNvPr id="17" name="Text 14"/>
          <p:cNvSpPr/>
          <p:nvPr/>
        </p:nvSpPr>
        <p:spPr>
          <a:xfrm>
            <a:off x="914371" y="9086891"/>
            <a:ext cx="18105171" cy="323815"/>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94A3B8"/>
                </a:solidFill>
                <a:latin typeface="Arial" pitchFamily="34" charset="0"/>
                <a:ea typeface="Arial" pitchFamily="34" charset="-122"/>
                <a:cs typeface="Arial" pitchFamily="34" charset="-120"/>
              </a:rPr>
              <a:t>The full planned scope — two sides, one system.</a:t>
            </a:r>
            <a:endParaRPr lang="en-US" sz="1500" dirty="0"/>
          </a:p>
        </p:txBody>
      </p:sp>
      <p:sp>
        <p:nvSpPr>
          <p:cNvPr id="18" name="Shape 15"/>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
          </a:blip>
          <a:stretch>
            <a:fillRect/>
          </a:stretch>
        </p:blipFill>
        <p:spPr>
          <a:xfrm>
            <a:off x="6857985" y="3402255"/>
            <a:ext cx="13334962" cy="7837162"/>
          </a:xfrm>
          <a:prstGeom prst="rect">
            <a:avLst/>
          </a:prstGeom>
        </p:spPr>
      </p:pic>
      <p:pic>
        <p:nvPicPr>
          <p:cNvPr id="3" name="Image 1" descr="preencoded.png">    </p:cNvPr>
          <p:cNvPicPr>
            <a:picLocks noChangeAspect="1"/>
          </p:cNvPicPr>
          <p:nvPr/>
        </p:nvPicPr>
        <p:blipFill>
          <a:blip r:embed="rId2"/>
          <a:stretch>
            <a:fillRect/>
          </a:stretch>
        </p:blipFill>
        <p:spPr>
          <a:xfrm>
            <a:off x="914371" y="533363"/>
            <a:ext cx="322561" cy="380927"/>
          </a:xfrm>
          <a:prstGeom prst="rect">
            <a:avLst/>
          </a:prstGeom>
        </p:spPr>
      </p:pic>
      <p:sp>
        <p:nvSpPr>
          <p:cNvPr id="4" name="Text 0"/>
          <p:cNvSpPr/>
          <p:nvPr/>
        </p:nvSpPr>
        <p:spPr>
          <a:xfrm>
            <a:off x="1332143" y="533770"/>
            <a:ext cx="1001902" cy="418130"/>
          </a:xfrm>
          <a:prstGeom prst="rect">
            <a:avLst/>
          </a:prstGeom>
          <a:noFill/>
          <a:ln/>
        </p:spPr>
        <p:txBody>
          <a:bodyPr wrap="square" lIns="25400" tIns="25400" rIns="25400" bIns="25400" rtlCol="0" anchor="t">
            <a:normAutofit/>
          </a:bodyPr>
          <a:lstStyle/>
          <a:p>
            <a:pPr algn="l" indent="0" marL="0">
              <a:lnSpc>
                <a:spcPct val="93394"/>
              </a:lnSpc>
              <a:buNone/>
            </a:pPr>
            <a:r>
              <a:rPr lang="en-US" sz="1425" b="1" dirty="0">
                <a:solidFill>
                  <a:srgbClr val="F6F8FA"/>
                </a:solidFill>
                <a:latin typeface="Arial" pitchFamily="34" charset="0"/>
                <a:ea typeface="Arial" pitchFamily="34" charset="-122"/>
                <a:cs typeface="Arial" pitchFamily="34" charset="-120"/>
              </a:rPr>
              <a:t>Education AI Group</a:t>
            </a:r>
            <a:endParaRPr lang="en-US" sz="1425" dirty="0"/>
          </a:p>
        </p:txBody>
      </p:sp>
      <p:sp>
        <p:nvSpPr>
          <p:cNvPr id="5" name="Text 1"/>
          <p:cNvSpPr/>
          <p:nvPr/>
        </p:nvSpPr>
        <p:spPr>
          <a:xfrm>
            <a:off x="16730451" y="609010"/>
            <a:ext cx="719365" cy="267651"/>
          </a:xfrm>
          <a:prstGeom prst="rect">
            <a:avLst/>
          </a:prstGeom>
          <a:noFill/>
          <a:ln/>
        </p:spPr>
        <p:txBody>
          <a:bodyPr wrap="none" lIns="25400" tIns="25400" rIns="25400" bIns="25400" rtlCol="0" anchor="t">
            <a:normAutofit/>
          </a:bodyPr>
          <a:lstStyle/>
          <a:p>
            <a:pPr algn="l" indent="0" marL="0">
              <a:buNone/>
            </a:pPr>
            <a:r>
              <a:rPr lang="en-US" sz="1500" dirty="0">
                <a:solidFill>
                  <a:srgbClr val="F6F8FA"/>
                </a:solidFill>
                <a:latin typeface="Arial" pitchFamily="34" charset="0"/>
                <a:ea typeface="Arial" pitchFamily="34" charset="-122"/>
                <a:cs typeface="Arial" pitchFamily="34" charset="-120"/>
              </a:rPr>
              <a:t>09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F6F8FA"/>
                </a:solidFill>
                <a:latin typeface="Arial" pitchFamily="34" charset="0"/>
                <a:ea typeface="Arial" pitchFamily="34" charset="-122"/>
                <a:cs typeface="Arial" pitchFamily="34" charset="-120"/>
              </a:rPr>
              <a:t>26</a:t>
            </a:r>
            <a:endParaRPr lang="en-US" sz="1500" dirty="0"/>
          </a:p>
        </p:txBody>
      </p:sp>
      <p:pic>
        <p:nvPicPr>
          <p:cNvPr id="6" name="Image 2" descr="preencoded.png">    </p:cNvPr>
          <p:cNvPicPr>
            <a:picLocks noChangeAspect="1"/>
          </p:cNvPicPr>
          <p:nvPr/>
        </p:nvPicPr>
        <p:blipFill>
          <a:blip r:embed="rId3"/>
          <a:stretch>
            <a:fillRect/>
          </a:stretch>
        </p:blipFill>
        <p:spPr>
          <a:xfrm>
            <a:off x="914371" y="3887768"/>
            <a:ext cx="2770747" cy="609581"/>
          </a:xfrm>
          <a:prstGeom prst="rect">
            <a:avLst/>
          </a:prstGeom>
        </p:spPr>
      </p:pic>
      <p:sp>
        <p:nvSpPr>
          <p:cNvPr id="7" name="Text 2"/>
          <p:cNvSpPr/>
          <p:nvPr/>
        </p:nvSpPr>
        <p:spPr>
          <a:xfrm>
            <a:off x="914371" y="4878275"/>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WHAT EXISTS, AND WHAT COMES NEXT</a:t>
            </a:r>
            <a:endParaRPr lang="en-US" sz="1200" dirty="0"/>
          </a:p>
        </p:txBody>
      </p:sp>
      <p:sp>
        <p:nvSpPr>
          <p:cNvPr id="8" name="Text 3"/>
          <p:cNvSpPr/>
          <p:nvPr/>
        </p:nvSpPr>
        <p:spPr>
          <a:xfrm>
            <a:off x="914371" y="5279010"/>
            <a:ext cx="18105171" cy="1158219"/>
          </a:xfrm>
          <a:prstGeom prst="rect">
            <a:avLst/>
          </a:prstGeom>
          <a:noFill/>
          <a:ln/>
        </p:spPr>
        <p:txBody>
          <a:bodyPr wrap="square" lIns="25400" tIns="25400" rIns="25400" bIns="25400" rtlCol="0" anchor="t">
            <a:normAutofit/>
          </a:bodyPr>
          <a:lstStyle/>
          <a:p>
            <a:pPr algn="l" indent="0" marL="0">
              <a:lnSpc>
                <a:spcPct val="91365"/>
              </a:lnSpc>
              <a:buNone/>
            </a:pPr>
            <a:r>
              <a:rPr lang="en-US" sz="8400" b="1" spc="-90" kern="0" dirty="0">
                <a:solidFill>
                  <a:srgbClr val="F6F8FA"/>
                </a:solidFill>
                <a:latin typeface="Arial" pitchFamily="34" charset="0"/>
                <a:ea typeface="Arial" pitchFamily="34" charset="-122"/>
                <a:cs typeface="Arial" pitchFamily="34" charset="-120"/>
              </a:rPr>
              <a:t>The </a:t>
            </a:r>
            <a:pPr algn="l" indent="0" marL="0">
              <a:lnSpc>
                <a:spcPct val="91365"/>
              </a:lnSpc>
              <a:buNone/>
            </a:pPr>
            <a:r>
              <a:rPr lang="en-US" sz="8400" b="1" spc="-90" kern="0" dirty="0">
                <a:solidFill>
                  <a:srgbClr val="ED3163"/>
                </a:solidFill>
                <a:latin typeface="Arial" pitchFamily="34" charset="0"/>
                <a:ea typeface="Arial" pitchFamily="34" charset="-122"/>
                <a:cs typeface="Arial" pitchFamily="34" charset="-120"/>
              </a:rPr>
              <a:t>build</a:t>
            </a:r>
            <a:endParaRPr lang="en-US" sz="8400" dirty="0"/>
          </a:p>
        </p:txBody>
      </p:sp>
      <p:sp>
        <p:nvSpPr>
          <p:cNvPr id="9" name="Shape 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1129" y="609010"/>
            <a:ext cx="678689"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10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order this had to be built in</a:t>
            </a:r>
            <a:endParaRPr lang="en-US" sz="4050" dirty="0"/>
          </a:p>
        </p:txBody>
      </p:sp>
      <p:sp>
        <p:nvSpPr>
          <p:cNvPr id="6" name="Text 3"/>
          <p:cNvSpPr/>
          <p:nvPr/>
        </p:nvSpPr>
        <p:spPr>
          <a:xfrm>
            <a:off x="914371" y="2609670"/>
            <a:ext cx="8005611" cy="1615445"/>
          </a:xfrm>
          <a:prstGeom prst="rect">
            <a:avLst/>
          </a:prstGeom>
          <a:noFill/>
          <a:ln/>
        </p:spPr>
        <p:txBody>
          <a:bodyPr wrap="square" lIns="25400" tIns="25400" rIns="25400" bIns="25400" rtlCol="0" anchor="t">
            <a:normAutofit/>
          </a:bodyPr>
          <a:lstStyle/>
          <a:p>
            <a:pPr algn="l" indent="0" marL="0">
              <a:lnSpc>
                <a:spcPct val="103898"/>
              </a:lnSpc>
              <a:buNone/>
            </a:pPr>
            <a:r>
              <a:rPr lang="en-US" sz="3450" b="1" spc="-37" kern="0" dirty="0">
                <a:solidFill>
                  <a:srgbClr val="0B132B"/>
                </a:solidFill>
                <a:latin typeface="Arial" pitchFamily="34" charset="0"/>
                <a:ea typeface="Arial" pitchFamily="34" charset="-122"/>
                <a:cs typeface="Arial" pitchFamily="34" charset="-120"/>
              </a:rPr>
              <a:t>The obvious thing to build first was the consumer marketplace. It could not be built.</a:t>
            </a:r>
            <a:endParaRPr lang="en-US" sz="3450" dirty="0"/>
          </a:p>
        </p:txBody>
      </p:sp>
      <p:sp>
        <p:nvSpPr>
          <p:cNvPr id="7" name="Text 4"/>
          <p:cNvSpPr/>
          <p:nvPr/>
        </p:nvSpPr>
        <p:spPr>
          <a:xfrm>
            <a:off x="914371" y="4529873"/>
            <a:ext cx="8005611" cy="1145176"/>
          </a:xfrm>
          <a:prstGeom prst="rect">
            <a:avLst/>
          </a:prstGeom>
          <a:noFill/>
          <a:ln/>
        </p:spPr>
        <p:txBody>
          <a:bodyPr wrap="square" lIns="25400" tIns="25400" rIns="25400" bIns="25400" rtlCol="0" anchor="t">
            <a:normAutofit/>
          </a:bodyPr>
          <a:lstStyle/>
          <a:p>
            <a:pPr algn="l" indent="0" marL="0">
              <a:lnSpc>
                <a:spcPct val="136053"/>
              </a:lnSpc>
              <a:buNone/>
            </a:pPr>
            <a:r>
              <a:rPr lang="en-US" sz="1875" dirty="0">
                <a:solidFill>
                  <a:srgbClr val="475569"/>
                </a:solidFill>
                <a:latin typeface="Arial" pitchFamily="34" charset="0"/>
                <a:ea typeface="Arial" pitchFamily="34" charset="-122"/>
                <a:cs typeface="Arial" pitchFamily="34" charset="-120"/>
              </a:rPr>
              <a:t>The venues were the bottleneck. Notebooks, spreadsheets, phone calls, LINE messages. No real-time availability, no digital payments, no central system.</a:t>
            </a:r>
            <a:endParaRPr lang="en-US" sz="1875" dirty="0"/>
          </a:p>
        </p:txBody>
      </p:sp>
      <p:sp>
        <p:nvSpPr>
          <p:cNvPr id="8" name="Text 5"/>
          <p:cNvSpPr/>
          <p:nvPr/>
        </p:nvSpPr>
        <p:spPr>
          <a:xfrm>
            <a:off x="914371" y="5979808"/>
            <a:ext cx="8005611" cy="776151"/>
          </a:xfrm>
          <a:prstGeom prst="rect">
            <a:avLst/>
          </a:prstGeom>
          <a:noFill/>
          <a:ln/>
        </p:spPr>
        <p:txBody>
          <a:bodyPr wrap="square" lIns="25400" tIns="25400" rIns="25400" bIns="25400" rtlCol="0" anchor="t">
            <a:normAutofit/>
          </a:bodyPr>
          <a:lstStyle/>
          <a:p>
            <a:pPr algn="l" indent="0" marL="0">
              <a:lnSpc>
                <a:spcPct val="136053"/>
              </a:lnSpc>
              <a:buNone/>
            </a:pPr>
            <a:r>
              <a:rPr lang="en-US" sz="1875" dirty="0">
                <a:solidFill>
                  <a:srgbClr val="0B132B"/>
                </a:solidFill>
                <a:latin typeface="Arial" pitchFamily="34" charset="0"/>
                <a:ea typeface="Arial" pitchFamily="34" charset="-122"/>
                <a:cs typeface="Arial" pitchFamily="34" charset="-120"/>
              </a:rPr>
              <a:t>You cannot build a marketplace on top of businesses that are not bookable.</a:t>
            </a:r>
            <a:endParaRPr lang="en-US" sz="1875" dirty="0"/>
          </a:p>
        </p:txBody>
      </p:sp>
      <p:sp>
        <p:nvSpPr>
          <p:cNvPr id="9" name="Shape 6"/>
          <p:cNvSpPr/>
          <p:nvPr/>
        </p:nvSpPr>
        <p:spPr>
          <a:xfrm>
            <a:off x="9601179" y="2609670"/>
            <a:ext cx="26085" cy="800003"/>
          </a:xfrm>
          <a:prstGeom prst="rect">
            <a:avLst/>
          </a:prstGeom>
          <a:solidFill>
            <a:srgbClr val="ED3163"/>
          </a:solidFill>
          <a:ln/>
        </p:spPr>
      </p:sp>
      <p:sp>
        <p:nvSpPr>
          <p:cNvPr id="10" name="Text 7"/>
          <p:cNvSpPr/>
          <p:nvPr/>
        </p:nvSpPr>
        <p:spPr>
          <a:xfrm>
            <a:off x="9932055" y="2609670"/>
            <a:ext cx="7664809" cy="838103"/>
          </a:xfrm>
          <a:prstGeom prst="rect">
            <a:avLst/>
          </a:prstGeom>
          <a:noFill/>
          <a:ln/>
        </p:spPr>
        <p:txBody>
          <a:bodyPr wrap="square" lIns="25400" tIns="25400" rIns="25400" bIns="25400" rtlCol="0" anchor="t">
            <a:normAutofit/>
          </a:bodyPr>
          <a:lstStyle/>
          <a:p>
            <a:pPr algn="l" indent="0" marL="0">
              <a:lnSpc>
                <a:spcPct val="119814"/>
              </a:lnSpc>
              <a:buNone/>
            </a:pPr>
            <a:r>
              <a:rPr lang="en-US" sz="2250" dirty="0">
                <a:solidFill>
                  <a:srgbClr val="0B132B"/>
                </a:solidFill>
                <a:latin typeface="Arial" pitchFamily="34" charset="0"/>
                <a:ea typeface="Arial" pitchFamily="34" charset="-122"/>
                <a:cs typeface="Arial" pitchFamily="34" charset="-120"/>
              </a:rPr>
              <a:t>Hotels first got booking systems. </a:t>
            </a:r>
            <a:pPr algn="l" indent="0" marL="0">
              <a:lnSpc>
                <a:spcPct val="119814"/>
              </a:lnSpc>
              <a:buNone/>
            </a:pPr>
            <a:r>
              <a:rPr lang="en-US" sz="2250" dirty="0">
                <a:solidFill>
                  <a:srgbClr val="475569"/>
                </a:solidFill>
                <a:latin typeface="Arial" pitchFamily="34" charset="0"/>
                <a:ea typeface="Arial" pitchFamily="34" charset="-122"/>
                <a:cs typeface="Arial" pitchFamily="34" charset="-120"/>
              </a:rPr>
              <a:t>Only then did a booking marketplace become possible.</a:t>
            </a:r>
            <a:endParaRPr lang="en-US" sz="2250" dirty="0"/>
          </a:p>
        </p:txBody>
      </p:sp>
      <p:sp>
        <p:nvSpPr>
          <p:cNvPr id="11" name="Text 8"/>
          <p:cNvSpPr/>
          <p:nvPr/>
        </p:nvSpPr>
        <p:spPr>
          <a:xfrm>
            <a:off x="9601179" y="7220245"/>
            <a:ext cx="8549682" cy="395224"/>
          </a:xfrm>
          <a:prstGeom prst="rect">
            <a:avLst/>
          </a:prstGeom>
          <a:noFill/>
          <a:ln/>
        </p:spPr>
        <p:txBody>
          <a:bodyPr wrap="square" lIns="25400" tIns="25400" rIns="25400" bIns="25400" rtlCol="0" anchor="t">
            <a:normAutofit/>
          </a:bodyPr>
          <a:lstStyle/>
          <a:p>
            <a:pPr algn="l" indent="0" marL="0">
              <a:lnSpc>
                <a:spcPct val="131664"/>
              </a:lnSpc>
              <a:buNone/>
            </a:pPr>
            <a:r>
              <a:rPr lang="en-US" sz="1875" dirty="0">
                <a:solidFill>
                  <a:srgbClr val="475569"/>
                </a:solidFill>
                <a:latin typeface="Arial" pitchFamily="34" charset="0"/>
                <a:ea typeface="Arial" pitchFamily="34" charset="-122"/>
                <a:cs typeface="Arial" pitchFamily="34" charset="-120"/>
              </a:rPr>
              <a:t>So the order was inverted, deliberately.</a:t>
            </a:r>
            <a:endParaRPr lang="en-US" sz="1875" dirty="0"/>
          </a:p>
        </p:txBody>
      </p:sp>
      <p:sp>
        <p:nvSpPr>
          <p:cNvPr id="12" name="Text 9"/>
          <p:cNvSpPr/>
          <p:nvPr/>
        </p:nvSpPr>
        <p:spPr>
          <a:xfrm>
            <a:off x="9601179" y="7729723"/>
            <a:ext cx="8005611" cy="1680984"/>
          </a:xfrm>
          <a:prstGeom prst="rect">
            <a:avLst/>
          </a:prstGeom>
          <a:noFill/>
          <a:ln/>
        </p:spPr>
        <p:txBody>
          <a:bodyPr wrap="square" lIns="25400" tIns="25400" rIns="25400" bIns="25400" rtlCol="0" anchor="t">
            <a:normAutofit/>
          </a:bodyPr>
          <a:lstStyle/>
          <a:p>
            <a:pPr algn="l" indent="0" marL="0">
              <a:lnSpc>
                <a:spcPct val="99981"/>
              </a:lnSpc>
              <a:buNone/>
            </a:pPr>
            <a:r>
              <a:rPr lang="en-US" sz="3750" b="1" spc="-45" kern="0" dirty="0">
                <a:solidFill>
                  <a:srgbClr val="ED3163"/>
                </a:solidFill>
                <a:latin typeface="Arial" pitchFamily="34" charset="0"/>
                <a:ea typeface="Arial" pitchFamily="34" charset="-122"/>
                <a:cs typeface="Arial" pitchFamily="34" charset="-120"/>
              </a:rPr>
              <a:t>First fix the venues. </a:t>
            </a:r>
            <a:pPr algn="l" indent="0" marL="0">
              <a:lnSpc>
                <a:spcPct val="99981"/>
              </a:lnSpc>
              <a:buNone/>
            </a:pPr>
            <a:r>
              <a:rPr lang="en-US" sz="3750" b="1" spc="-45" kern="0" dirty="0">
                <a:solidFill>
                  <a:srgbClr val="0B132B"/>
                </a:solidFill>
                <a:latin typeface="Arial" pitchFamily="34" charset="0"/>
                <a:ea typeface="Arial" pitchFamily="34" charset="-122"/>
                <a:cs typeface="Arial" pitchFamily="34" charset="-120"/>
              </a:rPr>
              <a:t>Then build the thing people actually use.</a:t>
            </a:r>
            <a:endParaRPr lang="en-US" sz="3750" dirty="0"/>
          </a:p>
        </p:txBody>
      </p:sp>
      <p:sp>
        <p:nvSpPr>
          <p:cNvPr id="13" name="Shape 10"/>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813842" y="609010"/>
            <a:ext cx="635974"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11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three phases</a:t>
            </a:r>
            <a:endParaRPr lang="en-US" sz="4050" dirty="0"/>
          </a:p>
        </p:txBody>
      </p:sp>
      <p:sp>
        <p:nvSpPr>
          <p:cNvPr id="6" name="Shape 3"/>
          <p:cNvSpPr/>
          <p:nvPr/>
        </p:nvSpPr>
        <p:spPr>
          <a:xfrm>
            <a:off x="914371" y="2609670"/>
            <a:ext cx="4849092" cy="3106350"/>
          </a:xfrm>
          <a:prstGeom prst="roundRect">
            <a:avLst>
              <a:gd name="adj" fmla="val 4906"/>
            </a:avLst>
          </a:prstGeom>
          <a:solidFill>
            <a:srgbClr val="FFFFFF"/>
          </a:solidFill>
          <a:ln w="5217">
            <a:solidFill>
              <a:srgbClr val="E2E8F0"/>
            </a:solidFill>
            <a:prstDash val="solid"/>
          </a:ln>
        </p:spPr>
      </p:sp>
      <p:sp>
        <p:nvSpPr>
          <p:cNvPr id="7" name="Text 4"/>
          <p:cNvSpPr/>
          <p:nvPr/>
        </p:nvSpPr>
        <p:spPr>
          <a:xfrm>
            <a:off x="1224378" y="2966386"/>
            <a:ext cx="853297" cy="210263"/>
          </a:xfrm>
          <a:prstGeom prst="rect">
            <a:avLst/>
          </a:prstGeom>
          <a:noFill/>
          <a:ln/>
        </p:spPr>
        <p:txBody>
          <a:bodyPr wrap="none" lIns="25400" tIns="25400" rIns="25400" bIns="25400" rtlCol="0" anchor="t">
            <a:normAutofit/>
          </a:bodyPr>
          <a:lstStyle/>
          <a:p>
            <a:pPr algn="l" indent="0" marL="0">
              <a:buNone/>
            </a:pPr>
            <a:r>
              <a:rPr lang="en-US" sz="1200" b="1" spc="150" kern="0" dirty="0">
                <a:solidFill>
                  <a:srgbClr val="0B132B"/>
                </a:solidFill>
                <a:latin typeface="Arial" pitchFamily="34" charset="0"/>
                <a:ea typeface="Arial" pitchFamily="34" charset="-122"/>
                <a:cs typeface="Arial" pitchFamily="34" charset="-120"/>
              </a:rPr>
              <a:t>PHASE 1</a:t>
            </a:r>
            <a:endParaRPr lang="en-US" sz="1200" dirty="0"/>
          </a:p>
        </p:txBody>
      </p:sp>
      <p:sp>
        <p:nvSpPr>
          <p:cNvPr id="8" name="Shape 5"/>
          <p:cNvSpPr/>
          <p:nvPr/>
        </p:nvSpPr>
        <p:spPr>
          <a:xfrm>
            <a:off x="4747441" y="2919677"/>
            <a:ext cx="706015" cy="265581"/>
          </a:xfrm>
          <a:prstGeom prst="roundRect">
            <a:avLst>
              <a:gd name="adj" fmla="val 50000"/>
            </a:avLst>
          </a:prstGeom>
          <a:solidFill>
            <a:srgbClr val="FDE3EA"/>
          </a:solidFill>
          <a:ln/>
        </p:spPr>
      </p:sp>
      <p:sp>
        <p:nvSpPr>
          <p:cNvPr id="9" name="Text 6"/>
          <p:cNvSpPr/>
          <p:nvPr/>
        </p:nvSpPr>
        <p:spPr>
          <a:xfrm>
            <a:off x="4880791" y="2976827"/>
            <a:ext cx="515515" cy="189381"/>
          </a:xfrm>
          <a:prstGeom prst="rect">
            <a:avLst/>
          </a:prstGeom>
          <a:noFill/>
          <a:ln/>
        </p:spPr>
        <p:txBody>
          <a:bodyPr wrap="none" lIns="25400" tIns="25400" rIns="25400" bIns="25400" rtlCol="0" anchor="t">
            <a:normAutofit/>
          </a:bodyPr>
          <a:lstStyle/>
          <a:p>
            <a:pPr algn="l" indent="0" marL="0">
              <a:buNone/>
            </a:pPr>
            <a:r>
              <a:rPr lang="en-US" sz="1050" b="1" spc="113" kern="0" dirty="0">
                <a:solidFill>
                  <a:srgbClr val="0B132B"/>
                </a:solidFill>
                <a:latin typeface="Arial" pitchFamily="34" charset="0"/>
                <a:ea typeface="Arial" pitchFamily="34" charset="-122"/>
                <a:cs typeface="Arial" pitchFamily="34" charset="-120"/>
              </a:rPr>
              <a:t>BUILT</a:t>
            </a:r>
            <a:endParaRPr lang="en-US" sz="1050" dirty="0"/>
          </a:p>
        </p:txBody>
      </p:sp>
      <p:sp>
        <p:nvSpPr>
          <p:cNvPr id="10" name="Text 7"/>
          <p:cNvSpPr/>
          <p:nvPr/>
        </p:nvSpPr>
        <p:spPr>
          <a:xfrm>
            <a:off x="1224378" y="3318538"/>
            <a:ext cx="4651985" cy="491984"/>
          </a:xfrm>
          <a:prstGeom prst="rect">
            <a:avLst/>
          </a:prstGeom>
          <a:noFill/>
          <a:ln/>
        </p:spPr>
        <p:txBody>
          <a:bodyPr wrap="square" lIns="25400" tIns="25400" rIns="25400" bIns="25400" rtlCol="0" anchor="t">
            <a:normAutofit/>
          </a:bodyPr>
          <a:lstStyle/>
          <a:p>
            <a:pPr algn="l" indent="0" marL="0">
              <a:buNone/>
            </a:pPr>
            <a:r>
              <a:rPr lang="en-US" sz="2400" b="1" dirty="0">
                <a:solidFill>
                  <a:srgbClr val="0B132B"/>
                </a:solidFill>
                <a:latin typeface="Arial" pitchFamily="34" charset="0"/>
                <a:ea typeface="Arial" pitchFamily="34" charset="-122"/>
                <a:cs typeface="Arial" pitchFamily="34" charset="-120"/>
              </a:rPr>
              <a:t>Fix the venues</a:t>
            </a:r>
            <a:endParaRPr lang="en-US" sz="2400" dirty="0"/>
          </a:p>
        </p:txBody>
      </p:sp>
      <p:sp>
        <p:nvSpPr>
          <p:cNvPr id="11" name="Text 8"/>
          <p:cNvSpPr/>
          <p:nvPr/>
        </p:nvSpPr>
        <p:spPr>
          <a:xfrm>
            <a:off x="1224378" y="3905701"/>
            <a:ext cx="4355950" cy="1538412"/>
          </a:xfrm>
          <a:prstGeom prst="rect">
            <a:avLst/>
          </a:prstGeom>
          <a:noFill/>
          <a:ln/>
        </p:spPr>
        <p:txBody>
          <a:bodyPr wrap="square" lIns="25400" tIns="25400" rIns="25400" bIns="25400" rtlCol="0" anchor="t">
            <a:normAutofit/>
          </a:bodyPr>
          <a:lstStyle/>
          <a:p>
            <a:pPr algn="l" indent="0" marL="0">
              <a:lnSpc>
                <a:spcPct val="130707"/>
              </a:lnSpc>
              <a:buNone/>
            </a:pPr>
            <a:r>
              <a:rPr lang="en-US" sz="1575" dirty="0">
                <a:solidFill>
                  <a:srgbClr val="475569"/>
                </a:solidFill>
                <a:latin typeface="Arial" pitchFamily="34" charset="0"/>
                <a:ea typeface="Arial" pitchFamily="34" charset="-122"/>
                <a:cs typeface="Arial" pitchFamily="34" charset="-120"/>
              </a:rPr>
              <a:t>One system that runs the business: bookings, schedules, payments, invoices and VAT, memberships, customers, staff and resources. Make every venue instantly bookable.</a:t>
            </a:r>
            <a:endParaRPr lang="en-US" sz="1575" dirty="0"/>
          </a:p>
        </p:txBody>
      </p:sp>
      <p:sp>
        <p:nvSpPr>
          <p:cNvPr id="12" name="Shape 9"/>
          <p:cNvSpPr/>
          <p:nvPr/>
        </p:nvSpPr>
        <p:spPr>
          <a:xfrm>
            <a:off x="5992035" y="2609670"/>
            <a:ext cx="5091604" cy="3106350"/>
          </a:xfrm>
          <a:prstGeom prst="roundRect">
            <a:avLst>
              <a:gd name="adj" fmla="val 4906"/>
            </a:avLst>
          </a:prstGeom>
          <a:solidFill>
            <a:srgbClr val="FFFFFF"/>
          </a:solidFill>
          <a:ln w="5217">
            <a:solidFill>
              <a:srgbClr val="E2E8F0"/>
            </a:solidFill>
            <a:prstDash val="solid"/>
          </a:ln>
        </p:spPr>
      </p:sp>
      <p:sp>
        <p:nvSpPr>
          <p:cNvPr id="13" name="Text 10"/>
          <p:cNvSpPr/>
          <p:nvPr/>
        </p:nvSpPr>
        <p:spPr>
          <a:xfrm>
            <a:off x="6302043" y="2966386"/>
            <a:ext cx="853297" cy="210263"/>
          </a:xfrm>
          <a:prstGeom prst="rect">
            <a:avLst/>
          </a:prstGeom>
          <a:noFill/>
          <a:ln/>
        </p:spPr>
        <p:txBody>
          <a:bodyPr wrap="none" lIns="25400" tIns="25400" rIns="25400" bIns="25400" rtlCol="0" anchor="t">
            <a:normAutofit/>
          </a:bodyPr>
          <a:lstStyle/>
          <a:p>
            <a:pPr algn="l" indent="0" marL="0">
              <a:buNone/>
            </a:pPr>
            <a:r>
              <a:rPr lang="en-US" sz="1200" b="1" spc="150" kern="0" dirty="0">
                <a:solidFill>
                  <a:srgbClr val="0B132B"/>
                </a:solidFill>
                <a:latin typeface="Arial" pitchFamily="34" charset="0"/>
                <a:ea typeface="Arial" pitchFamily="34" charset="-122"/>
                <a:cs typeface="Arial" pitchFamily="34" charset="-120"/>
              </a:rPr>
              <a:t>PHASE 2</a:t>
            </a:r>
            <a:endParaRPr lang="en-US" sz="1200" dirty="0"/>
          </a:p>
        </p:txBody>
      </p:sp>
      <p:sp>
        <p:nvSpPr>
          <p:cNvPr id="14" name="Shape 11"/>
          <p:cNvSpPr/>
          <p:nvPr/>
        </p:nvSpPr>
        <p:spPr>
          <a:xfrm>
            <a:off x="8743707" y="2919677"/>
            <a:ext cx="2029924" cy="265581"/>
          </a:xfrm>
          <a:prstGeom prst="roundRect">
            <a:avLst>
              <a:gd name="adj" fmla="val 50000"/>
            </a:avLst>
          </a:prstGeom>
          <a:solidFill>
            <a:srgbClr val="FDE3EA"/>
          </a:solidFill>
          <a:ln/>
        </p:spPr>
      </p:sp>
      <p:sp>
        <p:nvSpPr>
          <p:cNvPr id="15" name="Text 12"/>
          <p:cNvSpPr/>
          <p:nvPr/>
        </p:nvSpPr>
        <p:spPr>
          <a:xfrm>
            <a:off x="8877057" y="2976827"/>
            <a:ext cx="1839424" cy="189381"/>
          </a:xfrm>
          <a:prstGeom prst="rect">
            <a:avLst/>
          </a:prstGeom>
          <a:noFill/>
          <a:ln/>
        </p:spPr>
        <p:txBody>
          <a:bodyPr wrap="none" lIns="25400" tIns="25400" rIns="25400" bIns="25400" rtlCol="0" anchor="t">
            <a:normAutofit/>
          </a:bodyPr>
          <a:lstStyle/>
          <a:p>
            <a:pPr algn="l" indent="0" marL="0">
              <a:buNone/>
            </a:pPr>
            <a:r>
              <a:rPr lang="en-US" sz="1050" b="1" spc="113" kern="0" dirty="0">
                <a:solidFill>
                  <a:srgbClr val="0B132B"/>
                </a:solidFill>
                <a:latin typeface="Arial" pitchFamily="34" charset="0"/>
                <a:ea typeface="Arial" pitchFamily="34" charset="-122"/>
                <a:cs typeface="Arial" pitchFamily="34" charset="-120"/>
              </a:rPr>
              <a:t>BOOKING LAYER BUILT</a:t>
            </a:r>
            <a:endParaRPr lang="en-US" sz="1050" dirty="0"/>
          </a:p>
        </p:txBody>
      </p:sp>
      <p:sp>
        <p:nvSpPr>
          <p:cNvPr id="16" name="Text 13"/>
          <p:cNvSpPr/>
          <p:nvPr/>
        </p:nvSpPr>
        <p:spPr>
          <a:xfrm>
            <a:off x="6302043" y="3318538"/>
            <a:ext cx="4918748" cy="491984"/>
          </a:xfrm>
          <a:prstGeom prst="rect">
            <a:avLst/>
          </a:prstGeom>
          <a:noFill/>
          <a:ln/>
        </p:spPr>
        <p:txBody>
          <a:bodyPr wrap="square" lIns="25400" tIns="25400" rIns="25400" bIns="25400" rtlCol="0" anchor="t">
            <a:normAutofit/>
          </a:bodyPr>
          <a:lstStyle/>
          <a:p>
            <a:pPr algn="l" indent="0" marL="0">
              <a:buNone/>
            </a:pPr>
            <a:r>
              <a:rPr lang="en-US" sz="2400" b="1" dirty="0">
                <a:solidFill>
                  <a:srgbClr val="0B132B"/>
                </a:solidFill>
                <a:latin typeface="Arial" pitchFamily="34" charset="0"/>
                <a:ea typeface="Arial" pitchFamily="34" charset="-122"/>
                <a:cs typeface="Arial" pitchFamily="34" charset="-120"/>
              </a:rPr>
              <a:t>The marketplace</a:t>
            </a:r>
            <a:endParaRPr lang="en-US" sz="2400" dirty="0"/>
          </a:p>
        </p:txBody>
      </p:sp>
      <p:sp>
        <p:nvSpPr>
          <p:cNvPr id="17" name="Text 14"/>
          <p:cNvSpPr/>
          <p:nvPr/>
        </p:nvSpPr>
        <p:spPr>
          <a:xfrm>
            <a:off x="6302043" y="3905701"/>
            <a:ext cx="4605737" cy="1238349"/>
          </a:xfrm>
          <a:prstGeom prst="rect">
            <a:avLst/>
          </a:prstGeom>
          <a:noFill/>
          <a:ln/>
        </p:spPr>
        <p:txBody>
          <a:bodyPr wrap="square" lIns="25400" tIns="25400" rIns="25400" bIns="25400" rtlCol="0" anchor="t">
            <a:normAutofit/>
          </a:bodyPr>
          <a:lstStyle/>
          <a:p>
            <a:pPr algn="l" indent="0" marL="0">
              <a:lnSpc>
                <a:spcPct val="130707"/>
              </a:lnSpc>
              <a:buNone/>
            </a:pPr>
            <a:r>
              <a:rPr lang="en-US" sz="1575" dirty="0">
                <a:solidFill>
                  <a:srgbClr val="475569"/>
                </a:solidFill>
                <a:latin typeface="Arial" pitchFamily="34" charset="0"/>
                <a:ea typeface="Arial" pitchFamily="34" charset="-122"/>
                <a:cs typeface="Arial" pitchFamily="34" charset="-120"/>
              </a:rPr>
              <a:t>Aggregate the digitised venues. One place to find any sport by location, date or type, with real-time availability and instant booking, in Thai and English.</a:t>
            </a:r>
            <a:endParaRPr lang="en-US" sz="1575" dirty="0"/>
          </a:p>
        </p:txBody>
      </p:sp>
      <p:sp>
        <p:nvSpPr>
          <p:cNvPr id="18" name="Shape 15"/>
          <p:cNvSpPr/>
          <p:nvPr/>
        </p:nvSpPr>
        <p:spPr>
          <a:xfrm>
            <a:off x="11312211" y="2609670"/>
            <a:ext cx="6061406" cy="3106350"/>
          </a:xfrm>
          <a:prstGeom prst="roundRect">
            <a:avLst>
              <a:gd name="adj" fmla="val 4906"/>
            </a:avLst>
          </a:prstGeom>
          <a:solidFill>
            <a:srgbClr val="ED3163"/>
          </a:solidFill>
          <a:ln/>
          <a:effectLst>
            <a:outerShdw sx="100000" sy="100000" kx="0" ky="0" algn="bl" rotWithShape="0" blurRad="381000" dist="114300" dir="5400000">
              <a:srgbClr val="E91E63">
                <a:alpha val="25000"/>
              </a:srgbClr>
            </a:outerShdw>
          </a:effectLst>
        </p:spPr>
      </p:sp>
      <p:sp>
        <p:nvSpPr>
          <p:cNvPr id="19" name="Text 16"/>
          <p:cNvSpPr/>
          <p:nvPr/>
        </p:nvSpPr>
        <p:spPr>
          <a:xfrm>
            <a:off x="11635994" y="2980163"/>
            <a:ext cx="853297" cy="210263"/>
          </a:xfrm>
          <a:prstGeom prst="rect">
            <a:avLst/>
          </a:prstGeom>
          <a:noFill/>
          <a:ln/>
        </p:spPr>
        <p:txBody>
          <a:bodyPr wrap="none" lIns="25400" tIns="25400" rIns="25400" bIns="25400" rtlCol="0" anchor="t">
            <a:normAutofit/>
          </a:bodyPr>
          <a:lstStyle/>
          <a:p>
            <a:pPr algn="l" indent="0" marL="0">
              <a:buNone/>
            </a:pPr>
            <a:r>
              <a:rPr lang="en-US" sz="1200" b="1" spc="150" kern="0" dirty="0">
                <a:solidFill>
                  <a:srgbClr val="FFFFFF"/>
                </a:solidFill>
                <a:latin typeface="Arial" pitchFamily="34" charset="0"/>
                <a:ea typeface="Arial" pitchFamily="34" charset="-122"/>
                <a:cs typeface="Arial" pitchFamily="34" charset="-120"/>
              </a:rPr>
              <a:t>PHASE 3</a:t>
            </a:r>
            <a:endParaRPr lang="en-US" sz="1200" dirty="0"/>
          </a:p>
        </p:txBody>
      </p:sp>
      <p:sp>
        <p:nvSpPr>
          <p:cNvPr id="20" name="Shape 17"/>
          <p:cNvSpPr/>
          <p:nvPr/>
        </p:nvSpPr>
        <p:spPr>
          <a:xfrm>
            <a:off x="15648646" y="2933454"/>
            <a:ext cx="1401188" cy="265581"/>
          </a:xfrm>
          <a:prstGeom prst="roundRect">
            <a:avLst>
              <a:gd name="adj" fmla="val 50000"/>
            </a:avLst>
          </a:prstGeom>
          <a:solidFill>
            <a:srgbClr val="FFFFFF"/>
          </a:solidFill>
          <a:ln/>
        </p:spPr>
      </p:sp>
      <p:sp>
        <p:nvSpPr>
          <p:cNvPr id="21" name="Text 18"/>
          <p:cNvSpPr/>
          <p:nvPr/>
        </p:nvSpPr>
        <p:spPr>
          <a:xfrm>
            <a:off x="15781996" y="2990604"/>
            <a:ext cx="1210688" cy="189381"/>
          </a:xfrm>
          <a:prstGeom prst="rect">
            <a:avLst/>
          </a:prstGeom>
          <a:noFill/>
          <a:ln/>
        </p:spPr>
        <p:txBody>
          <a:bodyPr wrap="none" lIns="25400" tIns="25400" rIns="25400" bIns="25400" rtlCol="0" anchor="t">
            <a:normAutofit/>
          </a:bodyPr>
          <a:lstStyle/>
          <a:p>
            <a:pPr algn="l" indent="0" marL="0">
              <a:buNone/>
            </a:pPr>
            <a:r>
              <a:rPr lang="en-US" sz="1050" b="1" spc="113" kern="0" dirty="0">
                <a:solidFill>
                  <a:srgbClr val="ED3163"/>
                </a:solidFill>
                <a:latin typeface="Arial" pitchFamily="34" charset="0"/>
                <a:ea typeface="Arial" pitchFamily="34" charset="-122"/>
                <a:cs typeface="Arial" pitchFamily="34" charset="-120"/>
              </a:rPr>
              <a:t>THIS PROJECT</a:t>
            </a:r>
            <a:endParaRPr lang="en-US" sz="1050" dirty="0"/>
          </a:p>
        </p:txBody>
      </p:sp>
      <p:sp>
        <p:nvSpPr>
          <p:cNvPr id="22" name="Text 19"/>
          <p:cNvSpPr/>
          <p:nvPr/>
        </p:nvSpPr>
        <p:spPr>
          <a:xfrm>
            <a:off x="11635994" y="3332314"/>
            <a:ext cx="5955223" cy="611976"/>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FFFFFF"/>
                </a:solidFill>
                <a:latin typeface="Arial" pitchFamily="34" charset="0"/>
                <a:ea typeface="Arial" pitchFamily="34" charset="-122"/>
                <a:cs typeface="Arial" pitchFamily="34" charset="-120"/>
              </a:rPr>
              <a:t>The lifestyle layer</a:t>
            </a:r>
            <a:endParaRPr lang="en-US" sz="3000" dirty="0"/>
          </a:p>
        </p:txBody>
      </p:sp>
      <p:sp>
        <p:nvSpPr>
          <p:cNvPr id="23" name="Text 20"/>
          <p:cNvSpPr/>
          <p:nvPr/>
        </p:nvSpPr>
        <p:spPr>
          <a:xfrm>
            <a:off x="11635994" y="4039470"/>
            <a:ext cx="5576254" cy="1352146"/>
          </a:xfrm>
          <a:prstGeom prst="rect">
            <a:avLst/>
          </a:prstGeom>
          <a:noFill/>
          <a:ln/>
        </p:spPr>
        <p:txBody>
          <a:bodyPr wrap="square" lIns="25400" tIns="25400" rIns="25400" bIns="25400" rtlCol="0" anchor="t">
            <a:normAutofit/>
          </a:bodyPr>
          <a:lstStyle/>
          <a:p>
            <a:pPr algn="l" indent="0" marL="0">
              <a:lnSpc>
                <a:spcPct val="131225"/>
              </a:lnSpc>
              <a:buNone/>
            </a:pPr>
            <a:r>
              <a:rPr lang="en-US" sz="1725" dirty="0">
                <a:solidFill>
                  <a:srgbClr val="FFFFFF"/>
                </a:solidFill>
                <a:latin typeface="Arial" pitchFamily="34" charset="0"/>
                <a:ea typeface="Arial" pitchFamily="34" charset="-122"/>
                <a:cs typeface="Arial" pitchFamily="34" charset="-120"/>
              </a:rPr>
              <a:t>Profiles and skill ratings, opponent and partner matching, leagues, tournaments and national rankings, activity feed and community, native mobile applications.</a:t>
            </a:r>
            <a:endParaRPr lang="en-US" sz="1725" dirty="0"/>
          </a:p>
        </p:txBody>
      </p:sp>
      <p:sp>
        <p:nvSpPr>
          <p:cNvPr id="24" name="Text 21"/>
          <p:cNvSpPr/>
          <p:nvPr/>
        </p:nvSpPr>
        <p:spPr>
          <a:xfrm>
            <a:off x="914371" y="8163635"/>
            <a:ext cx="1754537" cy="523286"/>
          </a:xfrm>
          <a:prstGeom prst="rect">
            <a:avLst/>
          </a:prstGeom>
          <a:noFill/>
          <a:ln/>
        </p:spPr>
        <p:txBody>
          <a:bodyPr wrap="square" lIns="25400" tIns="25400" rIns="25400" bIns="25400" rtlCol="0" anchor="t">
            <a:normAutofit/>
          </a:bodyPr>
          <a:lstStyle/>
          <a:p>
            <a:pPr algn="l" indent="0" marL="0">
              <a:buNone/>
            </a:pPr>
            <a:r>
              <a:rPr lang="en-US" sz="2550" b="1" spc="-22" kern="0" dirty="0">
                <a:solidFill>
                  <a:srgbClr val="0B132B"/>
                </a:solidFill>
                <a:latin typeface="Arial" pitchFamily="34" charset="0"/>
                <a:ea typeface="Arial" pitchFamily="34" charset="-122"/>
                <a:cs typeface="Arial" pitchFamily="34" charset="-120"/>
              </a:rPr>
              <a:t>Discovery</a:t>
            </a:r>
            <a:endParaRPr lang="en-US" sz="2550" dirty="0"/>
          </a:p>
        </p:txBody>
      </p:sp>
      <p:sp>
        <p:nvSpPr>
          <p:cNvPr id="25" name="Text 22"/>
          <p:cNvSpPr/>
          <p:nvPr/>
        </p:nvSpPr>
        <p:spPr>
          <a:xfrm>
            <a:off x="2699827" y="8221023"/>
            <a:ext cx="397212" cy="408511"/>
          </a:xfrm>
          <a:prstGeom prst="rect">
            <a:avLst/>
          </a:prstGeom>
          <a:noFill/>
          <a:ln/>
        </p:spPr>
        <p:txBody>
          <a:bodyPr wrap="square" lIns="25400" tIns="25400" rIns="25400" bIns="25400" rtlCol="0" anchor="t">
            <a:normAutofit/>
          </a:bodyPr>
          <a:lstStyle/>
          <a:p>
            <a:pPr algn="l" indent="0" marL="0">
              <a:buNone/>
            </a:pPr>
            <a:r>
              <a:rPr lang="en-US" sz="2550" spc="-22" kern="0" dirty="0">
                <a:solidFill>
                  <a:srgbClr val="94A3B8"/>
                </a:solidFill>
                <a:latin typeface="Arial" pitchFamily="34" charset="0"/>
                <a:ea typeface="Arial" pitchFamily="34" charset="-122"/>
                <a:cs typeface="Arial" pitchFamily="34" charset="-120"/>
              </a:rPr>
              <a:t>→</a:t>
            </a:r>
            <a:endParaRPr lang="en-US" sz="2550" dirty="0"/>
          </a:p>
        </p:txBody>
      </p:sp>
      <p:sp>
        <p:nvSpPr>
          <p:cNvPr id="26" name="Text 23"/>
          <p:cNvSpPr/>
          <p:nvPr/>
        </p:nvSpPr>
        <p:spPr>
          <a:xfrm>
            <a:off x="3211262" y="8163635"/>
            <a:ext cx="1445630" cy="523286"/>
          </a:xfrm>
          <a:prstGeom prst="rect">
            <a:avLst/>
          </a:prstGeom>
          <a:noFill/>
          <a:ln/>
        </p:spPr>
        <p:txBody>
          <a:bodyPr wrap="square" lIns="25400" tIns="25400" rIns="25400" bIns="25400" rtlCol="0" anchor="t">
            <a:normAutofit/>
          </a:bodyPr>
          <a:lstStyle/>
          <a:p>
            <a:pPr algn="l" indent="0" marL="0">
              <a:buNone/>
            </a:pPr>
            <a:r>
              <a:rPr lang="en-US" sz="2550" b="1" spc="-22" kern="0" dirty="0">
                <a:solidFill>
                  <a:srgbClr val="0B132B"/>
                </a:solidFill>
                <a:latin typeface="Arial" pitchFamily="34" charset="0"/>
                <a:ea typeface="Arial" pitchFamily="34" charset="-122"/>
                <a:cs typeface="Arial" pitchFamily="34" charset="-120"/>
              </a:rPr>
              <a:t>Booking</a:t>
            </a:r>
            <a:endParaRPr lang="en-US" sz="2550" dirty="0"/>
          </a:p>
        </p:txBody>
      </p:sp>
      <p:sp>
        <p:nvSpPr>
          <p:cNvPr id="27" name="Text 24"/>
          <p:cNvSpPr/>
          <p:nvPr/>
        </p:nvSpPr>
        <p:spPr>
          <a:xfrm>
            <a:off x="4715894" y="8221023"/>
            <a:ext cx="397212" cy="408511"/>
          </a:xfrm>
          <a:prstGeom prst="rect">
            <a:avLst/>
          </a:prstGeom>
          <a:noFill/>
          <a:ln/>
        </p:spPr>
        <p:txBody>
          <a:bodyPr wrap="square" lIns="25400" tIns="25400" rIns="25400" bIns="25400" rtlCol="0" anchor="t">
            <a:normAutofit/>
          </a:bodyPr>
          <a:lstStyle/>
          <a:p>
            <a:pPr algn="l" indent="0" marL="0">
              <a:buNone/>
            </a:pPr>
            <a:r>
              <a:rPr lang="en-US" sz="2550" spc="-22" kern="0" dirty="0">
                <a:solidFill>
                  <a:srgbClr val="94A3B8"/>
                </a:solidFill>
                <a:latin typeface="Arial" pitchFamily="34" charset="0"/>
                <a:ea typeface="Arial" pitchFamily="34" charset="-122"/>
                <a:cs typeface="Arial" pitchFamily="34" charset="-120"/>
              </a:rPr>
              <a:t>→</a:t>
            </a:r>
            <a:endParaRPr lang="en-US" sz="2550" dirty="0"/>
          </a:p>
        </p:txBody>
      </p:sp>
      <p:sp>
        <p:nvSpPr>
          <p:cNvPr id="28" name="Text 25"/>
          <p:cNvSpPr/>
          <p:nvPr/>
        </p:nvSpPr>
        <p:spPr>
          <a:xfrm>
            <a:off x="5227329" y="8163635"/>
            <a:ext cx="2294788" cy="523286"/>
          </a:xfrm>
          <a:prstGeom prst="rect">
            <a:avLst/>
          </a:prstGeom>
          <a:noFill/>
          <a:ln/>
        </p:spPr>
        <p:txBody>
          <a:bodyPr wrap="square" lIns="25400" tIns="25400" rIns="25400" bIns="25400" rtlCol="0" anchor="t">
            <a:normAutofit/>
          </a:bodyPr>
          <a:lstStyle/>
          <a:p>
            <a:pPr algn="l" indent="0" marL="0">
              <a:buNone/>
            </a:pPr>
            <a:r>
              <a:rPr lang="en-US" sz="2550" b="1" spc="-22" kern="0" dirty="0">
                <a:solidFill>
                  <a:srgbClr val="ED3163"/>
                </a:solidFill>
                <a:latin typeface="Arial" pitchFamily="34" charset="0"/>
                <a:ea typeface="Arial" pitchFamily="34" charset="-122"/>
                <a:cs typeface="Arial" pitchFamily="34" charset="-120"/>
              </a:rPr>
              <a:t>Participation</a:t>
            </a:r>
            <a:endParaRPr lang="en-US" sz="2550" dirty="0"/>
          </a:p>
        </p:txBody>
      </p:sp>
      <p:sp>
        <p:nvSpPr>
          <p:cNvPr id="29" name="Text 26"/>
          <p:cNvSpPr/>
          <p:nvPr/>
        </p:nvSpPr>
        <p:spPr>
          <a:xfrm>
            <a:off x="7503922" y="8221023"/>
            <a:ext cx="397212" cy="408511"/>
          </a:xfrm>
          <a:prstGeom prst="rect">
            <a:avLst/>
          </a:prstGeom>
          <a:noFill/>
          <a:ln/>
        </p:spPr>
        <p:txBody>
          <a:bodyPr wrap="square" lIns="25400" tIns="25400" rIns="25400" bIns="25400" rtlCol="0" anchor="t">
            <a:normAutofit/>
          </a:bodyPr>
          <a:lstStyle/>
          <a:p>
            <a:pPr algn="l" indent="0" marL="0">
              <a:buNone/>
            </a:pPr>
            <a:r>
              <a:rPr lang="en-US" sz="2550" spc="-22" kern="0" dirty="0">
                <a:solidFill>
                  <a:srgbClr val="94A3B8"/>
                </a:solidFill>
                <a:latin typeface="Arial" pitchFamily="34" charset="0"/>
                <a:ea typeface="Arial" pitchFamily="34" charset="-122"/>
                <a:cs typeface="Arial" pitchFamily="34" charset="-120"/>
              </a:rPr>
              <a:t>→</a:t>
            </a:r>
            <a:endParaRPr lang="en-US" sz="2550" dirty="0"/>
          </a:p>
        </p:txBody>
      </p:sp>
      <p:sp>
        <p:nvSpPr>
          <p:cNvPr id="30" name="Text 27"/>
          <p:cNvSpPr/>
          <p:nvPr/>
        </p:nvSpPr>
        <p:spPr>
          <a:xfrm>
            <a:off x="8015357" y="8163635"/>
            <a:ext cx="2142800" cy="523286"/>
          </a:xfrm>
          <a:prstGeom prst="rect">
            <a:avLst/>
          </a:prstGeom>
          <a:noFill/>
          <a:ln/>
        </p:spPr>
        <p:txBody>
          <a:bodyPr wrap="square" lIns="25400" tIns="25400" rIns="25400" bIns="25400" rtlCol="0" anchor="t">
            <a:normAutofit/>
          </a:bodyPr>
          <a:lstStyle/>
          <a:p>
            <a:pPr algn="l" indent="0" marL="0">
              <a:buNone/>
            </a:pPr>
            <a:r>
              <a:rPr lang="en-US" sz="2550" b="1" spc="-22" kern="0" dirty="0">
                <a:solidFill>
                  <a:srgbClr val="ED3163"/>
                </a:solidFill>
                <a:latin typeface="Arial" pitchFamily="34" charset="0"/>
                <a:ea typeface="Arial" pitchFamily="34" charset="-122"/>
                <a:cs typeface="Arial" pitchFamily="34" charset="-120"/>
              </a:rPr>
              <a:t>Community</a:t>
            </a:r>
            <a:endParaRPr lang="en-US" sz="2550" dirty="0"/>
          </a:p>
        </p:txBody>
      </p:sp>
      <p:sp>
        <p:nvSpPr>
          <p:cNvPr id="31" name="Text 28"/>
          <p:cNvSpPr/>
          <p:nvPr/>
        </p:nvSpPr>
        <p:spPr>
          <a:xfrm>
            <a:off x="10153780" y="8221023"/>
            <a:ext cx="397212" cy="408511"/>
          </a:xfrm>
          <a:prstGeom prst="rect">
            <a:avLst/>
          </a:prstGeom>
          <a:noFill/>
          <a:ln/>
        </p:spPr>
        <p:txBody>
          <a:bodyPr wrap="square" lIns="25400" tIns="25400" rIns="25400" bIns="25400" rtlCol="0" anchor="t">
            <a:normAutofit/>
          </a:bodyPr>
          <a:lstStyle/>
          <a:p>
            <a:pPr algn="l" indent="0" marL="0">
              <a:buNone/>
            </a:pPr>
            <a:r>
              <a:rPr lang="en-US" sz="2550" spc="-22" kern="0" dirty="0">
                <a:solidFill>
                  <a:srgbClr val="94A3B8"/>
                </a:solidFill>
                <a:latin typeface="Arial" pitchFamily="34" charset="0"/>
                <a:ea typeface="Arial" pitchFamily="34" charset="-122"/>
                <a:cs typeface="Arial" pitchFamily="34" charset="-120"/>
              </a:rPr>
              <a:t>→</a:t>
            </a:r>
            <a:endParaRPr lang="en-US" sz="2550" dirty="0"/>
          </a:p>
        </p:txBody>
      </p:sp>
      <p:sp>
        <p:nvSpPr>
          <p:cNvPr id="32" name="Text 29"/>
          <p:cNvSpPr/>
          <p:nvPr/>
        </p:nvSpPr>
        <p:spPr>
          <a:xfrm>
            <a:off x="10665214" y="8163635"/>
            <a:ext cx="2108368" cy="523286"/>
          </a:xfrm>
          <a:prstGeom prst="rect">
            <a:avLst/>
          </a:prstGeom>
          <a:noFill/>
          <a:ln/>
        </p:spPr>
        <p:txBody>
          <a:bodyPr wrap="square" lIns="25400" tIns="25400" rIns="25400" bIns="25400" rtlCol="0" anchor="t">
            <a:normAutofit/>
          </a:bodyPr>
          <a:lstStyle/>
          <a:p>
            <a:pPr algn="l" indent="0" marL="0">
              <a:buNone/>
            </a:pPr>
            <a:r>
              <a:rPr lang="en-US" sz="2550" b="1" spc="-22" kern="0" dirty="0">
                <a:solidFill>
                  <a:srgbClr val="ED3163"/>
                </a:solidFill>
                <a:latin typeface="Arial" pitchFamily="34" charset="0"/>
                <a:ea typeface="Arial" pitchFamily="34" charset="-122"/>
                <a:cs typeface="Arial" pitchFamily="34" charset="-120"/>
              </a:rPr>
              <a:t>Progression</a:t>
            </a:r>
            <a:endParaRPr lang="en-US" sz="2550" dirty="0"/>
          </a:p>
        </p:txBody>
      </p:sp>
      <p:sp>
        <p:nvSpPr>
          <p:cNvPr id="33" name="Text 30"/>
          <p:cNvSpPr/>
          <p:nvPr/>
        </p:nvSpPr>
        <p:spPr>
          <a:xfrm>
            <a:off x="914371" y="8801176"/>
            <a:ext cx="14716107" cy="609531"/>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94A3B8"/>
                </a:solidFill>
                <a:latin typeface="Arial" pitchFamily="34" charset="0"/>
                <a:ea typeface="Arial" pitchFamily="34" charset="-122"/>
                <a:cs typeface="Arial" pitchFamily="34" charset="-120"/>
              </a:rPr>
              <a:t>Phases 1 and 2 cover discovery and booking. Phase 3 is participation, community and progression — the half that determines whether a person is still playing in a year.</a:t>
            </a:r>
            <a:endParaRPr lang="en-US" sz="1500" dirty="0"/>
          </a:p>
        </p:txBody>
      </p:sp>
      <p:sp>
        <p:nvSpPr>
          <p:cNvPr id="34" name="Shape 31"/>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322561" cy="380927"/>
          </a:xfrm>
          <a:prstGeom prst="rect">
            <a:avLst/>
          </a:prstGeom>
        </p:spPr>
      </p:pic>
      <p:sp>
        <p:nvSpPr>
          <p:cNvPr id="3" name="Text 0"/>
          <p:cNvSpPr/>
          <p:nvPr/>
        </p:nvSpPr>
        <p:spPr>
          <a:xfrm>
            <a:off x="1332143" y="533770"/>
            <a:ext cx="1001902" cy="418130"/>
          </a:xfrm>
          <a:prstGeom prst="rect">
            <a:avLst/>
          </a:prstGeom>
          <a:noFill/>
          <a:ln/>
        </p:spPr>
        <p:txBody>
          <a:bodyPr wrap="square" lIns="25400" tIns="25400" rIns="25400" bIns="25400" rtlCol="0" anchor="t">
            <a:normAutofit/>
          </a:bodyPr>
          <a:lstStyle/>
          <a:p>
            <a:pPr algn="l" indent="0" marL="0">
              <a:lnSpc>
                <a:spcPct val="93394"/>
              </a:lnSpc>
              <a:buNone/>
            </a:pPr>
            <a:r>
              <a:rPr lang="en-US" sz="1425" b="1" dirty="0">
                <a:solidFill>
                  <a:srgbClr val="F6F8FA"/>
                </a:solidFill>
                <a:latin typeface="Arial" pitchFamily="34" charset="0"/>
                <a:ea typeface="Arial" pitchFamily="34" charset="-122"/>
                <a:cs typeface="Arial" pitchFamily="34" charset="-120"/>
              </a:rPr>
              <a:t>Education AI Group</a:t>
            </a:r>
            <a:endParaRPr lang="en-US" sz="1425" dirty="0"/>
          </a:p>
        </p:txBody>
      </p:sp>
      <p:sp>
        <p:nvSpPr>
          <p:cNvPr id="4" name="Text 1"/>
          <p:cNvSpPr/>
          <p:nvPr/>
        </p:nvSpPr>
        <p:spPr>
          <a:xfrm>
            <a:off x="16775123" y="609010"/>
            <a:ext cx="674694" cy="267651"/>
          </a:xfrm>
          <a:prstGeom prst="rect">
            <a:avLst/>
          </a:prstGeom>
          <a:noFill/>
          <a:ln/>
        </p:spPr>
        <p:txBody>
          <a:bodyPr wrap="none" lIns="25400" tIns="25400" rIns="25400" bIns="25400" rtlCol="0" anchor="t">
            <a:normAutofit/>
          </a:bodyPr>
          <a:lstStyle/>
          <a:p>
            <a:pPr algn="l" indent="0" marL="0">
              <a:buNone/>
            </a:pPr>
            <a:r>
              <a:rPr lang="en-US" sz="1500" dirty="0">
                <a:solidFill>
                  <a:srgbClr val="F6F8FA"/>
                </a:solidFill>
                <a:latin typeface="Arial" pitchFamily="34" charset="0"/>
                <a:ea typeface="Arial" pitchFamily="34" charset="-122"/>
                <a:cs typeface="Arial" pitchFamily="34" charset="-120"/>
              </a:rPr>
              <a:t>12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F6F8FA"/>
                </a:solidFill>
                <a:latin typeface="Arial" pitchFamily="34" charset="0"/>
                <a:ea typeface="Arial" pitchFamily="34" charset="-122"/>
                <a:cs typeface="Arial" pitchFamily="34" charset="-120"/>
              </a:rPr>
              <a:t>26</a:t>
            </a:r>
            <a:endParaRPr lang="en-US" sz="1500" dirty="0"/>
          </a:p>
        </p:txBody>
      </p:sp>
      <p:sp>
        <p:nvSpPr>
          <p:cNvPr id="5" name="Text 2"/>
          <p:cNvSpPr/>
          <p:nvPr/>
        </p:nvSpPr>
        <p:spPr>
          <a:xfrm>
            <a:off x="914371" y="1295216"/>
            <a:ext cx="8474540"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6" name="Text 3"/>
          <p:cNvSpPr/>
          <p:nvPr/>
        </p:nvSpPr>
        <p:spPr>
          <a:xfrm>
            <a:off x="914371" y="1581665"/>
            <a:ext cx="8474540"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F6F8FA"/>
                </a:solidFill>
                <a:latin typeface="Arial" pitchFamily="34" charset="0"/>
                <a:ea typeface="Arial" pitchFamily="34" charset="-122"/>
                <a:cs typeface="Arial" pitchFamily="34" charset="-120"/>
              </a:rPr>
              <a:t>Built and running — live today</a:t>
            </a:r>
            <a:endParaRPr lang="en-US" sz="4050" dirty="0"/>
          </a:p>
        </p:txBody>
      </p:sp>
      <p:pic>
        <p:nvPicPr>
          <p:cNvPr id="7" name="Image 1" descr="preencoded.png">    </p:cNvPr>
          <p:cNvPicPr>
            <a:picLocks noChangeAspect="1"/>
          </p:cNvPicPr>
          <p:nvPr/>
        </p:nvPicPr>
        <p:blipFill>
          <a:blip r:embed="rId2"/>
          <a:stretch>
            <a:fillRect/>
          </a:stretch>
        </p:blipFill>
        <p:spPr>
          <a:xfrm>
            <a:off x="16905549" y="1485639"/>
            <a:ext cx="468068" cy="609581"/>
          </a:xfrm>
          <a:prstGeom prst="rect">
            <a:avLst/>
          </a:prstGeom>
        </p:spPr>
      </p:pic>
      <p:sp>
        <p:nvSpPr>
          <p:cNvPr id="8" name="Shape 4"/>
          <p:cNvSpPr/>
          <p:nvPr/>
        </p:nvSpPr>
        <p:spPr>
          <a:xfrm>
            <a:off x="914371" y="2400091"/>
            <a:ext cx="6581889" cy="3702236"/>
          </a:xfrm>
          <a:prstGeom prst="roundRect">
            <a:avLst>
              <a:gd name="adj" fmla="val 3087"/>
            </a:avLst>
          </a:prstGeom>
          <a:ln/>
          <a:effectLst>
            <a:outerShdw sx="100000" sy="100000" kx="0" ky="0" algn="bl" rotWithShape="0" blurRad="571500" dist="190500" dir="5400000">
              <a:srgbClr val="000000">
                <a:alpha val="40000"/>
              </a:srgbClr>
            </a:outerShdw>
          </a:effectLst>
        </p:spPr>
      </p:sp>
      <p:pic>
        <p:nvPicPr>
          <p:cNvPr id="9" name="Image 2" descr="preencoded.png">    </p:cNvPr>
          <p:cNvPicPr>
            <a:picLocks noChangeAspect="1"/>
          </p:cNvPicPr>
          <p:nvPr/>
        </p:nvPicPr>
        <p:blipFill>
          <a:blip r:embed="rId3"/>
          <a:stretch>
            <a:fillRect/>
          </a:stretch>
        </p:blipFill>
        <p:spPr>
          <a:xfrm>
            <a:off x="914371" y="2400091"/>
            <a:ext cx="6581889" cy="3702236"/>
          </a:xfrm>
          <a:prstGeom prst="rect">
            <a:avLst/>
          </a:prstGeom>
        </p:spPr>
      </p:pic>
      <p:sp>
        <p:nvSpPr>
          <p:cNvPr id="10" name="Text 5"/>
          <p:cNvSpPr/>
          <p:nvPr/>
        </p:nvSpPr>
        <p:spPr>
          <a:xfrm>
            <a:off x="914371" y="6216613"/>
            <a:ext cx="7240078" cy="30955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94A3B8"/>
                </a:solidFill>
                <a:latin typeface="Arial" pitchFamily="34" charset="0"/>
                <a:ea typeface="Arial" pitchFamily="34" charset="-122"/>
                <a:cs typeface="Arial" pitchFamily="34" charset="-120"/>
              </a:rPr>
              <a:t>Marketplace listing and booking — live at mysportia.com</a:t>
            </a:r>
            <a:endParaRPr lang="en-US" sz="1425" dirty="0"/>
          </a:p>
        </p:txBody>
      </p:sp>
      <p:sp>
        <p:nvSpPr>
          <p:cNvPr id="11" name="Shape 6"/>
          <p:cNvSpPr/>
          <p:nvPr/>
        </p:nvSpPr>
        <p:spPr>
          <a:xfrm>
            <a:off x="7762900" y="2400091"/>
            <a:ext cx="6581889" cy="4113650"/>
          </a:xfrm>
          <a:prstGeom prst="roundRect">
            <a:avLst>
              <a:gd name="adj" fmla="val 2779"/>
            </a:avLst>
          </a:prstGeom>
          <a:ln/>
          <a:effectLst>
            <a:outerShdw sx="100000" sy="100000" kx="0" ky="0" algn="bl" rotWithShape="0" blurRad="571500" dist="190500" dir="5400000">
              <a:srgbClr val="000000">
                <a:alpha val="40000"/>
              </a:srgbClr>
            </a:outerShdw>
          </a:effectLst>
        </p:spPr>
      </p:sp>
      <p:pic>
        <p:nvPicPr>
          <p:cNvPr id="12" name="Image 3" descr="preencoded.png">    </p:cNvPr>
          <p:cNvPicPr>
            <a:picLocks noChangeAspect="1"/>
          </p:cNvPicPr>
          <p:nvPr/>
        </p:nvPicPr>
        <p:blipFill>
          <a:blip r:embed="rId4"/>
          <a:stretch>
            <a:fillRect/>
          </a:stretch>
        </p:blipFill>
        <p:spPr>
          <a:xfrm>
            <a:off x="7762900" y="2400091"/>
            <a:ext cx="6581889" cy="4113650"/>
          </a:xfrm>
          <a:prstGeom prst="rect">
            <a:avLst/>
          </a:prstGeom>
        </p:spPr>
      </p:pic>
      <p:sp>
        <p:nvSpPr>
          <p:cNvPr id="13" name="Text 7"/>
          <p:cNvSpPr/>
          <p:nvPr/>
        </p:nvSpPr>
        <p:spPr>
          <a:xfrm>
            <a:off x="7762900" y="6628027"/>
            <a:ext cx="6779346" cy="58100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94A3B8"/>
                </a:solidFill>
                <a:latin typeface="Arial" pitchFamily="34" charset="0"/>
                <a:ea typeface="Arial" pitchFamily="34" charset="-122"/>
                <a:cs typeface="Arial" pitchFamily="34" charset="-120"/>
              </a:rPr>
              <a:t>Venue management back office — bookings, scheduling, customer records, staff and reporting</a:t>
            </a:r>
            <a:endParaRPr lang="en-US" sz="1425" dirty="0"/>
          </a:p>
        </p:txBody>
      </p:sp>
      <p:sp>
        <p:nvSpPr>
          <p:cNvPr id="14" name="Shape 8"/>
          <p:cNvSpPr/>
          <p:nvPr/>
        </p:nvSpPr>
        <p:spPr>
          <a:xfrm>
            <a:off x="14611429" y="2400091"/>
            <a:ext cx="2762188" cy="4762440"/>
          </a:xfrm>
          <a:prstGeom prst="roundRect">
            <a:avLst>
              <a:gd name="adj" fmla="val 7586"/>
            </a:avLst>
          </a:prstGeom>
          <a:ln/>
          <a:effectLst>
            <a:outerShdw sx="100000" sy="100000" kx="0" ky="0" algn="bl" rotWithShape="0" blurRad="571500" dist="190500" dir="5400000">
              <a:srgbClr val="000000">
                <a:alpha val="40000"/>
              </a:srgbClr>
            </a:outerShdw>
          </a:effectLst>
        </p:spPr>
      </p:sp>
      <p:pic>
        <p:nvPicPr>
          <p:cNvPr id="15" name="Image 4" descr="preencoded.png">    </p:cNvPr>
          <p:cNvPicPr>
            <a:picLocks noChangeAspect="1"/>
          </p:cNvPicPr>
          <p:nvPr/>
        </p:nvPicPr>
        <p:blipFill>
          <a:blip r:embed="rId5"/>
          <a:srcRect l="0" r="0" t="0" b="9482"/>
          <a:stretch/>
        </p:blipFill>
        <p:spPr>
          <a:xfrm>
            <a:off x="14611429" y="2400091"/>
            <a:ext cx="2762188" cy="4762440"/>
          </a:xfrm>
          <a:prstGeom prst="rect">
            <a:avLst/>
          </a:prstGeom>
        </p:spPr>
      </p:pic>
      <p:sp>
        <p:nvSpPr>
          <p:cNvPr id="16" name="Text 9"/>
          <p:cNvSpPr/>
          <p:nvPr/>
        </p:nvSpPr>
        <p:spPr>
          <a:xfrm>
            <a:off x="14611429" y="7276817"/>
            <a:ext cx="3038406" cy="30955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94A3B8"/>
                </a:solidFill>
                <a:latin typeface="Arial" pitchFamily="34" charset="0"/>
                <a:ea typeface="Arial" pitchFamily="34" charset="-122"/>
                <a:cs typeface="Arial" pitchFamily="34" charset="-120"/>
              </a:rPr>
              <a:t>Booking on a phone</a:t>
            </a:r>
            <a:endParaRPr lang="en-US" sz="1425" dirty="0"/>
          </a:p>
        </p:txBody>
      </p:sp>
      <p:sp>
        <p:nvSpPr>
          <p:cNvPr id="17" name="Text 10"/>
          <p:cNvSpPr/>
          <p:nvPr/>
        </p:nvSpPr>
        <p:spPr>
          <a:xfrm>
            <a:off x="914371" y="8911631"/>
            <a:ext cx="7620719" cy="499076"/>
          </a:xfrm>
          <a:prstGeom prst="rect">
            <a:avLst/>
          </a:prstGeom>
          <a:noFill/>
          <a:ln/>
        </p:spPr>
        <p:txBody>
          <a:bodyPr wrap="square" lIns="25400" tIns="25400" rIns="25400" bIns="25400" rtlCol="0" anchor="t">
            <a:normAutofit/>
          </a:bodyPr>
          <a:lstStyle/>
          <a:p>
            <a:pPr algn="l" indent="0" marL="0">
              <a:lnSpc>
                <a:spcPct val="95017"/>
              </a:lnSpc>
              <a:buNone/>
            </a:pPr>
            <a:r>
              <a:rPr lang="en-US" sz="3300" b="1" spc="-45" kern="0" dirty="0">
                <a:solidFill>
                  <a:srgbClr val="F6F8FA"/>
                </a:solidFill>
                <a:latin typeface="Arial" pitchFamily="34" charset="0"/>
                <a:ea typeface="Arial" pitchFamily="34" charset="-122"/>
                <a:cs typeface="Arial" pitchFamily="34" charset="-120"/>
              </a:rPr>
              <a:t>Live at </a:t>
            </a:r>
            <a:pPr algn="l" indent="0" marL="0">
              <a:lnSpc>
                <a:spcPct val="95017"/>
              </a:lnSpc>
              <a:buNone/>
            </a:pPr>
            <a:r>
              <a:rPr lang="en-US" sz="3300" b="1" spc="-45" kern="0" dirty="0">
                <a:solidFill>
                  <a:srgbClr val="ED3163"/>
                </a:solidFill>
                <a:latin typeface="Arial" pitchFamily="34" charset="0"/>
                <a:ea typeface="Arial" pitchFamily="34" charset="-122"/>
                <a:cs typeface="Arial" pitchFamily="34" charset="-120"/>
              </a:rPr>
              <a:t>32 pilot venues </a:t>
            </a:r>
            <a:pPr algn="l" indent="0" marL="0">
              <a:lnSpc>
                <a:spcPct val="95017"/>
              </a:lnSpc>
              <a:buNone/>
            </a:pPr>
            <a:r>
              <a:rPr lang="en-US" sz="3300" b="1" spc="-45" kern="0" dirty="0">
                <a:solidFill>
                  <a:srgbClr val="F6F8FA"/>
                </a:solidFill>
                <a:latin typeface="Arial" pitchFamily="34" charset="0"/>
                <a:ea typeface="Arial" pitchFamily="34" charset="-122"/>
                <a:cs typeface="Arial" pitchFamily="34" charset="-120"/>
              </a:rPr>
              <a:t>in Thailand</a:t>
            </a:r>
            <a:endParaRPr lang="en-US" sz="3300" dirty="0"/>
          </a:p>
        </p:txBody>
      </p:sp>
      <p:sp>
        <p:nvSpPr>
          <p:cNvPr id="18" name="Text 11"/>
          <p:cNvSpPr/>
          <p:nvPr/>
        </p:nvSpPr>
        <p:spPr>
          <a:xfrm>
            <a:off x="9917453" y="8829707"/>
            <a:ext cx="7456163" cy="581000"/>
          </a:xfrm>
          <a:prstGeom prst="rect">
            <a:avLst/>
          </a:prstGeom>
          <a:noFill/>
          <a:ln/>
        </p:spPr>
        <p:txBody>
          <a:bodyPr wrap="square" lIns="25400" tIns="25400" rIns="25400" bIns="25400" rtlCol="0" anchor="t">
            <a:normAutofit/>
          </a:bodyPr>
          <a:lstStyle/>
          <a:p>
            <a:pPr algn="r" indent="0" marL="0">
              <a:lnSpc>
                <a:spcPct val="133420"/>
              </a:lnSpc>
              <a:buNone/>
            </a:pPr>
            <a:r>
              <a:rPr lang="en-US" sz="1425" dirty="0">
                <a:solidFill>
                  <a:srgbClr val="94A3B8"/>
                </a:solidFill>
                <a:latin typeface="Arial" pitchFamily="34" charset="0"/>
                <a:ea typeface="Arial" pitchFamily="34" charset="-122"/>
                <a:cs typeface="Arial" pitchFamily="34" charset="-120"/>
              </a:rPr>
              <a:t>Master merchant with Stripe and Omise — PromptPay, Thai QR, cards. Phase 1 and the booking layer of Phase 2: approximately 15% of the planned system.</a:t>
            </a:r>
            <a:endParaRPr lang="en-US" sz="1425" dirty="0"/>
          </a:p>
        </p:txBody>
      </p:sp>
      <p:sp>
        <p:nvSpPr>
          <p:cNvPr id="19" name="Shape 12"/>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3655" y="609010"/>
            <a:ext cx="676162"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13 </a:t>
            </a:r>
            <a:pPr algn="l" indent="0" marL="0">
              <a:buNone/>
            </a:pPr>
            <a:r>
              <a:rPr lang="en-US" sz="1500" dirty="0">
                <a:solidFill>
                  <a:srgbClr val="00D4C8"/>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295216"/>
            <a:ext cx="5336243"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0D4C8"/>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581665"/>
            <a:ext cx="5336243"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What a venue gets</a:t>
            </a:r>
            <a:endParaRPr lang="en-US" sz="4050" dirty="0"/>
          </a:p>
        </p:txBody>
      </p:sp>
      <p:pic>
        <p:nvPicPr>
          <p:cNvPr id="6" name="Image 1" descr="preencoded.png">    </p:cNvPr>
          <p:cNvPicPr>
            <a:picLocks noChangeAspect="1"/>
          </p:cNvPicPr>
          <p:nvPr/>
        </p:nvPicPr>
        <p:blipFill>
          <a:blip r:embed="rId2"/>
          <a:stretch>
            <a:fillRect/>
          </a:stretch>
        </p:blipFill>
        <p:spPr>
          <a:xfrm>
            <a:off x="16905549" y="1485639"/>
            <a:ext cx="468068" cy="609581"/>
          </a:xfrm>
          <a:prstGeom prst="rect">
            <a:avLst/>
          </a:prstGeom>
        </p:spPr>
      </p:pic>
      <p:sp>
        <p:nvSpPr>
          <p:cNvPr id="7" name="Shape 3"/>
          <p:cNvSpPr/>
          <p:nvPr/>
        </p:nvSpPr>
        <p:spPr>
          <a:xfrm>
            <a:off x="914371" y="2400091"/>
            <a:ext cx="3943362" cy="6972516"/>
          </a:xfrm>
          <a:prstGeom prst="roundRect">
            <a:avLst>
              <a:gd name="adj" fmla="val 38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8" name="Shape 4"/>
          <p:cNvSpPr/>
          <p:nvPr/>
        </p:nvSpPr>
        <p:spPr>
          <a:xfrm>
            <a:off x="919588" y="7538974"/>
            <a:ext cx="3932928" cy="9525"/>
          </a:xfrm>
          <a:prstGeom prst="rect">
            <a:avLst/>
          </a:prstGeom>
          <a:solidFill>
            <a:srgbClr val="E2E8F0"/>
          </a:solidFill>
          <a:ln/>
        </p:spPr>
      </p:sp>
      <p:pic>
        <p:nvPicPr>
          <p:cNvPr id="9" name="Image 2" descr="preencoded.png">    </p:cNvPr>
          <p:cNvPicPr>
            <a:picLocks noChangeAspect="1"/>
          </p:cNvPicPr>
          <p:nvPr/>
        </p:nvPicPr>
        <p:blipFill>
          <a:blip r:embed="rId3"/>
          <a:srcRect l="0" r="52167" t="0" b="0"/>
          <a:stretch/>
        </p:blipFill>
        <p:spPr>
          <a:xfrm>
            <a:off x="919588" y="2405308"/>
            <a:ext cx="3932928" cy="5138883"/>
          </a:xfrm>
          <a:prstGeom prst="rect">
            <a:avLst/>
          </a:prstGeom>
        </p:spPr>
      </p:pic>
      <p:sp>
        <p:nvSpPr>
          <p:cNvPr id="10" name="Text 5"/>
          <p:cNvSpPr/>
          <p:nvPr/>
        </p:nvSpPr>
        <p:spPr>
          <a:xfrm>
            <a:off x="1186228" y="7772763"/>
            <a:ext cx="3739611" cy="413728"/>
          </a:xfrm>
          <a:prstGeom prst="rect">
            <a:avLst/>
          </a:prstGeom>
          <a:noFill/>
          <a:ln/>
        </p:spPr>
        <p:txBody>
          <a:bodyPr wrap="square" lIns="25400" tIns="25400" rIns="25400" bIns="25400" rtlCol="0" anchor="t">
            <a:normAutofit/>
          </a:bodyPr>
          <a:lstStyle/>
          <a:p>
            <a:pPr algn="l" indent="0" marL="0">
              <a:buNone/>
            </a:pPr>
            <a:r>
              <a:rPr lang="en-US" sz="1950" b="1" dirty="0">
                <a:solidFill>
                  <a:srgbClr val="ED3163"/>
                </a:solidFill>
                <a:latin typeface="Arial" pitchFamily="34" charset="0"/>
                <a:ea typeface="Arial" pitchFamily="34" charset="-122"/>
                <a:cs typeface="Arial" pitchFamily="34" charset="-120"/>
              </a:rPr>
              <a:t>More revenue</a:t>
            </a:r>
            <a:endParaRPr lang="en-US" sz="1950" dirty="0"/>
          </a:p>
        </p:txBody>
      </p:sp>
      <p:sp>
        <p:nvSpPr>
          <p:cNvPr id="11" name="Text 6"/>
          <p:cNvSpPr/>
          <p:nvPr/>
        </p:nvSpPr>
        <p:spPr>
          <a:xfrm>
            <a:off x="1186228" y="8243603"/>
            <a:ext cx="3501636" cy="895246"/>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475569"/>
                </a:solidFill>
                <a:latin typeface="Arial" pitchFamily="34" charset="0"/>
                <a:ea typeface="Arial" pitchFamily="34" charset="-122"/>
                <a:cs typeface="Arial" pitchFamily="34" charset="-120"/>
              </a:rPr>
              <a:t>The marketplace brings customers a venue could never reach on its own, and empty slots start to fill.</a:t>
            </a:r>
            <a:endParaRPr lang="en-US" sz="1500" dirty="0"/>
          </a:p>
        </p:txBody>
      </p:sp>
      <p:sp>
        <p:nvSpPr>
          <p:cNvPr id="12" name="Shape 7"/>
          <p:cNvSpPr/>
          <p:nvPr/>
        </p:nvSpPr>
        <p:spPr>
          <a:xfrm>
            <a:off x="5086305" y="2400091"/>
            <a:ext cx="3943362" cy="6972516"/>
          </a:xfrm>
          <a:prstGeom prst="roundRect">
            <a:avLst>
              <a:gd name="adj" fmla="val 38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13" name="Shape 8"/>
          <p:cNvSpPr/>
          <p:nvPr/>
        </p:nvSpPr>
        <p:spPr>
          <a:xfrm>
            <a:off x="5091522" y="7253259"/>
            <a:ext cx="3932928" cy="9525"/>
          </a:xfrm>
          <a:prstGeom prst="rect">
            <a:avLst/>
          </a:prstGeom>
          <a:solidFill>
            <a:srgbClr val="E2E8F0"/>
          </a:solidFill>
          <a:ln/>
        </p:spPr>
      </p:sp>
      <p:pic>
        <p:nvPicPr>
          <p:cNvPr id="14" name="Image 3" descr="preencoded.png">    </p:cNvPr>
          <p:cNvPicPr>
            <a:picLocks noChangeAspect="1"/>
          </p:cNvPicPr>
          <p:nvPr/>
        </p:nvPicPr>
        <p:blipFill>
          <a:blip r:embed="rId4"/>
          <a:srcRect l="0" r="49351" t="0" b="0"/>
          <a:stretch/>
        </p:blipFill>
        <p:spPr>
          <a:xfrm>
            <a:off x="5091522" y="2405308"/>
            <a:ext cx="3932928" cy="4853168"/>
          </a:xfrm>
          <a:prstGeom prst="rect">
            <a:avLst/>
          </a:prstGeom>
        </p:spPr>
      </p:pic>
      <p:sp>
        <p:nvSpPr>
          <p:cNvPr id="15" name="Text 9"/>
          <p:cNvSpPr/>
          <p:nvPr/>
        </p:nvSpPr>
        <p:spPr>
          <a:xfrm>
            <a:off x="5358162" y="7487048"/>
            <a:ext cx="3739611" cy="413728"/>
          </a:xfrm>
          <a:prstGeom prst="rect">
            <a:avLst/>
          </a:prstGeom>
          <a:noFill/>
          <a:ln/>
        </p:spPr>
        <p:txBody>
          <a:bodyPr wrap="square" lIns="25400" tIns="25400" rIns="25400" bIns="25400" rtlCol="0" anchor="t">
            <a:normAutofit/>
          </a:bodyPr>
          <a:lstStyle/>
          <a:p>
            <a:pPr algn="l" indent="0" marL="0">
              <a:buNone/>
            </a:pPr>
            <a:r>
              <a:rPr lang="en-US" sz="1950" b="1" dirty="0">
                <a:solidFill>
                  <a:srgbClr val="ED3163"/>
                </a:solidFill>
                <a:latin typeface="Arial" pitchFamily="34" charset="0"/>
                <a:ea typeface="Arial" pitchFamily="34" charset="-122"/>
                <a:cs typeface="Arial" pitchFamily="34" charset="-120"/>
              </a:rPr>
              <a:t>Zero admin</a:t>
            </a:r>
            <a:endParaRPr lang="en-US" sz="1950" dirty="0"/>
          </a:p>
        </p:txBody>
      </p:sp>
      <p:sp>
        <p:nvSpPr>
          <p:cNvPr id="16" name="Text 10"/>
          <p:cNvSpPr/>
          <p:nvPr/>
        </p:nvSpPr>
        <p:spPr>
          <a:xfrm>
            <a:off x="5358162" y="7957888"/>
            <a:ext cx="3501636" cy="1180962"/>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475569"/>
                </a:solidFill>
                <a:latin typeface="Arial" pitchFamily="34" charset="0"/>
                <a:ea typeface="Arial" pitchFamily="34" charset="-122"/>
                <a:cs typeface="Arial" pitchFamily="34" charset="-120"/>
              </a:rPr>
              <a:t>Bookings, payments, reminders, invoices and VAT run themselves. Staff coach instead of doing paperwork.</a:t>
            </a:r>
            <a:endParaRPr lang="en-US" sz="1500" dirty="0"/>
          </a:p>
        </p:txBody>
      </p:sp>
      <p:sp>
        <p:nvSpPr>
          <p:cNvPr id="17" name="Shape 11"/>
          <p:cNvSpPr/>
          <p:nvPr/>
        </p:nvSpPr>
        <p:spPr>
          <a:xfrm>
            <a:off x="9258240" y="2400091"/>
            <a:ext cx="3943362" cy="6972516"/>
          </a:xfrm>
          <a:prstGeom prst="roundRect">
            <a:avLst>
              <a:gd name="adj" fmla="val 38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18" name="Shape 12"/>
          <p:cNvSpPr/>
          <p:nvPr/>
        </p:nvSpPr>
        <p:spPr>
          <a:xfrm>
            <a:off x="9263456" y="7253259"/>
            <a:ext cx="3932928" cy="9525"/>
          </a:xfrm>
          <a:prstGeom prst="rect">
            <a:avLst/>
          </a:prstGeom>
          <a:solidFill>
            <a:srgbClr val="E2E8F0"/>
          </a:solidFill>
          <a:ln/>
        </p:spPr>
      </p:sp>
      <p:pic>
        <p:nvPicPr>
          <p:cNvPr id="19" name="Image 4" descr="preencoded.png">    </p:cNvPr>
          <p:cNvPicPr>
            <a:picLocks noChangeAspect="1"/>
          </p:cNvPicPr>
          <p:nvPr/>
        </p:nvPicPr>
        <p:blipFill>
          <a:blip r:embed="rId5"/>
          <a:srcRect l="0" r="49351" t="0" b="0"/>
          <a:stretch/>
        </p:blipFill>
        <p:spPr>
          <a:xfrm>
            <a:off x="9263456" y="2405308"/>
            <a:ext cx="3932928" cy="4853168"/>
          </a:xfrm>
          <a:prstGeom prst="rect">
            <a:avLst/>
          </a:prstGeom>
        </p:spPr>
      </p:pic>
      <p:sp>
        <p:nvSpPr>
          <p:cNvPr id="20" name="Text 13"/>
          <p:cNvSpPr/>
          <p:nvPr/>
        </p:nvSpPr>
        <p:spPr>
          <a:xfrm>
            <a:off x="9530097" y="7487048"/>
            <a:ext cx="3739611" cy="413728"/>
          </a:xfrm>
          <a:prstGeom prst="rect">
            <a:avLst/>
          </a:prstGeom>
          <a:noFill/>
          <a:ln/>
        </p:spPr>
        <p:txBody>
          <a:bodyPr wrap="square" lIns="25400" tIns="25400" rIns="25400" bIns="25400" rtlCol="0" anchor="t">
            <a:normAutofit/>
          </a:bodyPr>
          <a:lstStyle/>
          <a:p>
            <a:pPr algn="l" indent="0" marL="0">
              <a:buNone/>
            </a:pPr>
            <a:r>
              <a:rPr lang="en-US" sz="1950" b="1" dirty="0">
                <a:solidFill>
                  <a:srgbClr val="ED3163"/>
                </a:solidFill>
                <a:latin typeface="Arial" pitchFamily="34" charset="0"/>
                <a:ea typeface="Arial" pitchFamily="34" charset="-122"/>
                <a:cs typeface="Arial" pitchFamily="34" charset="-120"/>
              </a:rPr>
              <a:t>Their own brand</a:t>
            </a:r>
            <a:endParaRPr lang="en-US" sz="1950" dirty="0"/>
          </a:p>
        </p:txBody>
      </p:sp>
      <p:sp>
        <p:nvSpPr>
          <p:cNvPr id="21" name="Text 14"/>
          <p:cNvSpPr/>
          <p:nvPr/>
        </p:nvSpPr>
        <p:spPr>
          <a:xfrm>
            <a:off x="9530097" y="7957888"/>
            <a:ext cx="3501636" cy="1180962"/>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475569"/>
                </a:solidFill>
                <a:latin typeface="Arial" pitchFamily="34" charset="0"/>
                <a:ea typeface="Arial" pitchFamily="34" charset="-122"/>
                <a:cs typeface="Arial" pitchFamily="34" charset="-120"/>
              </a:rPr>
              <a:t>The venue's own storefront and booking pages. The venue owns its customer relationships — the platform stays in the background.</a:t>
            </a:r>
            <a:endParaRPr lang="en-US" sz="1500" dirty="0"/>
          </a:p>
        </p:txBody>
      </p:sp>
      <p:sp>
        <p:nvSpPr>
          <p:cNvPr id="22" name="Shape 15"/>
          <p:cNvSpPr/>
          <p:nvPr/>
        </p:nvSpPr>
        <p:spPr>
          <a:xfrm>
            <a:off x="13430173" y="2400091"/>
            <a:ext cx="3943443" cy="6972516"/>
          </a:xfrm>
          <a:prstGeom prst="roundRect">
            <a:avLst>
              <a:gd name="adj" fmla="val 3865"/>
            </a:avLst>
          </a:prstGeom>
          <a:solidFill>
            <a:srgbClr val="FFFFFF"/>
          </a:solidFill>
          <a:ln w="5217">
            <a:solidFill>
              <a:srgbClr val="E2E8F0"/>
            </a:solidFill>
            <a:prstDash val="solid"/>
          </a:ln>
          <a:effectLst>
            <a:outerShdw sx="100000" sy="100000" kx="0" ky="0" algn="bl" rotWithShape="0" blurRad="114300" dist="19050" dir="5400000">
              <a:srgbClr val="0B132B">
                <a:alpha val="4000"/>
              </a:srgbClr>
            </a:outerShdw>
          </a:effectLst>
        </p:spPr>
      </p:sp>
      <p:sp>
        <p:nvSpPr>
          <p:cNvPr id="23" name="Shape 16"/>
          <p:cNvSpPr/>
          <p:nvPr/>
        </p:nvSpPr>
        <p:spPr>
          <a:xfrm>
            <a:off x="13435390" y="7538974"/>
            <a:ext cx="3933009" cy="9525"/>
          </a:xfrm>
          <a:prstGeom prst="rect">
            <a:avLst/>
          </a:prstGeom>
          <a:solidFill>
            <a:srgbClr val="E2E8F0"/>
          </a:solidFill>
          <a:ln/>
        </p:spPr>
      </p:sp>
      <p:pic>
        <p:nvPicPr>
          <p:cNvPr id="24" name="Image 5" descr="preencoded.png">    </p:cNvPr>
          <p:cNvPicPr>
            <a:picLocks noChangeAspect="1"/>
          </p:cNvPicPr>
          <p:nvPr/>
        </p:nvPicPr>
        <p:blipFill>
          <a:blip r:embed="rId6"/>
          <a:srcRect l="0" r="52166" t="0" b="0"/>
          <a:stretch/>
        </p:blipFill>
        <p:spPr>
          <a:xfrm>
            <a:off x="13435390" y="2405308"/>
            <a:ext cx="3933009" cy="5138883"/>
          </a:xfrm>
          <a:prstGeom prst="rect">
            <a:avLst/>
          </a:prstGeom>
        </p:spPr>
      </p:pic>
      <p:sp>
        <p:nvSpPr>
          <p:cNvPr id="25" name="Text 17"/>
          <p:cNvSpPr/>
          <p:nvPr/>
        </p:nvSpPr>
        <p:spPr>
          <a:xfrm>
            <a:off x="13702031" y="7772763"/>
            <a:ext cx="3739701" cy="413728"/>
          </a:xfrm>
          <a:prstGeom prst="rect">
            <a:avLst/>
          </a:prstGeom>
          <a:noFill/>
          <a:ln/>
        </p:spPr>
        <p:txBody>
          <a:bodyPr wrap="square" lIns="25400" tIns="25400" rIns="25400" bIns="25400" rtlCol="0" anchor="t">
            <a:normAutofit/>
          </a:bodyPr>
          <a:lstStyle/>
          <a:p>
            <a:pPr algn="l" indent="0" marL="0">
              <a:buNone/>
            </a:pPr>
            <a:r>
              <a:rPr lang="en-US" sz="1950" b="1" dirty="0">
                <a:solidFill>
                  <a:srgbClr val="ED3163"/>
                </a:solidFill>
                <a:latin typeface="Arial" pitchFamily="34" charset="0"/>
                <a:ea typeface="Arial" pitchFamily="34" charset="-122"/>
                <a:cs typeface="Arial" pitchFamily="34" charset="-120"/>
              </a:rPr>
              <a:t>The numbers to grow</a:t>
            </a:r>
            <a:endParaRPr lang="en-US" sz="1950" dirty="0"/>
          </a:p>
        </p:txBody>
      </p:sp>
      <p:sp>
        <p:nvSpPr>
          <p:cNvPr id="26" name="Text 18"/>
          <p:cNvSpPr/>
          <p:nvPr/>
        </p:nvSpPr>
        <p:spPr>
          <a:xfrm>
            <a:off x="13702031" y="8243603"/>
            <a:ext cx="3501720" cy="895246"/>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475569"/>
                </a:solidFill>
                <a:latin typeface="Arial" pitchFamily="34" charset="0"/>
                <a:ea typeface="Arial" pitchFamily="34" charset="-122"/>
                <a:cs typeface="Arial" pitchFamily="34" charset="-120"/>
              </a:rPr>
              <a:t>Which classes fill, who comes back, what earns. Decisions made on data instead of guesswork.</a:t>
            </a:r>
            <a:endParaRPr lang="en-US" sz="1500" dirty="0"/>
          </a:p>
        </p:txBody>
      </p:sp>
      <p:sp>
        <p:nvSpPr>
          <p:cNvPr id="27" name="Shape 19"/>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32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
          </a:blip>
          <a:stretch>
            <a:fillRect/>
          </a:stretch>
        </p:blipFill>
        <p:spPr>
          <a:xfrm>
            <a:off x="6857985" y="-571431"/>
            <a:ext cx="14287483" cy="8397017"/>
          </a:xfrm>
          <a:prstGeom prst="rect">
            <a:avLst/>
          </a:prstGeom>
        </p:spPr>
      </p:pic>
      <p:pic>
        <p:nvPicPr>
          <p:cNvPr id="3" name="Image 1" descr="preencoded.png">    </p:cNvPr>
          <p:cNvPicPr>
            <a:picLocks noChangeAspect="1"/>
          </p:cNvPicPr>
          <p:nvPr/>
        </p:nvPicPr>
        <p:blipFill>
          <a:blip r:embed="rId2"/>
          <a:stretch>
            <a:fillRect/>
          </a:stretch>
        </p:blipFill>
        <p:spPr>
          <a:xfrm>
            <a:off x="914371" y="533363"/>
            <a:ext cx="322561" cy="380927"/>
          </a:xfrm>
          <a:prstGeom prst="rect">
            <a:avLst/>
          </a:prstGeom>
        </p:spPr>
      </p:pic>
      <p:sp>
        <p:nvSpPr>
          <p:cNvPr id="4" name="Text 0"/>
          <p:cNvSpPr/>
          <p:nvPr/>
        </p:nvSpPr>
        <p:spPr>
          <a:xfrm>
            <a:off x="1332143" y="533770"/>
            <a:ext cx="1001902" cy="418130"/>
          </a:xfrm>
          <a:prstGeom prst="rect">
            <a:avLst/>
          </a:prstGeom>
          <a:noFill/>
          <a:ln/>
        </p:spPr>
        <p:txBody>
          <a:bodyPr wrap="square" lIns="25400" tIns="25400" rIns="25400" bIns="25400" rtlCol="0" anchor="t">
            <a:normAutofit/>
          </a:bodyPr>
          <a:lstStyle/>
          <a:p>
            <a:pPr algn="l" indent="0" marL="0">
              <a:lnSpc>
                <a:spcPct val="93394"/>
              </a:lnSpc>
              <a:buNone/>
            </a:pPr>
            <a:r>
              <a:rPr lang="en-US" sz="1425" b="1" dirty="0">
                <a:solidFill>
                  <a:srgbClr val="F6F8FA"/>
                </a:solidFill>
                <a:latin typeface="Arial" pitchFamily="34" charset="0"/>
                <a:ea typeface="Arial" pitchFamily="34" charset="-122"/>
                <a:cs typeface="Arial" pitchFamily="34" charset="-120"/>
              </a:rPr>
              <a:t>Education AI Group</a:t>
            </a:r>
            <a:endParaRPr lang="en-US" sz="1425" dirty="0"/>
          </a:p>
        </p:txBody>
      </p:sp>
      <p:sp>
        <p:nvSpPr>
          <p:cNvPr id="5" name="Text 1"/>
          <p:cNvSpPr/>
          <p:nvPr/>
        </p:nvSpPr>
        <p:spPr>
          <a:xfrm>
            <a:off x="16768194" y="609010"/>
            <a:ext cx="681623" cy="267651"/>
          </a:xfrm>
          <a:prstGeom prst="rect">
            <a:avLst/>
          </a:prstGeom>
          <a:noFill/>
          <a:ln/>
        </p:spPr>
        <p:txBody>
          <a:bodyPr wrap="none" lIns="25400" tIns="25400" rIns="25400" bIns="25400" rtlCol="0" anchor="t">
            <a:normAutofit/>
          </a:bodyPr>
          <a:lstStyle/>
          <a:p>
            <a:pPr algn="l" indent="0" marL="0">
              <a:buNone/>
            </a:pPr>
            <a:r>
              <a:rPr lang="en-US" sz="1500" dirty="0">
                <a:solidFill>
                  <a:srgbClr val="F6F8FA"/>
                </a:solidFill>
                <a:latin typeface="Arial" pitchFamily="34" charset="0"/>
                <a:ea typeface="Arial" pitchFamily="34" charset="-122"/>
                <a:cs typeface="Arial" pitchFamily="34" charset="-120"/>
              </a:rPr>
              <a:t>14 </a:t>
            </a:r>
            <a:pPr algn="l" indent="0" marL="0">
              <a:buNone/>
            </a:pPr>
            <a:r>
              <a:rPr lang="en-US" sz="1500" dirty="0">
                <a:solidFill>
                  <a:srgbClr val="00D4C8"/>
                </a:solidFill>
                <a:latin typeface="Arial" pitchFamily="34" charset="0"/>
                <a:ea typeface="Arial" pitchFamily="34" charset="-122"/>
                <a:cs typeface="Arial" pitchFamily="34" charset="-120"/>
              </a:rPr>
              <a:t>| </a:t>
            </a:r>
            <a:pPr algn="l" indent="0" marL="0">
              <a:buNone/>
            </a:pPr>
            <a:r>
              <a:rPr lang="en-US" sz="1500" dirty="0">
                <a:solidFill>
                  <a:srgbClr val="F6F8FA"/>
                </a:solidFill>
                <a:latin typeface="Arial" pitchFamily="34" charset="0"/>
                <a:ea typeface="Arial" pitchFamily="34" charset="-122"/>
                <a:cs typeface="Arial" pitchFamily="34" charset="-120"/>
              </a:rPr>
              <a:t>26</a:t>
            </a:r>
            <a:endParaRPr lang="en-US" sz="1500" dirty="0"/>
          </a:p>
        </p:txBody>
      </p:sp>
      <p:sp>
        <p:nvSpPr>
          <p:cNvPr id="6" name="Text 2"/>
          <p:cNvSpPr/>
          <p:nvPr/>
        </p:nvSpPr>
        <p:spPr>
          <a:xfrm>
            <a:off x="914371" y="1295216"/>
            <a:ext cx="539255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0D4C8"/>
                </a:solidFill>
                <a:latin typeface="Arial" pitchFamily="34" charset="0"/>
                <a:ea typeface="Arial" pitchFamily="34" charset="-122"/>
                <a:cs typeface="Arial" pitchFamily="34" charset="-120"/>
              </a:rPr>
              <a:t>ACT II · THE BUILD</a:t>
            </a:r>
            <a:endParaRPr lang="en-US" sz="1200" dirty="0"/>
          </a:p>
        </p:txBody>
      </p:sp>
      <p:sp>
        <p:nvSpPr>
          <p:cNvPr id="7" name="Text 3"/>
          <p:cNvSpPr/>
          <p:nvPr/>
        </p:nvSpPr>
        <p:spPr>
          <a:xfrm>
            <a:off x="914371" y="1581665"/>
            <a:ext cx="5392555"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F6F8FA"/>
                </a:solidFill>
                <a:latin typeface="Arial" pitchFamily="34" charset="0"/>
                <a:ea typeface="Arial" pitchFamily="34" charset="-122"/>
                <a:cs typeface="Arial" pitchFamily="34" charset="-120"/>
              </a:rPr>
              <a:t>What a player gets</a:t>
            </a:r>
            <a:endParaRPr lang="en-US" sz="4050" dirty="0"/>
          </a:p>
        </p:txBody>
      </p:sp>
      <p:pic>
        <p:nvPicPr>
          <p:cNvPr id="8" name="Image 2" descr="preencoded.png">    </p:cNvPr>
          <p:cNvPicPr>
            <a:picLocks noChangeAspect="1"/>
          </p:cNvPicPr>
          <p:nvPr/>
        </p:nvPicPr>
        <p:blipFill>
          <a:blip r:embed="rId3"/>
          <a:stretch>
            <a:fillRect/>
          </a:stretch>
        </p:blipFill>
        <p:spPr>
          <a:xfrm>
            <a:off x="14949315" y="1523788"/>
            <a:ext cx="2424301" cy="533363"/>
          </a:xfrm>
          <a:prstGeom prst="rect">
            <a:avLst/>
          </a:prstGeom>
        </p:spPr>
      </p:pic>
      <p:sp>
        <p:nvSpPr>
          <p:cNvPr id="9" name="Text 4"/>
          <p:cNvSpPr/>
          <p:nvPr/>
        </p:nvSpPr>
        <p:spPr>
          <a:xfrm>
            <a:off x="914371" y="3996918"/>
            <a:ext cx="7962893" cy="335228"/>
          </a:xfrm>
          <a:prstGeom prst="rect">
            <a:avLst/>
          </a:prstGeom>
          <a:noFill/>
          <a:ln/>
        </p:spPr>
        <p:txBody>
          <a:bodyPr wrap="square" lIns="25400" tIns="25400" rIns="25400" bIns="25400" rtlCol="0" anchor="t">
            <a:normAutofit/>
          </a:bodyPr>
          <a:lstStyle/>
          <a:p>
            <a:pPr algn="l" indent="0" marL="0">
              <a:lnSpc>
                <a:spcPct val="103569"/>
              </a:lnSpc>
              <a:buNone/>
            </a:pPr>
            <a:r>
              <a:rPr lang="en-US" sz="1950" b="1" dirty="0">
                <a:solidFill>
                  <a:srgbClr val="FF5F89"/>
                </a:solidFill>
                <a:latin typeface="Arial" pitchFamily="34" charset="0"/>
                <a:ea typeface="Arial" pitchFamily="34" charset="-122"/>
                <a:cs typeface="Arial" pitchFamily="34" charset="-120"/>
              </a:rPr>
              <a:t>Everything in one place</a:t>
            </a:r>
            <a:endParaRPr lang="en-US" sz="1950" dirty="0"/>
          </a:p>
        </p:txBody>
      </p:sp>
      <p:sp>
        <p:nvSpPr>
          <p:cNvPr id="10" name="Text 5"/>
          <p:cNvSpPr/>
          <p:nvPr/>
        </p:nvSpPr>
        <p:spPr>
          <a:xfrm>
            <a:off x="914371" y="4370182"/>
            <a:ext cx="7962893" cy="323815"/>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CBD5E1"/>
                </a:solidFill>
                <a:latin typeface="Arial" pitchFamily="34" charset="0"/>
                <a:ea typeface="Arial" pitchFamily="34" charset="-122"/>
                <a:cs typeface="Arial" pitchFamily="34" charset="-120"/>
              </a:rPr>
              <a:t>Any sport, any venue, live availability — in Thai and English.</a:t>
            </a:r>
            <a:endParaRPr lang="en-US" sz="1500" dirty="0"/>
          </a:p>
        </p:txBody>
      </p:sp>
      <p:sp>
        <p:nvSpPr>
          <p:cNvPr id="11" name="Text 6"/>
          <p:cNvSpPr/>
          <p:nvPr/>
        </p:nvSpPr>
        <p:spPr>
          <a:xfrm>
            <a:off x="914371" y="4941613"/>
            <a:ext cx="7962893" cy="335228"/>
          </a:xfrm>
          <a:prstGeom prst="rect">
            <a:avLst/>
          </a:prstGeom>
          <a:noFill/>
          <a:ln/>
        </p:spPr>
        <p:txBody>
          <a:bodyPr wrap="square" lIns="25400" tIns="25400" rIns="25400" bIns="25400" rtlCol="0" anchor="t">
            <a:normAutofit/>
          </a:bodyPr>
          <a:lstStyle/>
          <a:p>
            <a:pPr algn="l" indent="0" marL="0">
              <a:lnSpc>
                <a:spcPct val="103569"/>
              </a:lnSpc>
              <a:buNone/>
            </a:pPr>
            <a:r>
              <a:rPr lang="en-US" sz="1950" b="1" dirty="0">
                <a:solidFill>
                  <a:srgbClr val="FF5F89"/>
                </a:solidFill>
                <a:latin typeface="Arial" pitchFamily="34" charset="0"/>
                <a:ea typeface="Arial" pitchFamily="34" charset="-122"/>
                <a:cs typeface="Arial" pitchFamily="34" charset="-120"/>
              </a:rPr>
              <a:t>Booked and paid in seconds</a:t>
            </a:r>
            <a:endParaRPr lang="en-US" sz="1950" dirty="0"/>
          </a:p>
        </p:txBody>
      </p:sp>
      <p:sp>
        <p:nvSpPr>
          <p:cNvPr id="12" name="Text 7"/>
          <p:cNvSpPr/>
          <p:nvPr/>
        </p:nvSpPr>
        <p:spPr>
          <a:xfrm>
            <a:off x="914371" y="5314877"/>
            <a:ext cx="7962893" cy="323815"/>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CBD5E1"/>
                </a:solidFill>
                <a:latin typeface="Arial" pitchFamily="34" charset="0"/>
                <a:ea typeface="Arial" pitchFamily="34" charset="-122"/>
                <a:cs typeface="Arial" pitchFamily="34" charset="-120"/>
              </a:rPr>
              <a:t>PromptPay, Thai QR or card. Confirmed instantly.</a:t>
            </a:r>
            <a:endParaRPr lang="en-US" sz="1500" dirty="0"/>
          </a:p>
        </p:txBody>
      </p:sp>
      <p:sp>
        <p:nvSpPr>
          <p:cNvPr id="13" name="Text 8"/>
          <p:cNvSpPr/>
          <p:nvPr/>
        </p:nvSpPr>
        <p:spPr>
          <a:xfrm>
            <a:off x="914371" y="5886308"/>
            <a:ext cx="7962893" cy="335228"/>
          </a:xfrm>
          <a:prstGeom prst="rect">
            <a:avLst/>
          </a:prstGeom>
          <a:noFill/>
          <a:ln/>
        </p:spPr>
        <p:txBody>
          <a:bodyPr wrap="square" lIns="25400" tIns="25400" rIns="25400" bIns="25400" rtlCol="0" anchor="t">
            <a:normAutofit/>
          </a:bodyPr>
          <a:lstStyle/>
          <a:p>
            <a:pPr algn="l" indent="0" marL="0">
              <a:lnSpc>
                <a:spcPct val="103569"/>
              </a:lnSpc>
              <a:buNone/>
            </a:pPr>
            <a:r>
              <a:rPr lang="en-US" sz="1950" b="1" dirty="0">
                <a:solidFill>
                  <a:srgbClr val="FF5F89"/>
                </a:solidFill>
                <a:latin typeface="Arial" pitchFamily="34" charset="0"/>
                <a:ea typeface="Arial" pitchFamily="34" charset="-122"/>
                <a:cs typeface="Arial" pitchFamily="34" charset="-120"/>
              </a:rPr>
              <a:t>Control</a:t>
            </a:r>
            <a:endParaRPr lang="en-US" sz="1950" dirty="0"/>
          </a:p>
        </p:txBody>
      </p:sp>
      <p:sp>
        <p:nvSpPr>
          <p:cNvPr id="14" name="Text 9"/>
          <p:cNvSpPr/>
          <p:nvPr/>
        </p:nvSpPr>
        <p:spPr>
          <a:xfrm>
            <a:off x="914371" y="6259573"/>
            <a:ext cx="7456163" cy="609531"/>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CBD5E1"/>
                </a:solidFill>
                <a:latin typeface="Arial" pitchFamily="34" charset="0"/>
                <a:ea typeface="Arial" pitchFamily="34" charset="-122"/>
                <a:cs typeface="Arial" pitchFamily="34" charset="-120"/>
              </a:rPr>
              <a:t>Bookings, passes and memberships in one account, in their pocket — not on a paper card behind a counter.</a:t>
            </a:r>
            <a:endParaRPr lang="en-US" sz="1500" dirty="0"/>
          </a:p>
        </p:txBody>
      </p:sp>
      <p:sp>
        <p:nvSpPr>
          <p:cNvPr id="15" name="Text 10"/>
          <p:cNvSpPr/>
          <p:nvPr/>
        </p:nvSpPr>
        <p:spPr>
          <a:xfrm>
            <a:off x="914371" y="7116719"/>
            <a:ext cx="7962893" cy="335228"/>
          </a:xfrm>
          <a:prstGeom prst="rect">
            <a:avLst/>
          </a:prstGeom>
          <a:noFill/>
          <a:ln/>
        </p:spPr>
        <p:txBody>
          <a:bodyPr wrap="square" lIns="25400" tIns="25400" rIns="25400" bIns="25400" rtlCol="0" anchor="t">
            <a:normAutofit/>
          </a:bodyPr>
          <a:lstStyle/>
          <a:p>
            <a:pPr algn="l" indent="0" marL="0">
              <a:lnSpc>
                <a:spcPct val="103569"/>
              </a:lnSpc>
              <a:buNone/>
            </a:pPr>
            <a:r>
              <a:rPr lang="en-US" sz="1950" b="1" dirty="0">
                <a:solidFill>
                  <a:srgbClr val="FF5F89"/>
                </a:solidFill>
                <a:latin typeface="Arial" pitchFamily="34" charset="0"/>
                <a:ea typeface="Arial" pitchFamily="34" charset="-122"/>
                <a:cs typeface="Arial" pitchFamily="34" charset="-120"/>
              </a:rPr>
              <a:t>Someone to play with — built under this project</a:t>
            </a:r>
            <a:endParaRPr lang="en-US" sz="1950" dirty="0"/>
          </a:p>
        </p:txBody>
      </p:sp>
      <p:sp>
        <p:nvSpPr>
          <p:cNvPr id="16" name="Text 11"/>
          <p:cNvSpPr/>
          <p:nvPr/>
        </p:nvSpPr>
        <p:spPr>
          <a:xfrm>
            <a:off x="914371" y="7489983"/>
            <a:ext cx="7962893" cy="323815"/>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CBD5E1"/>
                </a:solidFill>
                <a:latin typeface="Arial" pitchFamily="34" charset="0"/>
                <a:ea typeface="Arial" pitchFamily="34" charset="-122"/>
                <a:cs typeface="Arial" pitchFamily="34" charset="-120"/>
              </a:rPr>
              <a:t>Matched to an opponent at their level, with leagues and rankings to play for.</a:t>
            </a:r>
            <a:endParaRPr lang="en-US" sz="1500" dirty="0"/>
          </a:p>
        </p:txBody>
      </p:sp>
      <p:sp>
        <p:nvSpPr>
          <p:cNvPr id="17" name="Shape 12"/>
          <p:cNvSpPr/>
          <p:nvPr/>
        </p:nvSpPr>
        <p:spPr>
          <a:xfrm>
            <a:off x="11049076" y="2803679"/>
            <a:ext cx="3117355" cy="6165339"/>
          </a:xfrm>
          <a:prstGeom prst="roundRect">
            <a:avLst>
              <a:gd name="adj" fmla="val 11000"/>
            </a:avLst>
          </a:prstGeom>
          <a:solidFill>
            <a:srgbClr val="0F1B3D"/>
          </a:solidFill>
          <a:ln w="15651">
            <a:solidFill>
              <a:srgbClr val="FFFFFF">
                <a:alpha val="18000"/>
              </a:srgbClr>
            </a:solidFill>
            <a:prstDash val="solid"/>
          </a:ln>
          <a:effectLst>
            <a:outerShdw sx="100000" sy="100000" kx="0" ky="0" algn="bl" rotWithShape="0" blurRad="762000" dist="285750" dir="5400000">
              <a:srgbClr val="000000">
                <a:alpha val="50000"/>
              </a:srgbClr>
            </a:outerShdw>
          </a:effectLst>
        </p:spPr>
      </p:sp>
      <p:pic>
        <p:nvPicPr>
          <p:cNvPr id="18" name="Image 3" descr="preencoded.png">    </p:cNvPr>
          <p:cNvPicPr>
            <a:picLocks noChangeAspect="1"/>
          </p:cNvPicPr>
          <p:nvPr/>
        </p:nvPicPr>
        <p:blipFill>
          <a:blip r:embed="rId4"/>
          <a:srcRect l="0" r="0" t="0" b="4502"/>
          <a:stretch/>
        </p:blipFill>
        <p:spPr>
          <a:xfrm>
            <a:off x="11179013" y="2933617"/>
            <a:ext cx="2857480" cy="5905465"/>
          </a:xfrm>
          <a:prstGeom prst="rect">
            <a:avLst/>
          </a:prstGeom>
        </p:spPr>
      </p:pic>
      <p:sp>
        <p:nvSpPr>
          <p:cNvPr id="19" name="Shape 13"/>
          <p:cNvSpPr/>
          <p:nvPr/>
        </p:nvSpPr>
        <p:spPr>
          <a:xfrm>
            <a:off x="14516136" y="2803679"/>
            <a:ext cx="3117355" cy="6165339"/>
          </a:xfrm>
          <a:prstGeom prst="roundRect">
            <a:avLst>
              <a:gd name="adj" fmla="val 11000"/>
            </a:avLst>
          </a:prstGeom>
          <a:solidFill>
            <a:srgbClr val="0F1B3D"/>
          </a:solidFill>
          <a:ln w="15651">
            <a:solidFill>
              <a:srgbClr val="FFFFFF">
                <a:alpha val="18000"/>
              </a:srgbClr>
            </a:solidFill>
            <a:prstDash val="solid"/>
          </a:ln>
          <a:effectLst>
            <a:outerShdw sx="100000" sy="100000" kx="0" ky="0" algn="bl" rotWithShape="0" blurRad="762000" dist="285750" dir="5400000">
              <a:srgbClr val="000000">
                <a:alpha val="50000"/>
              </a:srgbClr>
            </a:outerShdw>
          </a:effectLst>
        </p:spPr>
      </p:sp>
      <p:pic>
        <p:nvPicPr>
          <p:cNvPr id="20" name="Image 4" descr="preencoded.png">    </p:cNvPr>
          <p:cNvPicPr>
            <a:picLocks noChangeAspect="1"/>
          </p:cNvPicPr>
          <p:nvPr/>
        </p:nvPicPr>
        <p:blipFill>
          <a:blip r:embed="rId5"/>
          <a:srcRect l="3917" r="3917" t="0" b="0"/>
          <a:stretch/>
        </p:blipFill>
        <p:spPr>
          <a:xfrm>
            <a:off x="14646073" y="2933617"/>
            <a:ext cx="2857480" cy="5905465"/>
          </a:xfrm>
          <a:prstGeom prst="rect">
            <a:avLst/>
          </a:prstGeom>
        </p:spPr>
      </p:pic>
      <p:sp>
        <p:nvSpPr>
          <p:cNvPr id="21" name="Shape 1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8301" y="609010"/>
            <a:ext cx="671515"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15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295216"/>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581665"/>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To be developed — approximately 85%</a:t>
            </a:r>
            <a:endParaRPr lang="en-US" sz="4050" dirty="0"/>
          </a:p>
        </p:txBody>
      </p:sp>
      <p:sp>
        <p:nvSpPr>
          <p:cNvPr id="6" name="Text 3"/>
          <p:cNvSpPr/>
          <p:nvPr/>
        </p:nvSpPr>
        <p:spPr>
          <a:xfrm>
            <a:off x="914371" y="2400091"/>
            <a:ext cx="609563" cy="1271282"/>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1</a:t>
            </a:r>
            <a:endParaRPr lang="en-US" sz="2700" dirty="0"/>
          </a:p>
        </p:txBody>
      </p:sp>
      <p:sp>
        <p:nvSpPr>
          <p:cNvPr id="7" name="Text 4"/>
          <p:cNvSpPr/>
          <p:nvPr/>
        </p:nvSpPr>
        <p:spPr>
          <a:xfrm>
            <a:off x="1600088" y="2400091"/>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Player feed and consumer experience</a:t>
            </a:r>
            <a:endParaRPr lang="en-US" sz="1950" dirty="0"/>
          </a:p>
        </p:txBody>
      </p:sp>
      <p:sp>
        <p:nvSpPr>
          <p:cNvPr id="8" name="Text 5"/>
          <p:cNvSpPr/>
          <p:nvPr/>
        </p:nvSpPr>
        <p:spPr>
          <a:xfrm>
            <a:off x="1600088" y="2763166"/>
            <a:ext cx="7417037" cy="618172"/>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A personalised activity feed through which players discover venues, sessions and events near them, with social profiles and activity history.</a:t>
            </a:r>
            <a:endParaRPr lang="en-US" sz="1575" dirty="0"/>
          </a:p>
        </p:txBody>
      </p:sp>
      <p:sp>
        <p:nvSpPr>
          <p:cNvPr id="9" name="Text 6"/>
          <p:cNvSpPr/>
          <p:nvPr/>
        </p:nvSpPr>
        <p:spPr>
          <a:xfrm>
            <a:off x="9486893" y="2400091"/>
            <a:ext cx="609563" cy="1271282"/>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5</a:t>
            </a:r>
            <a:endParaRPr lang="en-US" sz="2700" dirty="0"/>
          </a:p>
        </p:txBody>
      </p:sp>
      <p:sp>
        <p:nvSpPr>
          <p:cNvPr id="10" name="Text 7"/>
          <p:cNvSpPr/>
          <p:nvPr/>
        </p:nvSpPr>
        <p:spPr>
          <a:xfrm>
            <a:off x="10172610" y="2400091"/>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Venue hardware integration</a:t>
            </a:r>
            <a:endParaRPr lang="en-US" sz="1950" dirty="0"/>
          </a:p>
        </p:txBody>
      </p:sp>
      <p:sp>
        <p:nvSpPr>
          <p:cNvPr id="11" name="Text 8"/>
          <p:cNvSpPr/>
          <p:nvPr/>
        </p:nvSpPr>
        <p:spPr>
          <a:xfrm>
            <a:off x="10172610" y="2763166"/>
            <a:ext cx="7417037" cy="908207"/>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Device firmware, the hardware integration layer and the platform services that operate venue access gates, point-of-sale terminals, self-service kiosks and QR-based entry and validation.</a:t>
            </a:r>
            <a:endParaRPr lang="en-US" sz="1575" dirty="0"/>
          </a:p>
        </p:txBody>
      </p:sp>
      <p:sp>
        <p:nvSpPr>
          <p:cNvPr id="12" name="Text 9"/>
          <p:cNvSpPr/>
          <p:nvPr/>
        </p:nvSpPr>
        <p:spPr>
          <a:xfrm>
            <a:off x="914371" y="3880920"/>
            <a:ext cx="609563" cy="981246"/>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2</a:t>
            </a:r>
            <a:endParaRPr lang="en-US" sz="2700" dirty="0"/>
          </a:p>
        </p:txBody>
      </p:sp>
      <p:sp>
        <p:nvSpPr>
          <p:cNvPr id="13" name="Text 10"/>
          <p:cNvSpPr/>
          <p:nvPr/>
        </p:nvSpPr>
        <p:spPr>
          <a:xfrm>
            <a:off x="1600088" y="3880920"/>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Opponent matching</a:t>
            </a:r>
            <a:endParaRPr lang="en-US" sz="1950" dirty="0"/>
          </a:p>
        </p:txBody>
      </p:sp>
      <p:sp>
        <p:nvSpPr>
          <p:cNvPr id="14" name="Text 11"/>
          <p:cNvSpPr/>
          <p:nvPr/>
        </p:nvSpPr>
        <p:spPr>
          <a:xfrm>
            <a:off x="1600088" y="4243995"/>
            <a:ext cx="7417037" cy="618172"/>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Matching players to opponents and partners by sport, skill level, location and availability, so that a player without a group can still book and play.</a:t>
            </a:r>
            <a:endParaRPr lang="en-US" sz="1575" dirty="0"/>
          </a:p>
        </p:txBody>
      </p:sp>
      <p:sp>
        <p:nvSpPr>
          <p:cNvPr id="15" name="Text 12"/>
          <p:cNvSpPr/>
          <p:nvPr/>
        </p:nvSpPr>
        <p:spPr>
          <a:xfrm>
            <a:off x="9486893" y="3880920"/>
            <a:ext cx="609563" cy="981246"/>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6</a:t>
            </a:r>
            <a:endParaRPr lang="en-US" sz="2700" dirty="0"/>
          </a:p>
        </p:txBody>
      </p:sp>
      <p:sp>
        <p:nvSpPr>
          <p:cNvPr id="16" name="Text 13"/>
          <p:cNvSpPr/>
          <p:nvPr/>
        </p:nvSpPr>
        <p:spPr>
          <a:xfrm>
            <a:off x="10172610" y="3880920"/>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Native mobile applications</a:t>
            </a:r>
            <a:endParaRPr lang="en-US" sz="1950" dirty="0"/>
          </a:p>
        </p:txBody>
      </p:sp>
      <p:sp>
        <p:nvSpPr>
          <p:cNvPr id="17" name="Text 14"/>
          <p:cNvSpPr/>
          <p:nvPr/>
        </p:nvSpPr>
        <p:spPr>
          <a:xfrm>
            <a:off x="10172610" y="4243995"/>
            <a:ext cx="7417037" cy="618172"/>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Separate native applications for players and for venue operators, on iOS and Android.</a:t>
            </a:r>
            <a:endParaRPr lang="en-US" sz="1575" dirty="0"/>
          </a:p>
        </p:txBody>
      </p:sp>
      <p:sp>
        <p:nvSpPr>
          <p:cNvPr id="18" name="Text 15"/>
          <p:cNvSpPr/>
          <p:nvPr/>
        </p:nvSpPr>
        <p:spPr>
          <a:xfrm>
            <a:off x="914371" y="5071714"/>
            <a:ext cx="609563" cy="1271282"/>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3</a:t>
            </a:r>
            <a:endParaRPr lang="en-US" sz="2700" dirty="0"/>
          </a:p>
        </p:txBody>
      </p:sp>
      <p:sp>
        <p:nvSpPr>
          <p:cNvPr id="19" name="Text 16"/>
          <p:cNvSpPr/>
          <p:nvPr/>
        </p:nvSpPr>
        <p:spPr>
          <a:xfrm>
            <a:off x="1600088" y="5071714"/>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Leagues, tournaments and rankings</a:t>
            </a:r>
            <a:endParaRPr lang="en-US" sz="1950" dirty="0"/>
          </a:p>
        </p:txBody>
      </p:sp>
      <p:sp>
        <p:nvSpPr>
          <p:cNvPr id="20" name="Text 17"/>
          <p:cNvSpPr/>
          <p:nvPr/>
        </p:nvSpPr>
        <p:spPr>
          <a:xfrm>
            <a:off x="1600088" y="5434788"/>
            <a:ext cx="7417037" cy="618172"/>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Creation and running of leagues and tournaments across venues, with fixtures, results, standings and a national ranking system by sport.</a:t>
            </a:r>
            <a:endParaRPr lang="en-US" sz="1575" dirty="0"/>
          </a:p>
        </p:txBody>
      </p:sp>
      <p:sp>
        <p:nvSpPr>
          <p:cNvPr id="21" name="Text 18"/>
          <p:cNvSpPr/>
          <p:nvPr/>
        </p:nvSpPr>
        <p:spPr>
          <a:xfrm>
            <a:off x="9486893" y="5071714"/>
            <a:ext cx="609563" cy="1271282"/>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7</a:t>
            </a:r>
            <a:endParaRPr lang="en-US" sz="2700" dirty="0"/>
          </a:p>
        </p:txBody>
      </p:sp>
      <p:sp>
        <p:nvSpPr>
          <p:cNvPr id="22" name="Text 19"/>
          <p:cNvSpPr/>
          <p:nvPr/>
        </p:nvSpPr>
        <p:spPr>
          <a:xfrm>
            <a:off x="10172610" y="5071714"/>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AI-assisted venue onboarding</a:t>
            </a:r>
            <a:endParaRPr lang="en-US" sz="1950" dirty="0"/>
          </a:p>
        </p:txBody>
      </p:sp>
      <p:sp>
        <p:nvSpPr>
          <p:cNvPr id="23" name="Text 20"/>
          <p:cNvSpPr/>
          <p:nvPr/>
        </p:nvSpPr>
        <p:spPr>
          <a:xfrm>
            <a:off x="10172610" y="5434788"/>
            <a:ext cx="7417037" cy="908207"/>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Automated extraction and structuring of a venue's services, schedule and pricing so that a venue can be brought onto the platform in hours rather than weeks.</a:t>
            </a:r>
            <a:endParaRPr lang="en-US" sz="1575" dirty="0"/>
          </a:p>
        </p:txBody>
      </p:sp>
      <p:sp>
        <p:nvSpPr>
          <p:cNvPr id="24" name="Text 21"/>
          <p:cNvSpPr/>
          <p:nvPr/>
        </p:nvSpPr>
        <p:spPr>
          <a:xfrm>
            <a:off x="914371" y="6552543"/>
            <a:ext cx="609563" cy="1271282"/>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4</a:t>
            </a:r>
            <a:endParaRPr lang="en-US" sz="2700" dirty="0"/>
          </a:p>
        </p:txBody>
      </p:sp>
      <p:sp>
        <p:nvSpPr>
          <p:cNvPr id="25" name="Text 22"/>
          <p:cNvSpPr/>
          <p:nvPr/>
        </p:nvSpPr>
        <p:spPr>
          <a:xfrm>
            <a:off x="1600088" y="6552543"/>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Automated tax reporting to the Revenue Department</a:t>
            </a:r>
            <a:endParaRPr lang="en-US" sz="1950" dirty="0"/>
          </a:p>
        </p:txBody>
      </p:sp>
      <p:sp>
        <p:nvSpPr>
          <p:cNvPr id="26" name="Text 23"/>
          <p:cNvSpPr/>
          <p:nvPr/>
        </p:nvSpPr>
        <p:spPr>
          <a:xfrm>
            <a:off x="1600088" y="6915617"/>
            <a:ext cx="7417037" cy="908207"/>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Automated preparation and submission of venue tax reporting directly from transaction records, bringing venues into the digital tax system without manual filing.</a:t>
            </a:r>
            <a:endParaRPr lang="en-US" sz="1575" dirty="0"/>
          </a:p>
        </p:txBody>
      </p:sp>
      <p:sp>
        <p:nvSpPr>
          <p:cNvPr id="27" name="Text 24"/>
          <p:cNvSpPr/>
          <p:nvPr/>
        </p:nvSpPr>
        <p:spPr>
          <a:xfrm>
            <a:off x="9486893" y="6552543"/>
            <a:ext cx="609563" cy="1271282"/>
          </a:xfrm>
          <a:prstGeom prst="rect">
            <a:avLst/>
          </a:prstGeom>
          <a:noFill/>
          <a:ln/>
        </p:spPr>
        <p:txBody>
          <a:bodyPr wrap="square" lIns="25400" tIns="25400" rIns="25400" bIns="25400" rtlCol="0" anchor="t">
            <a:normAutofit/>
          </a:bodyPr>
          <a:lstStyle/>
          <a:p>
            <a:pPr algn="l" indent="0" marL="0">
              <a:lnSpc>
                <a:spcPct val="87636"/>
              </a:lnSpc>
              <a:buNone/>
            </a:pPr>
            <a:r>
              <a:rPr lang="en-US" sz="2700" b="1" dirty="0">
                <a:solidFill>
                  <a:srgbClr val="ED3163"/>
                </a:solidFill>
                <a:latin typeface="Arial" pitchFamily="34" charset="0"/>
                <a:ea typeface="Arial" pitchFamily="34" charset="-122"/>
                <a:cs typeface="Arial" pitchFamily="34" charset="-120"/>
              </a:rPr>
              <a:t>8</a:t>
            </a:r>
            <a:endParaRPr lang="en-US" sz="2700" dirty="0"/>
          </a:p>
        </p:txBody>
      </p:sp>
      <p:sp>
        <p:nvSpPr>
          <p:cNvPr id="28" name="Text 25"/>
          <p:cNvSpPr/>
          <p:nvPr/>
        </p:nvSpPr>
        <p:spPr>
          <a:xfrm>
            <a:off x="10172610" y="6552543"/>
            <a:ext cx="7921108" cy="32503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Multi-tenant backend for national scale</a:t>
            </a:r>
            <a:endParaRPr lang="en-US" sz="1950" dirty="0"/>
          </a:p>
        </p:txBody>
      </p:sp>
      <p:sp>
        <p:nvSpPr>
          <p:cNvPr id="29" name="Text 26"/>
          <p:cNvSpPr/>
          <p:nvPr/>
        </p:nvSpPr>
        <p:spPr>
          <a:xfrm>
            <a:off x="10172610" y="6915617"/>
            <a:ext cx="7417037" cy="908207"/>
          </a:xfrm>
          <a:prstGeom prst="rect">
            <a:avLst/>
          </a:prstGeom>
          <a:noFill/>
          <a:ln/>
        </p:spPr>
        <p:txBody>
          <a:bodyPr wrap="square" lIns="25400" tIns="25400" rIns="25400" bIns="25400" rtlCol="0" anchor="t">
            <a:normAutofit/>
          </a:bodyPr>
          <a:lstStyle/>
          <a:p>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The platform architecture required to operate across thousands of venues nationally, with tenant isolation, regional data handling and operational monitoring.</a:t>
            </a:r>
            <a:endParaRPr lang="en-US" sz="1575" dirty="0"/>
          </a:p>
        </p:txBody>
      </p:sp>
      <p:sp>
        <p:nvSpPr>
          <p:cNvPr id="30" name="Shape 27"/>
          <p:cNvSpPr/>
          <p:nvPr/>
        </p:nvSpPr>
        <p:spPr>
          <a:xfrm>
            <a:off x="914371" y="8845603"/>
            <a:ext cx="16459247" cy="9525"/>
          </a:xfrm>
          <a:prstGeom prst="rect">
            <a:avLst/>
          </a:prstGeom>
          <a:solidFill>
            <a:srgbClr val="E2E8F0"/>
          </a:solidFill>
          <a:ln/>
        </p:spPr>
      </p:sp>
      <p:sp>
        <p:nvSpPr>
          <p:cNvPr id="31" name="Text 28"/>
          <p:cNvSpPr/>
          <p:nvPr/>
        </p:nvSpPr>
        <p:spPr>
          <a:xfrm>
            <a:off x="914371" y="9041242"/>
            <a:ext cx="18105171" cy="369465"/>
          </a:xfrm>
          <a:prstGeom prst="rect">
            <a:avLst/>
          </a:prstGeom>
          <a:noFill/>
          <a:ln/>
        </p:spPr>
        <p:txBody>
          <a:bodyPr wrap="square" lIns="25400" tIns="25400" rIns="25400" bIns="25400" rtlCol="0" anchor="t">
            <a:normAutofit/>
          </a:bodyPr>
          <a:lstStyle/>
          <a:p>
            <a:pPr algn="l" indent="0" marL="0">
              <a:lnSpc>
                <a:spcPct val="127072"/>
              </a:lnSpc>
              <a:buNone/>
            </a:pPr>
            <a:r>
              <a:rPr lang="en-US" sz="1800" dirty="0">
                <a:solidFill>
                  <a:srgbClr val="0B132B"/>
                </a:solidFill>
                <a:latin typeface="Arial" pitchFamily="34" charset="0"/>
                <a:ea typeface="Arial" pitchFamily="34" charset="-122"/>
                <a:cs typeface="Arial" pitchFamily="34" charset="-120"/>
              </a:rPr>
              <a:t>None of these functions exists in the system today. All will be built in Thailand, by the company's Thai engineering team, over twelve months.</a:t>
            </a:r>
            <a:endParaRPr lang="en-US" sz="1800" dirty="0"/>
          </a:p>
        </p:txBody>
      </p:sp>
      <p:sp>
        <p:nvSpPr>
          <p:cNvPr id="32" name="Shape 29"/>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3166" y="609010"/>
            <a:ext cx="676651"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16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15 / 85 split</a:t>
            </a:r>
            <a:endParaRPr lang="en-US" sz="4050" dirty="0"/>
          </a:p>
        </p:txBody>
      </p:sp>
      <p:sp>
        <p:nvSpPr>
          <p:cNvPr id="6" name="Text 3"/>
          <p:cNvSpPr/>
          <p:nvPr/>
        </p:nvSpPr>
        <p:spPr>
          <a:xfrm>
            <a:off x="914371" y="3295469"/>
            <a:ext cx="2690583" cy="1066757"/>
          </a:xfrm>
          <a:prstGeom prst="rect">
            <a:avLst/>
          </a:prstGeom>
          <a:noFill/>
          <a:ln/>
        </p:spPr>
        <p:txBody>
          <a:bodyPr wrap="square" lIns="25400" tIns="25400" rIns="25400" bIns="25400" rtlCol="0" anchor="t">
            <a:normAutofit/>
          </a:bodyPr>
          <a:lstStyle/>
          <a:p>
            <a:pPr algn="l" indent="0" marL="0">
              <a:lnSpc>
                <a:spcPct val="78558"/>
              </a:lnSpc>
              <a:buNone/>
            </a:pPr>
            <a:r>
              <a:rPr lang="en-US" sz="9000" b="1" spc="-300" kern="0" dirty="0">
                <a:solidFill>
                  <a:srgbClr val="0B132B"/>
                </a:solidFill>
                <a:latin typeface="Arial" pitchFamily="34" charset="0"/>
                <a:ea typeface="Arial" pitchFamily="34" charset="-122"/>
                <a:cs typeface="Arial" pitchFamily="34" charset="-120"/>
              </a:rPr>
              <a:t>15</a:t>
            </a:r>
            <a:pPr algn="l" indent="0" marL="0">
              <a:lnSpc>
                <a:spcPct val="78558"/>
              </a:lnSpc>
              <a:buNone/>
            </a:pPr>
            <a:r>
              <a:rPr lang="en-US" sz="4500" b="1" spc="-300" kern="0" dirty="0">
                <a:solidFill>
                  <a:srgbClr val="94A3B8"/>
                </a:solidFill>
                <a:latin typeface="Arial" pitchFamily="34" charset="0"/>
                <a:ea typeface="Arial" pitchFamily="34" charset="-122"/>
                <a:cs typeface="Arial" pitchFamily="34" charset="-120"/>
              </a:rPr>
              <a:t>%</a:t>
            </a:r>
            <a:endParaRPr lang="en-US" sz="9000" dirty="0"/>
          </a:p>
        </p:txBody>
      </p:sp>
      <p:sp>
        <p:nvSpPr>
          <p:cNvPr id="7" name="Text 4"/>
          <p:cNvSpPr/>
          <p:nvPr/>
        </p:nvSpPr>
        <p:spPr>
          <a:xfrm>
            <a:off x="3512710" y="2609670"/>
            <a:ext cx="15246907" cy="1752556"/>
          </a:xfrm>
          <a:prstGeom prst="rect">
            <a:avLst/>
          </a:prstGeom>
          <a:noFill/>
          <a:ln/>
        </p:spPr>
        <p:txBody>
          <a:bodyPr wrap="square" lIns="25400" tIns="25400" rIns="25400" bIns="25400" rtlCol="0" anchor="t">
            <a:normAutofit/>
          </a:bodyPr>
          <a:lstStyle/>
          <a:p>
            <a:pPr algn="l" indent="0" marL="0">
              <a:lnSpc>
                <a:spcPct val="78246"/>
              </a:lnSpc>
              <a:buNone/>
            </a:pPr>
            <a:r>
              <a:rPr lang="en-US" sz="15000" b="1" spc="-525" kern="0" dirty="0">
                <a:solidFill>
                  <a:srgbClr val="0B132B"/>
                </a:solidFill>
                <a:latin typeface="Arial" pitchFamily="34" charset="0"/>
                <a:ea typeface="Arial" pitchFamily="34" charset="-122"/>
                <a:cs typeface="Arial" pitchFamily="34" charset="-120"/>
              </a:rPr>
              <a:t>85</a:t>
            </a:r>
            <a:pPr algn="l" indent="0" marL="0">
              <a:lnSpc>
                <a:spcPct val="78246"/>
              </a:lnSpc>
              <a:buNone/>
            </a:pPr>
            <a:r>
              <a:rPr lang="en-US" sz="7500" b="1" spc="-525" kern="0" dirty="0">
                <a:solidFill>
                  <a:srgbClr val="ED3163"/>
                </a:solidFill>
                <a:latin typeface="Arial" pitchFamily="34" charset="0"/>
                <a:ea typeface="Arial" pitchFamily="34" charset="-122"/>
                <a:cs typeface="Arial" pitchFamily="34" charset="-120"/>
              </a:rPr>
              <a:t>%</a:t>
            </a:r>
            <a:endParaRPr lang="en-US" sz="15000" dirty="0"/>
          </a:p>
        </p:txBody>
      </p:sp>
      <p:sp>
        <p:nvSpPr>
          <p:cNvPr id="8" name="Shape 5"/>
          <p:cNvSpPr/>
          <p:nvPr/>
        </p:nvSpPr>
        <p:spPr>
          <a:xfrm>
            <a:off x="914371" y="4590766"/>
            <a:ext cx="2445985" cy="1047732"/>
          </a:xfrm>
          <a:prstGeom prst="roundRect">
            <a:avLst>
              <a:gd name="adj" fmla="val 7273"/>
            </a:avLst>
          </a:prstGeom>
          <a:solidFill>
            <a:srgbClr val="00D4C8">
              <a:alpha val="25000"/>
            </a:srgbClr>
          </a:solidFill>
          <a:ln/>
        </p:spPr>
      </p:sp>
      <p:sp>
        <p:nvSpPr>
          <p:cNvPr id="9" name="Shape 6"/>
          <p:cNvSpPr/>
          <p:nvPr/>
        </p:nvSpPr>
        <p:spPr>
          <a:xfrm>
            <a:off x="3512710" y="4590766"/>
            <a:ext cx="13860825" cy="1047732"/>
          </a:xfrm>
          <a:prstGeom prst="roundRect">
            <a:avLst>
              <a:gd name="adj" fmla="val 7273"/>
            </a:avLst>
          </a:prstGeom>
          <a:gradFill rotWithShape="1">
            <a:gsLst>
              <a:gs pos="0">
                <a:srgbClr val="00D4C8">
                  <a:alpha val="100000"/>
                </a:srgbClr>
              </a:gs>
              <a:gs pos="100000">
                <a:srgbClr val="22C55E">
                  <a:alpha val="100000"/>
                </a:srgbClr>
              </a:gs>
            </a:gsLst>
            <a:lin ang="0" scaled="0"/>
          </a:gradFill>
          <a:ln/>
        </p:spPr>
      </p:sp>
      <p:sp>
        <p:nvSpPr>
          <p:cNvPr id="10" name="Text 7"/>
          <p:cNvSpPr/>
          <p:nvPr/>
        </p:nvSpPr>
        <p:spPr>
          <a:xfrm>
            <a:off x="914371" y="5867070"/>
            <a:ext cx="2690583" cy="371992"/>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Built and running</a:t>
            </a:r>
            <a:endParaRPr lang="en-US" sz="2250" dirty="0"/>
          </a:p>
        </p:txBody>
      </p:sp>
      <p:sp>
        <p:nvSpPr>
          <p:cNvPr id="11" name="Text 8"/>
          <p:cNvSpPr/>
          <p:nvPr/>
        </p:nvSpPr>
        <p:spPr>
          <a:xfrm>
            <a:off x="914371" y="6296173"/>
            <a:ext cx="2522185" cy="1066676"/>
          </a:xfrm>
          <a:prstGeom prst="rect">
            <a:avLst/>
          </a:prstGeom>
          <a:noFill/>
          <a:ln/>
        </p:spPr>
        <p:txBody>
          <a:bodyPr wrap="square" lIns="25400" tIns="25400" rIns="25400" bIns="25400" rtlCol="0" anchor="t">
            <a:normAutofit/>
          </a:bodyPr>
          <a:lstStyle/>
          <a:p>
            <a:pPr algn="l" indent="0" marL="0">
              <a:lnSpc>
                <a:spcPct val="131453"/>
              </a:lnSpc>
              <a:buNone/>
            </a:pPr>
            <a:r>
              <a:rPr lang="en-US" sz="1800" dirty="0">
                <a:solidFill>
                  <a:srgbClr val="475569"/>
                </a:solidFill>
                <a:latin typeface="Arial" pitchFamily="34" charset="0"/>
                <a:ea typeface="Arial" pitchFamily="34" charset="-122"/>
                <a:cs typeface="Arial" pitchFamily="34" charset="-120"/>
              </a:rPr>
              <a:t>Venue back office · marketplace booking · payments</a:t>
            </a:r>
            <a:endParaRPr lang="en-US" sz="1800" dirty="0"/>
          </a:p>
        </p:txBody>
      </p:sp>
      <p:sp>
        <p:nvSpPr>
          <p:cNvPr id="12" name="Text 9"/>
          <p:cNvSpPr/>
          <p:nvPr/>
        </p:nvSpPr>
        <p:spPr>
          <a:xfrm>
            <a:off x="3512710" y="5867070"/>
            <a:ext cx="15246907" cy="371992"/>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This project</a:t>
            </a:r>
            <a:endParaRPr lang="en-US" sz="2250" dirty="0"/>
          </a:p>
        </p:txBody>
      </p:sp>
      <p:sp>
        <p:nvSpPr>
          <p:cNvPr id="13" name="Text 10"/>
          <p:cNvSpPr/>
          <p:nvPr/>
        </p:nvSpPr>
        <p:spPr>
          <a:xfrm>
            <a:off x="3512710" y="6296173"/>
            <a:ext cx="15246907" cy="380959"/>
          </a:xfrm>
          <a:prstGeom prst="rect">
            <a:avLst/>
          </a:prstGeom>
          <a:noFill/>
          <a:ln/>
        </p:spPr>
        <p:txBody>
          <a:bodyPr wrap="square" lIns="25400" tIns="25400" rIns="25400" bIns="25400" rtlCol="0" anchor="t">
            <a:normAutofit/>
          </a:bodyPr>
          <a:lstStyle/>
          <a:p>
            <a:pPr algn="l" indent="0" marL="0">
              <a:lnSpc>
                <a:spcPct val="131453"/>
              </a:lnSpc>
              <a:buNone/>
            </a:pPr>
            <a:r>
              <a:rPr lang="en-US" sz="1800" dirty="0">
                <a:solidFill>
                  <a:srgbClr val="475569"/>
                </a:solidFill>
                <a:latin typeface="Arial" pitchFamily="34" charset="0"/>
                <a:ea typeface="Arial" pitchFamily="34" charset="-122"/>
                <a:cs typeface="Arial" pitchFamily="34" charset="-120"/>
              </a:rPr>
              <a:t>Eight new functions · twelve months · in Thailand</a:t>
            </a:r>
            <a:endParaRPr lang="en-US" sz="1800" dirty="0"/>
          </a:p>
        </p:txBody>
      </p:sp>
      <p:sp>
        <p:nvSpPr>
          <p:cNvPr id="14" name="Text 11"/>
          <p:cNvSpPr/>
          <p:nvPr/>
        </p:nvSpPr>
        <p:spPr>
          <a:xfrm>
            <a:off x="914371" y="8458317"/>
            <a:ext cx="11260147" cy="952389"/>
          </a:xfrm>
          <a:prstGeom prst="rect">
            <a:avLst/>
          </a:prstGeom>
          <a:noFill/>
          <a:ln/>
        </p:spPr>
        <p:txBody>
          <a:bodyPr wrap="square" lIns="25400" tIns="25400" rIns="25400" bIns="25400" rtlCol="0" anchor="t">
            <a:normAutofit/>
          </a:bodyPr>
          <a:lstStyle/>
          <a:p>
            <a:pPr algn="l" indent="0" marL="0">
              <a:lnSpc>
                <a:spcPct val="105585"/>
              </a:lnSpc>
              <a:buNone/>
            </a:pPr>
            <a:r>
              <a:rPr lang="en-US" sz="3000" b="1" spc="-30" kern="0" dirty="0">
                <a:solidFill>
                  <a:srgbClr val="0B132B"/>
                </a:solidFill>
                <a:latin typeface="Arial" pitchFamily="34" charset="0"/>
                <a:ea typeface="Arial" pitchFamily="34" charset="-122"/>
                <a:cs typeface="Arial" pitchFamily="34" charset="-120"/>
              </a:rPr>
              <a:t>The first half is the plumbing. </a:t>
            </a:r>
            <a:pPr algn="l" indent="0" marL="0">
              <a:lnSpc>
                <a:spcPct val="105585"/>
              </a:lnSpc>
              <a:buNone/>
            </a:pPr>
            <a:r>
              <a:rPr lang="en-US" sz="3000" b="1" spc="-30" kern="0" dirty="0">
                <a:solidFill>
                  <a:srgbClr val="ED3163"/>
                </a:solidFill>
                <a:latin typeface="Arial" pitchFamily="34" charset="0"/>
                <a:ea typeface="Arial" pitchFamily="34" charset="-122"/>
                <a:cs typeface="Arial" pitchFamily="34" charset="-120"/>
              </a:rPr>
              <a:t>The second half is the product.</a:t>
            </a:r>
            <a:endParaRPr lang="en-US" sz="3000" dirty="0"/>
          </a:p>
        </p:txBody>
      </p:sp>
      <p:sp>
        <p:nvSpPr>
          <p:cNvPr id="15" name="Text 12"/>
          <p:cNvSpPr/>
          <p:nvPr/>
        </p:nvSpPr>
        <p:spPr>
          <a:xfrm>
            <a:off x="12456133" y="9163924"/>
            <a:ext cx="5409233" cy="246782"/>
          </a:xfrm>
          <a:prstGeom prst="rect">
            <a:avLst/>
          </a:prstGeom>
          <a:noFill/>
          <a:ln/>
        </p:spPr>
        <p:txBody>
          <a:bodyPr wrap="none" lIns="25400" tIns="25400" rIns="25400" bIns="25400" rtlCol="0" anchor="t">
            <a:normAutofit/>
          </a:bodyPr>
          <a:lstStyle/>
          <a:p>
            <a:pPr algn="l" indent="0" marL="0">
              <a:buNone/>
            </a:pPr>
            <a:r>
              <a:rPr lang="en-US" sz="1350" dirty="0">
                <a:solidFill>
                  <a:srgbClr val="94A3B8"/>
                </a:solidFill>
                <a:latin typeface="Arial" pitchFamily="34" charset="0"/>
                <a:ea typeface="Arial" pitchFamily="34" charset="-122"/>
                <a:cs typeface="Arial" pitchFamily="34" charset="-120"/>
              </a:rPr>
              <a:t>Completeness measured against full planned product scope.</a:t>
            </a:r>
            <a:endParaRPr lang="en-US" sz="1350" dirty="0"/>
          </a:p>
        </p:txBody>
      </p:sp>
      <p:sp>
        <p:nvSpPr>
          <p:cNvPr id="16" name="Shape 13"/>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83519" y="609010"/>
            <a:ext cx="666298"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17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Why the two halves are one system</a:t>
            </a:r>
            <a:endParaRPr lang="en-US" sz="4050" dirty="0"/>
          </a:p>
        </p:txBody>
      </p:sp>
      <p:sp>
        <p:nvSpPr>
          <p:cNvPr id="6" name="Text 3"/>
          <p:cNvSpPr/>
          <p:nvPr/>
        </p:nvSpPr>
        <p:spPr>
          <a:xfrm>
            <a:off x="914371" y="4306110"/>
            <a:ext cx="8005611" cy="1920154"/>
          </a:xfrm>
          <a:prstGeom prst="rect">
            <a:avLst/>
          </a:prstGeom>
          <a:noFill/>
          <a:ln/>
        </p:spPr>
        <p:txBody>
          <a:bodyPr wrap="square" lIns="25400" tIns="25400" rIns="25400" bIns="25400" rtlCol="0" anchor="t">
            <a:normAutofit/>
          </a:bodyPr>
          <a:lstStyle/>
          <a:p>
            <a:pPr algn="l" indent="0" marL="0">
              <a:lnSpc>
                <a:spcPct val="112740"/>
              </a:lnSpc>
              <a:buNone/>
            </a:pPr>
            <a:r>
              <a:rPr lang="en-US" sz="2850" spc="-22" kern="0" dirty="0">
                <a:solidFill>
                  <a:srgbClr val="0B132B"/>
                </a:solidFill>
                <a:latin typeface="Arial" pitchFamily="34" charset="0"/>
                <a:ea typeface="Arial" pitchFamily="34" charset="-122"/>
                <a:cs typeface="Arial" pitchFamily="34" charset="-120"/>
              </a:rPr>
              <a:t>Every venue that joins brings its existing members with it. They become users of the marketplace on day one — with no consumer advertising at all.</a:t>
            </a:r>
            <a:endParaRPr lang="en-US" sz="2850" dirty="0"/>
          </a:p>
        </p:txBody>
      </p:sp>
      <p:sp>
        <p:nvSpPr>
          <p:cNvPr id="7" name="Shape 4"/>
          <p:cNvSpPr/>
          <p:nvPr/>
        </p:nvSpPr>
        <p:spPr>
          <a:xfrm>
            <a:off x="914371" y="6569091"/>
            <a:ext cx="26085" cy="1107076"/>
          </a:xfrm>
          <a:prstGeom prst="rect">
            <a:avLst/>
          </a:prstGeom>
          <a:solidFill>
            <a:srgbClr val="ED3163"/>
          </a:solidFill>
          <a:ln/>
        </p:spPr>
      </p:sp>
      <p:sp>
        <p:nvSpPr>
          <p:cNvPr id="8" name="Text 5"/>
          <p:cNvSpPr/>
          <p:nvPr/>
        </p:nvSpPr>
        <p:spPr>
          <a:xfrm>
            <a:off x="1245246" y="6569091"/>
            <a:ext cx="7664809" cy="1145176"/>
          </a:xfrm>
          <a:prstGeom prst="rect">
            <a:avLst/>
          </a:prstGeom>
          <a:noFill/>
          <a:ln/>
        </p:spPr>
        <p:txBody>
          <a:bodyPr wrap="square" lIns="25400" tIns="25400" rIns="25400" bIns="25400" rtlCol="0" anchor="t">
            <a:normAutofit/>
          </a:bodyPr>
          <a:lstStyle/>
          <a:p>
            <a:pPr algn="l" indent="0" marL="0">
              <a:lnSpc>
                <a:spcPct val="136053"/>
              </a:lnSpc>
              <a:buNone/>
            </a:pPr>
            <a:r>
              <a:rPr lang="en-US" sz="1875" dirty="0">
                <a:solidFill>
                  <a:srgbClr val="475569"/>
                </a:solidFill>
                <a:latin typeface="Arial" pitchFamily="34" charset="0"/>
                <a:ea typeface="Arial" pitchFamily="34" charset="-122"/>
                <a:cs typeface="Arial" pitchFamily="34" charset="-120"/>
              </a:rPr>
              <a:t>This is why the consumer side reaches national scale without national marketing spend — and why the two halves are one system rather than two products.</a:t>
            </a:r>
            <a:endParaRPr lang="en-US" sz="1875" dirty="0"/>
          </a:p>
        </p:txBody>
      </p:sp>
      <p:sp>
        <p:nvSpPr>
          <p:cNvPr id="9" name="Shape 6"/>
          <p:cNvSpPr/>
          <p:nvPr/>
        </p:nvSpPr>
        <p:spPr>
          <a:xfrm>
            <a:off x="9601179" y="4887486"/>
            <a:ext cx="3505210" cy="646915"/>
          </a:xfrm>
          <a:prstGeom prst="roundRect">
            <a:avLst>
              <a:gd name="adj" fmla="val 17668"/>
            </a:avLst>
          </a:prstGeom>
          <a:solidFill>
            <a:srgbClr val="FFFFFF"/>
          </a:solidFill>
          <a:ln w="5217">
            <a:solidFill>
              <a:srgbClr val="E2E8F0"/>
            </a:solidFill>
            <a:prstDash val="solid"/>
          </a:ln>
        </p:spPr>
      </p:sp>
      <p:sp>
        <p:nvSpPr>
          <p:cNvPr id="10" name="Text 7"/>
          <p:cNvSpPr/>
          <p:nvPr/>
        </p:nvSpPr>
        <p:spPr>
          <a:xfrm>
            <a:off x="9834996" y="5083203"/>
            <a:ext cx="3142733" cy="293581"/>
          </a:xfrm>
          <a:prstGeom prst="rect">
            <a:avLst/>
          </a:prstGeom>
          <a:noFill/>
          <a:ln/>
        </p:spPr>
        <p:txBody>
          <a:bodyPr wrap="square" lIns="25400" tIns="25400" rIns="25400" bIns="25400" rtlCol="0" anchor="t">
            <a:normAutofit/>
          </a:bodyPr>
          <a:lstStyle/>
          <a:p>
            <a:pPr algn="l" indent="0" marL="0">
              <a:buNone/>
            </a:pPr>
            <a:r>
              <a:rPr lang="en-US" sz="1650" dirty="0">
                <a:solidFill>
                  <a:srgbClr val="0B132B"/>
                </a:solidFill>
                <a:latin typeface="Arial" pitchFamily="34" charset="0"/>
                <a:ea typeface="Arial" pitchFamily="34" charset="-122"/>
                <a:cs typeface="Arial" pitchFamily="34" charset="-120"/>
              </a:rPr>
              <a:t>A venue joins</a:t>
            </a:r>
            <a:endParaRPr lang="en-US" sz="1650" dirty="0"/>
          </a:p>
        </p:txBody>
      </p:sp>
      <p:sp>
        <p:nvSpPr>
          <p:cNvPr id="11" name="Shape 8"/>
          <p:cNvSpPr/>
          <p:nvPr/>
        </p:nvSpPr>
        <p:spPr>
          <a:xfrm>
            <a:off x="9601179" y="5667681"/>
            <a:ext cx="3505210" cy="646915"/>
          </a:xfrm>
          <a:prstGeom prst="roundRect">
            <a:avLst>
              <a:gd name="adj" fmla="val 17668"/>
            </a:avLst>
          </a:prstGeom>
          <a:solidFill>
            <a:srgbClr val="FFFFFF"/>
          </a:solidFill>
          <a:ln w="5217">
            <a:solidFill>
              <a:srgbClr val="E2E8F0"/>
            </a:solidFill>
            <a:prstDash val="solid"/>
          </a:ln>
        </p:spPr>
      </p:sp>
      <p:sp>
        <p:nvSpPr>
          <p:cNvPr id="12" name="Text 9"/>
          <p:cNvSpPr/>
          <p:nvPr/>
        </p:nvSpPr>
        <p:spPr>
          <a:xfrm>
            <a:off x="9834996" y="5863398"/>
            <a:ext cx="3142733" cy="293581"/>
          </a:xfrm>
          <a:prstGeom prst="rect">
            <a:avLst/>
          </a:prstGeom>
          <a:noFill/>
          <a:ln/>
        </p:spPr>
        <p:txBody>
          <a:bodyPr wrap="square" lIns="25400" tIns="25400" rIns="25400" bIns="25400" rtlCol="0" anchor="t">
            <a:normAutofit/>
          </a:bodyPr>
          <a:lstStyle/>
          <a:p>
            <a:pPr algn="l" indent="0" marL="0">
              <a:buNone/>
            </a:pPr>
            <a:r>
              <a:rPr lang="en-US" sz="1650" dirty="0">
                <a:solidFill>
                  <a:srgbClr val="0B132B"/>
                </a:solidFill>
                <a:latin typeface="Arial" pitchFamily="34" charset="0"/>
                <a:ea typeface="Arial" pitchFamily="34" charset="-122"/>
                <a:cs typeface="Arial" pitchFamily="34" charset="-120"/>
              </a:rPr>
              <a:t>A venue joins</a:t>
            </a:r>
            <a:endParaRPr lang="en-US" sz="1650" dirty="0"/>
          </a:p>
        </p:txBody>
      </p:sp>
      <p:sp>
        <p:nvSpPr>
          <p:cNvPr id="13" name="Shape 10"/>
          <p:cNvSpPr/>
          <p:nvPr/>
        </p:nvSpPr>
        <p:spPr>
          <a:xfrm>
            <a:off x="9601179" y="6447876"/>
            <a:ext cx="3505210" cy="646915"/>
          </a:xfrm>
          <a:prstGeom prst="roundRect">
            <a:avLst>
              <a:gd name="adj" fmla="val 17668"/>
            </a:avLst>
          </a:prstGeom>
          <a:solidFill>
            <a:srgbClr val="FFFFFF"/>
          </a:solidFill>
          <a:ln w="5217">
            <a:solidFill>
              <a:srgbClr val="E2E8F0"/>
            </a:solidFill>
            <a:prstDash val="solid"/>
          </a:ln>
        </p:spPr>
      </p:sp>
      <p:sp>
        <p:nvSpPr>
          <p:cNvPr id="14" name="Text 11"/>
          <p:cNvSpPr/>
          <p:nvPr/>
        </p:nvSpPr>
        <p:spPr>
          <a:xfrm>
            <a:off x="9834996" y="6643593"/>
            <a:ext cx="3142733" cy="293581"/>
          </a:xfrm>
          <a:prstGeom prst="rect">
            <a:avLst/>
          </a:prstGeom>
          <a:noFill/>
          <a:ln/>
        </p:spPr>
        <p:txBody>
          <a:bodyPr wrap="square" lIns="25400" tIns="25400" rIns="25400" bIns="25400" rtlCol="0" anchor="t">
            <a:normAutofit/>
          </a:bodyPr>
          <a:lstStyle/>
          <a:p>
            <a:pPr algn="l" indent="0" marL="0">
              <a:buNone/>
            </a:pPr>
            <a:r>
              <a:rPr lang="en-US" sz="1650" dirty="0">
                <a:solidFill>
                  <a:srgbClr val="0B132B"/>
                </a:solidFill>
                <a:latin typeface="Arial" pitchFamily="34" charset="0"/>
                <a:ea typeface="Arial" pitchFamily="34" charset="-122"/>
                <a:cs typeface="Arial" pitchFamily="34" charset="-120"/>
              </a:rPr>
              <a:t>A venue joins</a:t>
            </a:r>
            <a:endParaRPr lang="en-US" sz="1650" dirty="0"/>
          </a:p>
        </p:txBody>
      </p:sp>
      <p:sp>
        <p:nvSpPr>
          <p:cNvPr id="15" name="Text 12"/>
          <p:cNvSpPr/>
          <p:nvPr/>
        </p:nvSpPr>
        <p:spPr>
          <a:xfrm>
            <a:off x="13344418" y="5083207"/>
            <a:ext cx="361997" cy="382426"/>
          </a:xfrm>
          <a:prstGeom prst="rect">
            <a:avLst/>
          </a:prstGeom>
          <a:noFill/>
          <a:ln/>
        </p:spPr>
        <p:txBody>
          <a:bodyPr wrap="square" lIns="25400" tIns="25400" rIns="25400" bIns="25400" rtlCol="0" anchor="t">
            <a:normAutofit/>
          </a:bodyPr>
          <a:lstStyle/>
          <a:p>
            <a:pPr algn="l" indent="0" marL="0">
              <a:buNone/>
            </a:pPr>
            <a:r>
              <a:rPr lang="en-US" sz="2250" dirty="0">
                <a:solidFill>
                  <a:srgbClr val="ED3163"/>
                </a:solidFill>
                <a:latin typeface="Arial" pitchFamily="34" charset="0"/>
                <a:ea typeface="Arial" pitchFamily="34" charset="-122"/>
                <a:cs typeface="Arial" pitchFamily="34" charset="-120"/>
              </a:rPr>
              <a:t>→</a:t>
            </a:r>
            <a:endParaRPr lang="en-US" sz="2250" dirty="0"/>
          </a:p>
        </p:txBody>
      </p:sp>
      <p:sp>
        <p:nvSpPr>
          <p:cNvPr id="16" name="Text 13"/>
          <p:cNvSpPr/>
          <p:nvPr/>
        </p:nvSpPr>
        <p:spPr>
          <a:xfrm>
            <a:off x="13344418" y="5818976"/>
            <a:ext cx="361997" cy="382426"/>
          </a:xfrm>
          <a:prstGeom prst="rect">
            <a:avLst/>
          </a:prstGeom>
          <a:noFill/>
          <a:ln/>
        </p:spPr>
        <p:txBody>
          <a:bodyPr wrap="square" lIns="25400" tIns="25400" rIns="25400" bIns="25400" rtlCol="0" anchor="t">
            <a:normAutofit/>
          </a:bodyPr>
          <a:lstStyle/>
          <a:p>
            <a:pPr algn="l" indent="0" marL="0">
              <a:buNone/>
            </a:pPr>
            <a:r>
              <a:rPr lang="en-US" sz="2250" dirty="0">
                <a:solidFill>
                  <a:srgbClr val="ED3163"/>
                </a:solidFill>
                <a:latin typeface="Arial" pitchFamily="34" charset="0"/>
                <a:ea typeface="Arial" pitchFamily="34" charset="-122"/>
                <a:cs typeface="Arial" pitchFamily="34" charset="-120"/>
              </a:rPr>
              <a:t>→</a:t>
            </a:r>
            <a:endParaRPr lang="en-US" sz="2250" dirty="0"/>
          </a:p>
        </p:txBody>
      </p:sp>
      <p:sp>
        <p:nvSpPr>
          <p:cNvPr id="17" name="Text 14"/>
          <p:cNvSpPr/>
          <p:nvPr/>
        </p:nvSpPr>
        <p:spPr>
          <a:xfrm>
            <a:off x="13344418" y="6554744"/>
            <a:ext cx="361997" cy="382426"/>
          </a:xfrm>
          <a:prstGeom prst="rect">
            <a:avLst/>
          </a:prstGeom>
          <a:noFill/>
          <a:ln/>
        </p:spPr>
        <p:txBody>
          <a:bodyPr wrap="square" lIns="25400" tIns="25400" rIns="25400" bIns="25400" rtlCol="0" anchor="t">
            <a:normAutofit/>
          </a:bodyPr>
          <a:lstStyle/>
          <a:p>
            <a:pPr algn="l" indent="0" marL="0">
              <a:buNone/>
            </a:pPr>
            <a:r>
              <a:rPr lang="en-US" sz="2250" dirty="0">
                <a:solidFill>
                  <a:srgbClr val="ED3163"/>
                </a:solidFill>
                <a:latin typeface="Arial" pitchFamily="34" charset="0"/>
                <a:ea typeface="Arial" pitchFamily="34" charset="-122"/>
                <a:cs typeface="Arial" pitchFamily="34" charset="-120"/>
              </a:rPr>
              <a:t>→</a:t>
            </a:r>
            <a:endParaRPr lang="en-US" sz="2250" dirty="0"/>
          </a:p>
        </p:txBody>
      </p:sp>
      <p:sp>
        <p:nvSpPr>
          <p:cNvPr id="18" name="Shape 15"/>
          <p:cNvSpPr/>
          <p:nvPr/>
        </p:nvSpPr>
        <p:spPr>
          <a:xfrm>
            <a:off x="13868324" y="4986203"/>
            <a:ext cx="3505292" cy="2009790"/>
          </a:xfrm>
          <a:prstGeom prst="roundRect">
            <a:avLst>
              <a:gd name="adj" fmla="val 7583"/>
            </a:avLst>
          </a:prstGeom>
          <a:solidFill>
            <a:srgbClr val="0B132B"/>
          </a:solidFill>
          <a:ln/>
        </p:spPr>
      </p:sp>
      <p:sp>
        <p:nvSpPr>
          <p:cNvPr id="19" name="Text 16"/>
          <p:cNvSpPr/>
          <p:nvPr/>
        </p:nvSpPr>
        <p:spPr>
          <a:xfrm>
            <a:off x="14134965" y="5290993"/>
            <a:ext cx="3061171" cy="1038308"/>
          </a:xfrm>
          <a:prstGeom prst="rect">
            <a:avLst/>
          </a:prstGeom>
          <a:noFill/>
          <a:ln/>
        </p:spPr>
        <p:txBody>
          <a:bodyPr wrap="square" lIns="25400" tIns="25400" rIns="25400" bIns="25400" rtlCol="0" anchor="t">
            <a:normAutofit/>
          </a:bodyPr>
          <a:lstStyle/>
          <a:p>
            <a:pPr algn="l" indent="0" marL="0">
              <a:lnSpc>
                <a:spcPct val="108307"/>
              </a:lnSpc>
              <a:buNone/>
            </a:pPr>
            <a:r>
              <a:rPr lang="en-US" sz="2100" b="1" dirty="0">
                <a:solidFill>
                  <a:srgbClr val="F6F8FA"/>
                </a:solidFill>
                <a:latin typeface="Arial" pitchFamily="34" charset="0"/>
                <a:ea typeface="Arial" pitchFamily="34" charset="-122"/>
                <a:cs typeface="Arial" pitchFamily="34" charset="-120"/>
              </a:rPr>
              <a:t>Its members become marketplace users on day one</a:t>
            </a:r>
            <a:endParaRPr lang="en-US" sz="2100" dirty="0"/>
          </a:p>
        </p:txBody>
      </p:sp>
      <p:sp>
        <p:nvSpPr>
          <p:cNvPr id="20" name="Text 17"/>
          <p:cNvSpPr/>
          <p:nvPr/>
        </p:nvSpPr>
        <p:spPr>
          <a:xfrm>
            <a:off x="14134965" y="6405487"/>
            <a:ext cx="3269212" cy="323815"/>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00D4C8"/>
                </a:solidFill>
                <a:latin typeface="Arial" pitchFamily="34" charset="0"/>
                <a:ea typeface="Arial" pitchFamily="34" charset="-122"/>
                <a:cs typeface="Arial" pitchFamily="34" charset="-120"/>
              </a:rPr>
              <a:t>No consumer advertising</a:t>
            </a:r>
            <a:endParaRPr lang="en-US" sz="1500" dirty="0"/>
          </a:p>
        </p:txBody>
      </p:sp>
      <p:sp>
        <p:nvSpPr>
          <p:cNvPr id="21" name="Shape 18"/>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3411" y="609010"/>
            <a:ext cx="676406"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18 </a:t>
            </a:r>
            <a:pPr algn="l" indent="0" marL="0">
              <a:buNone/>
            </a:pPr>
            <a:r>
              <a:rPr lang="en-US" sz="1500" dirty="0">
                <a:solidFill>
                  <a:srgbClr val="00D4C8"/>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295216"/>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0D4C8"/>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581665"/>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One infrastructure. </a:t>
            </a:r>
            <a:pPr algn="l" indent="0" marL="0">
              <a:lnSpc>
                <a:spcPct val="100335"/>
              </a:lnSpc>
              <a:buNone/>
            </a:pPr>
            <a:r>
              <a:rPr lang="en-US" sz="4050" b="1" spc="-22" kern="0" dirty="0">
                <a:solidFill>
                  <a:srgbClr val="00D4C8"/>
                </a:solidFill>
                <a:latin typeface="Arial" pitchFamily="34" charset="0"/>
                <a:ea typeface="Arial" pitchFamily="34" charset="-122"/>
                <a:cs typeface="Arial" pitchFamily="34" charset="-120"/>
              </a:rPr>
              <a:t>Many industries.</a:t>
            </a:r>
            <a:endParaRPr lang="en-US" sz="4050" dirty="0"/>
          </a:p>
        </p:txBody>
      </p:sp>
      <p:sp>
        <p:nvSpPr>
          <p:cNvPr id="6" name="Text 3"/>
          <p:cNvSpPr/>
          <p:nvPr/>
        </p:nvSpPr>
        <p:spPr>
          <a:xfrm>
            <a:off x="914371" y="2400091"/>
            <a:ext cx="15304765" cy="752348"/>
          </a:xfrm>
          <a:prstGeom prst="rect">
            <a:avLst/>
          </a:prstGeom>
          <a:noFill/>
          <a:ln/>
        </p:spPr>
        <p:txBody>
          <a:bodyPr wrap="square" lIns="25400" tIns="25400" rIns="25400" bIns="25400" rtlCol="0" anchor="t">
            <a:normAutofit/>
          </a:bodyPr>
          <a:lstStyle/>
          <a:p>
            <a:pPr algn="l" indent="0" marL="0">
              <a:lnSpc>
                <a:spcPct val="131664"/>
              </a:lnSpc>
              <a:buNone/>
            </a:pPr>
            <a:r>
              <a:rPr lang="en-US" sz="1875" dirty="0">
                <a:solidFill>
                  <a:srgbClr val="475569"/>
                </a:solidFill>
                <a:latin typeface="Arial" pitchFamily="34" charset="0"/>
                <a:ea typeface="Arial" pitchFamily="34" charset="-122"/>
                <a:cs typeface="Arial" pitchFamily="34" charset="-120"/>
              </a:rPr>
              <a:t>Nothing in the venue engine is sport-specific. Bookings, schedules, payments as a master merchant, memberships, customer records, automatic accounting and tax reporting — every service business in Thailand needs the same machine.</a:t>
            </a:r>
            <a:endParaRPr lang="en-US" sz="1875" dirty="0"/>
          </a:p>
        </p:txBody>
      </p:sp>
      <p:sp>
        <p:nvSpPr>
          <p:cNvPr id="7" name="Shape 4"/>
          <p:cNvSpPr/>
          <p:nvPr/>
        </p:nvSpPr>
        <p:spPr>
          <a:xfrm>
            <a:off x="914371" y="3380979"/>
            <a:ext cx="16459247" cy="9525"/>
          </a:xfrm>
          <a:prstGeom prst="rect">
            <a:avLst/>
          </a:prstGeom>
          <a:solidFill>
            <a:srgbClr val="E2E8F0"/>
          </a:solidFill>
          <a:ln/>
        </p:spPr>
      </p:sp>
      <p:pic>
        <p:nvPicPr>
          <p:cNvPr id="8" name="Image 1" descr="preencoded.png">    </p:cNvPr>
          <p:cNvPicPr>
            <a:picLocks noChangeAspect="1"/>
          </p:cNvPicPr>
          <p:nvPr/>
        </p:nvPicPr>
        <p:blipFill>
          <a:blip r:embed="rId2"/>
          <a:stretch>
            <a:fillRect/>
          </a:stretch>
        </p:blipFill>
        <p:spPr>
          <a:xfrm>
            <a:off x="914371" y="3633844"/>
            <a:ext cx="526597" cy="685799"/>
          </a:xfrm>
          <a:prstGeom prst="rect">
            <a:avLst/>
          </a:prstGeom>
        </p:spPr>
      </p:pic>
      <p:sp>
        <p:nvSpPr>
          <p:cNvPr id="9" name="Text 5"/>
          <p:cNvSpPr/>
          <p:nvPr/>
        </p:nvSpPr>
        <p:spPr>
          <a:xfrm>
            <a:off x="2362104" y="3718458"/>
            <a:ext cx="3143228" cy="554589"/>
          </a:xfrm>
          <a:prstGeom prst="rect">
            <a:avLst/>
          </a:prstGeom>
          <a:noFill/>
          <a:ln/>
        </p:spPr>
        <p:txBody>
          <a:bodyPr wrap="square" lIns="25400" tIns="25400" rIns="25400" bIns="25400" rtlCol="0" anchor="t">
            <a:normAutofit/>
          </a:bodyPr>
          <a:lstStyle/>
          <a:p>
            <a:pPr algn="l" indent="0" marL="0">
              <a:buNone/>
            </a:pPr>
            <a:r>
              <a:rPr lang="en-US" sz="2700" b="1" dirty="0">
                <a:solidFill>
                  <a:srgbClr val="0B132B"/>
                </a:solidFill>
                <a:latin typeface="Arial" pitchFamily="34" charset="0"/>
                <a:ea typeface="Arial" pitchFamily="34" charset="-122"/>
                <a:cs typeface="Arial" pitchFamily="34" charset="-120"/>
              </a:rPr>
              <a:t>MySportia</a:t>
            </a:r>
            <a:endParaRPr lang="en-US" sz="2700" dirty="0"/>
          </a:p>
        </p:txBody>
      </p:sp>
      <p:sp>
        <p:nvSpPr>
          <p:cNvPr id="10" name="Text 6"/>
          <p:cNvSpPr/>
          <p:nvPr/>
        </p:nvSpPr>
        <p:spPr>
          <a:xfrm>
            <a:off x="5524375" y="3816767"/>
            <a:ext cx="9346114" cy="358052"/>
          </a:xfrm>
          <a:prstGeom prst="rect">
            <a:avLst/>
          </a:prstGeom>
          <a:noFill/>
          <a:ln/>
        </p:spPr>
        <p:txBody>
          <a:bodyPr wrap="square" lIns="25400" tIns="25400" rIns="25400" bIns="25400" rtlCol="0" anchor="t">
            <a:normAutofit/>
          </a:bodyPr>
          <a:lstStyle/>
          <a:p>
            <a:pPr algn="l" indent="0" marL="0">
              <a:lnSpc>
                <a:spcPct val="122690"/>
              </a:lnSpc>
              <a:buNone/>
            </a:pPr>
            <a:r>
              <a:rPr lang="en-US" sz="1800" dirty="0">
                <a:solidFill>
                  <a:srgbClr val="475569"/>
                </a:solidFill>
                <a:latin typeface="Arial" pitchFamily="34" charset="0"/>
                <a:ea typeface="Arial" pitchFamily="34" charset="-122"/>
                <a:cs typeface="Arial" pitchFamily="34" charset="-120"/>
              </a:rPr>
              <a:t>Sports and activity venues</a:t>
            </a:r>
            <a:endParaRPr lang="en-US" sz="1800" dirty="0"/>
          </a:p>
        </p:txBody>
      </p:sp>
      <p:sp>
        <p:nvSpPr>
          <p:cNvPr id="11" name="Shape 7"/>
          <p:cNvSpPr/>
          <p:nvPr/>
        </p:nvSpPr>
        <p:spPr>
          <a:xfrm>
            <a:off x="14948663" y="3798018"/>
            <a:ext cx="2424954" cy="357368"/>
          </a:xfrm>
          <a:prstGeom prst="roundRect">
            <a:avLst>
              <a:gd name="adj" fmla="val 50000"/>
            </a:avLst>
          </a:prstGeom>
          <a:solidFill>
            <a:srgbClr val="00D4C8"/>
          </a:solidFill>
          <a:ln/>
        </p:spPr>
      </p:sp>
      <p:sp>
        <p:nvSpPr>
          <p:cNvPr id="12" name="Text 8"/>
          <p:cNvSpPr/>
          <p:nvPr/>
        </p:nvSpPr>
        <p:spPr>
          <a:xfrm>
            <a:off x="15120113" y="3893268"/>
            <a:ext cx="2158254" cy="204968"/>
          </a:xfrm>
          <a:prstGeom prst="rect">
            <a:avLst/>
          </a:prstGeom>
          <a:noFill/>
          <a:ln/>
        </p:spPr>
        <p:txBody>
          <a:bodyPr wrap="none" lIns="25400" tIns="25400" rIns="25400" bIns="25400" rtlCol="0" anchor="t">
            <a:normAutofit/>
          </a:bodyPr>
          <a:lstStyle/>
          <a:p>
            <a:pPr algn="l" indent="0" marL="0">
              <a:buNone/>
            </a:pPr>
            <a:r>
              <a:rPr lang="en-US" sz="1125" b="1" spc="113" kern="0" dirty="0">
                <a:solidFill>
                  <a:srgbClr val="0B132B"/>
                </a:solidFill>
                <a:latin typeface="Arial" pitchFamily="34" charset="0"/>
                <a:ea typeface="Arial" pitchFamily="34" charset="-122"/>
                <a:cs typeface="Arial" pitchFamily="34" charset="-120"/>
              </a:rPr>
              <a:t>LIVE — 32 PILOT VENUES</a:t>
            </a:r>
            <a:endParaRPr lang="en-US" sz="1125" dirty="0"/>
          </a:p>
        </p:txBody>
      </p:sp>
      <p:sp>
        <p:nvSpPr>
          <p:cNvPr id="13" name="Shape 9"/>
          <p:cNvSpPr/>
          <p:nvPr/>
        </p:nvSpPr>
        <p:spPr>
          <a:xfrm>
            <a:off x="914371" y="4567289"/>
            <a:ext cx="16459247" cy="9525"/>
          </a:xfrm>
          <a:prstGeom prst="rect">
            <a:avLst/>
          </a:prstGeom>
          <a:solidFill>
            <a:srgbClr val="E2E8F0"/>
          </a:solidFill>
          <a:ln/>
        </p:spPr>
      </p:sp>
      <p:pic>
        <p:nvPicPr>
          <p:cNvPr id="14" name="Image 2" descr="preencoded.png">    </p:cNvPr>
          <p:cNvPicPr>
            <a:picLocks noChangeAspect="1"/>
          </p:cNvPicPr>
          <p:nvPr/>
        </p:nvPicPr>
        <p:blipFill>
          <a:blip r:embed="rId3"/>
          <a:stretch>
            <a:fillRect/>
          </a:stretch>
        </p:blipFill>
        <p:spPr>
          <a:xfrm>
            <a:off x="914371" y="4858222"/>
            <a:ext cx="609581" cy="609581"/>
          </a:xfrm>
          <a:prstGeom prst="rect">
            <a:avLst/>
          </a:prstGeom>
        </p:spPr>
      </p:pic>
      <p:sp>
        <p:nvSpPr>
          <p:cNvPr id="15" name="Text 10"/>
          <p:cNvSpPr/>
          <p:nvPr/>
        </p:nvSpPr>
        <p:spPr>
          <a:xfrm>
            <a:off x="2362104" y="4949113"/>
            <a:ext cx="3143228" cy="465899"/>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Kizzem</a:t>
            </a:r>
            <a:endParaRPr lang="en-US" sz="2250" dirty="0"/>
          </a:p>
        </p:txBody>
      </p:sp>
      <p:sp>
        <p:nvSpPr>
          <p:cNvPr id="16" name="Text 11"/>
          <p:cNvSpPr/>
          <p:nvPr/>
        </p:nvSpPr>
        <p:spPr>
          <a:xfrm>
            <a:off x="5524375" y="5003077"/>
            <a:ext cx="9346114" cy="358052"/>
          </a:xfrm>
          <a:prstGeom prst="rect">
            <a:avLst/>
          </a:prstGeom>
          <a:noFill/>
          <a:ln/>
        </p:spPr>
        <p:txBody>
          <a:bodyPr wrap="square" lIns="25400" tIns="25400" rIns="25400" bIns="25400" rtlCol="0" anchor="t">
            <a:normAutofit/>
          </a:bodyPr>
          <a:lstStyle/>
          <a:p>
            <a:pPr algn="l" indent="0" marL="0">
              <a:lnSpc>
                <a:spcPct val="122690"/>
              </a:lnSpc>
              <a:buNone/>
            </a:pPr>
            <a:r>
              <a:rPr lang="en-US" sz="1800" dirty="0">
                <a:solidFill>
                  <a:srgbClr val="475569"/>
                </a:solidFill>
                <a:latin typeface="Arial" pitchFamily="34" charset="0"/>
                <a:ea typeface="Arial" pitchFamily="34" charset="-122"/>
                <a:cs typeface="Arial" pitchFamily="34" charset="-120"/>
              </a:rPr>
              <a:t>Venue and service booking, any industry</a:t>
            </a:r>
            <a:endParaRPr lang="en-US" sz="1800" dirty="0"/>
          </a:p>
        </p:txBody>
      </p:sp>
      <p:sp>
        <p:nvSpPr>
          <p:cNvPr id="17" name="Shape 12"/>
          <p:cNvSpPr/>
          <p:nvPr/>
        </p:nvSpPr>
        <p:spPr>
          <a:xfrm>
            <a:off x="16565054" y="4984328"/>
            <a:ext cx="808562" cy="357368"/>
          </a:xfrm>
          <a:prstGeom prst="roundRect">
            <a:avLst>
              <a:gd name="adj" fmla="val 50000"/>
            </a:avLst>
          </a:prstGeom>
          <a:solidFill>
            <a:srgbClr val="E2E8F0"/>
          </a:solidFill>
          <a:ln/>
        </p:spPr>
      </p:sp>
      <p:sp>
        <p:nvSpPr>
          <p:cNvPr id="18" name="Text 13"/>
          <p:cNvSpPr/>
          <p:nvPr/>
        </p:nvSpPr>
        <p:spPr>
          <a:xfrm>
            <a:off x="16736504" y="5079578"/>
            <a:ext cx="541862" cy="204968"/>
          </a:xfrm>
          <a:prstGeom prst="rect">
            <a:avLst/>
          </a:prstGeom>
          <a:noFill/>
          <a:ln/>
        </p:spPr>
        <p:txBody>
          <a:bodyPr wrap="none" lIns="25400" tIns="25400" rIns="25400" bIns="25400" rtlCol="0" anchor="t">
            <a:normAutofit/>
          </a:bodyPr>
          <a:lstStyle/>
          <a:p>
            <a:pPr algn="l" indent="0" marL="0">
              <a:buNone/>
            </a:pPr>
            <a:r>
              <a:rPr lang="en-US" sz="1125" b="1" spc="113" kern="0" dirty="0">
                <a:solidFill>
                  <a:srgbClr val="0B132B"/>
                </a:solidFill>
                <a:latin typeface="Arial" pitchFamily="34" charset="0"/>
                <a:ea typeface="Arial" pitchFamily="34" charset="-122"/>
                <a:cs typeface="Arial" pitchFamily="34" charset="-120"/>
              </a:rPr>
              <a:t>BUILT</a:t>
            </a:r>
            <a:endParaRPr lang="en-US" sz="1125" dirty="0"/>
          </a:p>
        </p:txBody>
      </p:sp>
      <p:sp>
        <p:nvSpPr>
          <p:cNvPr id="19" name="Shape 14"/>
          <p:cNvSpPr/>
          <p:nvPr/>
        </p:nvSpPr>
        <p:spPr>
          <a:xfrm>
            <a:off x="914371" y="5753599"/>
            <a:ext cx="16459247" cy="9525"/>
          </a:xfrm>
          <a:prstGeom prst="rect">
            <a:avLst/>
          </a:prstGeom>
          <a:solidFill>
            <a:srgbClr val="E2E8F0"/>
          </a:solidFill>
          <a:ln/>
        </p:spPr>
      </p:sp>
      <p:pic>
        <p:nvPicPr>
          <p:cNvPr id="20" name="Image 3" descr="preencoded.png">    </p:cNvPr>
          <p:cNvPicPr>
            <a:picLocks noChangeAspect="1"/>
          </p:cNvPicPr>
          <p:nvPr/>
        </p:nvPicPr>
        <p:blipFill>
          <a:blip r:embed="rId4"/>
          <a:stretch>
            <a:fillRect/>
          </a:stretch>
        </p:blipFill>
        <p:spPr>
          <a:xfrm>
            <a:off x="914371" y="6025539"/>
            <a:ext cx="647649" cy="647649"/>
          </a:xfrm>
          <a:prstGeom prst="rect">
            <a:avLst/>
          </a:prstGeom>
        </p:spPr>
      </p:pic>
      <p:sp>
        <p:nvSpPr>
          <p:cNvPr id="21" name="Text 15"/>
          <p:cNvSpPr/>
          <p:nvPr/>
        </p:nvSpPr>
        <p:spPr>
          <a:xfrm>
            <a:off x="2362104" y="6135423"/>
            <a:ext cx="3143228" cy="465899"/>
          </a:xfrm>
          <a:prstGeom prst="rect">
            <a:avLst/>
          </a:prstGeom>
          <a:noFill/>
          <a:ln/>
        </p:spPr>
        <p:txBody>
          <a:bodyPr wrap="square" lIns="25400" tIns="25400" rIns="25400" bIns="25400" rtlCol="0" anchor="t">
            <a:normAutofit/>
          </a:bodyPr>
          <a:lstStyle/>
          <a:p>
            <a:pPr algn="l" indent="0" marL="0">
              <a:buNone/>
            </a:pPr>
            <a:r>
              <a:rPr lang="en-US" sz="2250" b="1" dirty="0">
                <a:solidFill>
                  <a:srgbClr val="0B132B"/>
                </a:solidFill>
                <a:latin typeface="Arial" pitchFamily="34" charset="0"/>
                <a:ea typeface="Arial" pitchFamily="34" charset="-122"/>
                <a:cs typeface="Arial" pitchFamily="34" charset="-120"/>
              </a:rPr>
              <a:t>PetFlow HQ</a:t>
            </a:r>
            <a:endParaRPr lang="en-US" sz="2250" dirty="0"/>
          </a:p>
        </p:txBody>
      </p:sp>
      <p:sp>
        <p:nvSpPr>
          <p:cNvPr id="22" name="Text 16"/>
          <p:cNvSpPr/>
          <p:nvPr/>
        </p:nvSpPr>
        <p:spPr>
          <a:xfrm>
            <a:off x="5524375" y="6189387"/>
            <a:ext cx="9346114" cy="358052"/>
          </a:xfrm>
          <a:prstGeom prst="rect">
            <a:avLst/>
          </a:prstGeom>
          <a:noFill/>
          <a:ln/>
        </p:spPr>
        <p:txBody>
          <a:bodyPr wrap="square" lIns="25400" tIns="25400" rIns="25400" bIns="25400" rtlCol="0" anchor="t">
            <a:normAutofit/>
          </a:bodyPr>
          <a:lstStyle/>
          <a:p>
            <a:pPr algn="l" indent="0" marL="0">
              <a:lnSpc>
                <a:spcPct val="122690"/>
              </a:lnSpc>
              <a:buNone/>
            </a:pPr>
            <a:r>
              <a:rPr lang="en-US" sz="1800" dirty="0">
                <a:solidFill>
                  <a:srgbClr val="475569"/>
                </a:solidFill>
                <a:latin typeface="Arial" pitchFamily="34" charset="0"/>
                <a:ea typeface="Arial" pitchFamily="34" charset="-122"/>
                <a:cs typeface="Arial" pitchFamily="34" charset="-120"/>
              </a:rPr>
              <a:t>Pet-care businesses</a:t>
            </a:r>
            <a:endParaRPr lang="en-US" sz="1800" dirty="0"/>
          </a:p>
        </p:txBody>
      </p:sp>
      <p:sp>
        <p:nvSpPr>
          <p:cNvPr id="23" name="Shape 17"/>
          <p:cNvSpPr/>
          <p:nvPr/>
        </p:nvSpPr>
        <p:spPr>
          <a:xfrm>
            <a:off x="16565054" y="6170638"/>
            <a:ext cx="808562" cy="357368"/>
          </a:xfrm>
          <a:prstGeom prst="roundRect">
            <a:avLst>
              <a:gd name="adj" fmla="val 50000"/>
            </a:avLst>
          </a:prstGeom>
          <a:solidFill>
            <a:srgbClr val="E2E8F0"/>
          </a:solidFill>
          <a:ln/>
        </p:spPr>
      </p:sp>
      <p:sp>
        <p:nvSpPr>
          <p:cNvPr id="24" name="Text 18"/>
          <p:cNvSpPr/>
          <p:nvPr/>
        </p:nvSpPr>
        <p:spPr>
          <a:xfrm>
            <a:off x="16736504" y="6265888"/>
            <a:ext cx="541862" cy="204968"/>
          </a:xfrm>
          <a:prstGeom prst="rect">
            <a:avLst/>
          </a:prstGeom>
          <a:noFill/>
          <a:ln/>
        </p:spPr>
        <p:txBody>
          <a:bodyPr wrap="none" lIns="25400" tIns="25400" rIns="25400" bIns="25400" rtlCol="0" anchor="t">
            <a:normAutofit/>
          </a:bodyPr>
          <a:lstStyle/>
          <a:p>
            <a:pPr algn="l" indent="0" marL="0">
              <a:buNone/>
            </a:pPr>
            <a:r>
              <a:rPr lang="en-US" sz="1125" b="1" spc="113" kern="0" dirty="0">
                <a:solidFill>
                  <a:srgbClr val="0B132B"/>
                </a:solidFill>
                <a:latin typeface="Arial" pitchFamily="34" charset="0"/>
                <a:ea typeface="Arial" pitchFamily="34" charset="-122"/>
                <a:cs typeface="Arial" pitchFamily="34" charset="-120"/>
              </a:rPr>
              <a:t>BUILT</a:t>
            </a:r>
            <a:endParaRPr lang="en-US" sz="1125" dirty="0"/>
          </a:p>
        </p:txBody>
      </p:sp>
      <p:sp>
        <p:nvSpPr>
          <p:cNvPr id="25" name="Shape 19"/>
          <p:cNvSpPr/>
          <p:nvPr/>
        </p:nvSpPr>
        <p:spPr>
          <a:xfrm>
            <a:off x="914371" y="6939910"/>
            <a:ext cx="16459247" cy="9525"/>
          </a:xfrm>
          <a:prstGeom prst="rect">
            <a:avLst/>
          </a:prstGeom>
          <a:solidFill>
            <a:srgbClr val="E2E8F0"/>
          </a:solidFill>
          <a:ln/>
        </p:spPr>
      </p:sp>
      <p:sp>
        <p:nvSpPr>
          <p:cNvPr id="26" name="Text 20"/>
          <p:cNvSpPr/>
          <p:nvPr/>
        </p:nvSpPr>
        <p:spPr>
          <a:xfrm>
            <a:off x="914371" y="7135627"/>
            <a:ext cx="16953024" cy="267573"/>
          </a:xfrm>
          <a:prstGeom prst="rect">
            <a:avLst/>
          </a:prstGeom>
          <a:noFill/>
          <a:ln/>
        </p:spPr>
        <p:txBody>
          <a:bodyPr wrap="square" lIns="25400" tIns="25400" rIns="25400" bIns="25400" rtlCol="0" anchor="t">
            <a:normAutofit/>
          </a:bodyPr>
          <a:lstStyle/>
          <a:p>
            <a:pPr algn="l" indent="0" marL="0">
              <a:buNone/>
            </a:pPr>
            <a:r>
              <a:rPr lang="en-US" sz="1500" dirty="0">
                <a:solidFill>
                  <a:srgbClr val="94A3B8"/>
                </a:solidFill>
                <a:latin typeface="Arial" pitchFamily="34" charset="0"/>
                <a:ea typeface="Arial" pitchFamily="34" charset="-122"/>
                <a:cs typeface="Arial" pitchFamily="34" charset="-120"/>
              </a:rPr>
              <a:t>Further verticals follow the same model.</a:t>
            </a:r>
            <a:endParaRPr lang="en-US" sz="1500" dirty="0"/>
          </a:p>
        </p:txBody>
      </p:sp>
      <p:sp>
        <p:nvSpPr>
          <p:cNvPr id="27" name="Text 21"/>
          <p:cNvSpPr/>
          <p:nvPr/>
        </p:nvSpPr>
        <p:spPr>
          <a:xfrm>
            <a:off x="914371" y="8629828"/>
            <a:ext cx="14716107" cy="780879"/>
          </a:xfrm>
          <a:prstGeom prst="rect">
            <a:avLst/>
          </a:prstGeom>
          <a:noFill/>
          <a:ln/>
        </p:spPr>
        <p:txBody>
          <a:bodyPr wrap="square" lIns="25400" tIns="25400" rIns="25400" bIns="25400" rtlCol="0" anchor="t">
            <a:normAutofit/>
          </a:bodyPr>
          <a:lstStyle/>
          <a:p>
            <a:pPr algn="l" indent="0" marL="0">
              <a:lnSpc>
                <a:spcPct val="111256"/>
              </a:lnSpc>
              <a:buNone/>
            </a:pPr>
            <a:r>
              <a:rPr lang="en-US" sz="2250" spc="-22" kern="0" dirty="0">
                <a:solidFill>
                  <a:srgbClr val="0B132B"/>
                </a:solidFill>
                <a:latin typeface="Arial" pitchFamily="34" charset="0"/>
                <a:ea typeface="Arial" pitchFamily="34" charset="-122"/>
                <a:cs typeface="Arial" pitchFamily="34" charset="-120"/>
              </a:rPr>
              <a:t>This application funds the sports platform. The infrastructure it completes is the model for every vertical that follows — </a:t>
            </a:r>
            <a:pPr algn="l" indent="0" marL="0">
              <a:lnSpc>
                <a:spcPct val="111256"/>
              </a:lnSpc>
              <a:buNone/>
            </a:pPr>
            <a:r>
              <a:rPr lang="en-US" sz="2250" spc="-22" kern="0" dirty="0">
                <a:solidFill>
                  <a:srgbClr val="00D4C8"/>
                </a:solidFill>
                <a:latin typeface="Arial" pitchFamily="34" charset="0"/>
                <a:ea typeface="Arial" pitchFamily="34" charset="-122"/>
                <a:cs typeface="Arial" pitchFamily="34" charset="-120"/>
              </a:rPr>
              <a:t>built once, in Thailand.</a:t>
            </a:r>
            <a:endParaRPr lang="en-US" sz="2250" dirty="0"/>
          </a:p>
        </p:txBody>
      </p:sp>
      <p:sp>
        <p:nvSpPr>
          <p:cNvPr id="28" name="Shape 22"/>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3166" y="609010"/>
            <a:ext cx="676651"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19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3337898"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3337898"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Technology</a:t>
            </a:r>
            <a:endParaRPr lang="en-US" sz="4050" dirty="0"/>
          </a:p>
        </p:txBody>
      </p:sp>
      <p:sp>
        <p:nvSpPr>
          <p:cNvPr id="6" name="Shape 3"/>
          <p:cNvSpPr/>
          <p:nvPr/>
        </p:nvSpPr>
        <p:spPr>
          <a:xfrm>
            <a:off x="12883360" y="1714292"/>
            <a:ext cx="4490256" cy="367803"/>
          </a:xfrm>
          <a:prstGeom prst="roundRect">
            <a:avLst>
              <a:gd name="adj" fmla="val 50000"/>
            </a:avLst>
          </a:prstGeom>
          <a:ln w="5217">
            <a:solidFill>
              <a:srgbClr val="0B132B"/>
            </a:solidFill>
            <a:prstDash val="solid"/>
          </a:ln>
        </p:spPr>
      </p:sp>
      <p:sp>
        <p:nvSpPr>
          <p:cNvPr id="7" name="Text 4"/>
          <p:cNvSpPr/>
          <p:nvPr/>
        </p:nvSpPr>
        <p:spPr>
          <a:xfrm>
            <a:off x="13079077" y="1814760"/>
            <a:ext cx="4233530" cy="204968"/>
          </a:xfrm>
          <a:prstGeom prst="rect">
            <a:avLst/>
          </a:prstGeom>
          <a:noFill/>
          <a:ln/>
        </p:spPr>
        <p:txBody>
          <a:bodyPr wrap="none" lIns="25400" tIns="25400" rIns="25400" bIns="25400" rtlCol="0" anchor="t">
            <a:normAutofit/>
          </a:bodyPr>
          <a:lstStyle/>
          <a:p>
            <a:pPr algn="l" indent="0" marL="0">
              <a:buNone/>
            </a:pPr>
            <a:r>
              <a:rPr lang="en-US" sz="1125" b="1" spc="113" kern="0" dirty="0">
                <a:solidFill>
                  <a:srgbClr val="0B132B"/>
                </a:solidFill>
                <a:latin typeface="Arial" pitchFamily="34" charset="0"/>
                <a:ea typeface="Arial" pitchFamily="34" charset="-122"/>
                <a:cs typeface="Arial" pitchFamily="34" charset="-120"/>
              </a:rPr>
              <a:t>AWAITING INPUT — CHIEF TECHNOLOGY OFFICER</a:t>
            </a:r>
            <a:endParaRPr lang="en-US" sz="1125" dirty="0"/>
          </a:p>
        </p:txBody>
      </p:sp>
      <p:sp>
        <p:nvSpPr>
          <p:cNvPr id="8" name="Shape 5"/>
          <p:cNvSpPr/>
          <p:nvPr/>
        </p:nvSpPr>
        <p:spPr>
          <a:xfrm>
            <a:off x="914371" y="2609670"/>
            <a:ext cx="3108959" cy="3267182"/>
          </a:xfrm>
          <a:prstGeom prst="roundRect">
            <a:avLst>
              <a:gd name="adj" fmla="val 4902"/>
            </a:avLst>
          </a:prstGeom>
          <a:ln w="5217">
            <a:solidFill>
              <a:srgbClr val="94A3B8"/>
            </a:solidFill>
            <a:prstDash val="dash"/>
          </a:ln>
        </p:spPr>
      </p:sp>
      <p:sp>
        <p:nvSpPr>
          <p:cNvPr id="9" name="Text 6"/>
          <p:cNvSpPr/>
          <p:nvPr/>
        </p:nvSpPr>
        <p:spPr>
          <a:xfrm>
            <a:off x="1186228" y="2881528"/>
            <a:ext cx="282176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Languages</a:t>
            </a:r>
            <a:endParaRPr lang="en-US" sz="1800" dirty="0"/>
          </a:p>
        </p:txBody>
      </p:sp>
      <p:sp>
        <p:nvSpPr>
          <p:cNvPr id="10" name="Text 7"/>
          <p:cNvSpPr/>
          <p:nvPr/>
        </p:nvSpPr>
        <p:spPr>
          <a:xfrm>
            <a:off x="1186228" y="5427615"/>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11" name="Shape 8"/>
          <p:cNvSpPr/>
          <p:nvPr/>
        </p:nvSpPr>
        <p:spPr>
          <a:xfrm>
            <a:off x="4251902" y="2609670"/>
            <a:ext cx="3108959" cy="3267182"/>
          </a:xfrm>
          <a:prstGeom prst="roundRect">
            <a:avLst>
              <a:gd name="adj" fmla="val 4902"/>
            </a:avLst>
          </a:prstGeom>
          <a:ln w="5217">
            <a:solidFill>
              <a:srgbClr val="94A3B8"/>
            </a:solidFill>
            <a:prstDash val="dash"/>
          </a:ln>
        </p:spPr>
      </p:sp>
      <p:sp>
        <p:nvSpPr>
          <p:cNvPr id="12" name="Text 9"/>
          <p:cNvSpPr/>
          <p:nvPr/>
        </p:nvSpPr>
        <p:spPr>
          <a:xfrm>
            <a:off x="4523760" y="2881528"/>
            <a:ext cx="282176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Frontend framework</a:t>
            </a:r>
            <a:endParaRPr lang="en-US" sz="1800" dirty="0"/>
          </a:p>
        </p:txBody>
      </p:sp>
      <p:sp>
        <p:nvSpPr>
          <p:cNvPr id="13" name="Text 10"/>
          <p:cNvSpPr/>
          <p:nvPr/>
        </p:nvSpPr>
        <p:spPr>
          <a:xfrm>
            <a:off x="4523760" y="5427615"/>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14" name="Shape 11"/>
          <p:cNvSpPr/>
          <p:nvPr/>
        </p:nvSpPr>
        <p:spPr>
          <a:xfrm>
            <a:off x="7589433" y="2609670"/>
            <a:ext cx="3109040" cy="3267182"/>
          </a:xfrm>
          <a:prstGeom prst="roundRect">
            <a:avLst>
              <a:gd name="adj" fmla="val 4902"/>
            </a:avLst>
          </a:prstGeom>
          <a:ln w="5217">
            <a:solidFill>
              <a:srgbClr val="94A3B8"/>
            </a:solidFill>
            <a:prstDash val="dash"/>
          </a:ln>
        </p:spPr>
      </p:sp>
      <p:sp>
        <p:nvSpPr>
          <p:cNvPr id="15" name="Text 12"/>
          <p:cNvSpPr/>
          <p:nvPr/>
        </p:nvSpPr>
        <p:spPr>
          <a:xfrm>
            <a:off x="7861291" y="2881528"/>
            <a:ext cx="282185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Backend framework</a:t>
            </a:r>
            <a:endParaRPr lang="en-US" sz="1800" dirty="0"/>
          </a:p>
        </p:txBody>
      </p:sp>
      <p:sp>
        <p:nvSpPr>
          <p:cNvPr id="16" name="Text 13"/>
          <p:cNvSpPr/>
          <p:nvPr/>
        </p:nvSpPr>
        <p:spPr>
          <a:xfrm>
            <a:off x="7861291" y="5427615"/>
            <a:ext cx="282185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17" name="Shape 14"/>
          <p:cNvSpPr/>
          <p:nvPr/>
        </p:nvSpPr>
        <p:spPr>
          <a:xfrm>
            <a:off x="10927046" y="2609670"/>
            <a:ext cx="3108959" cy="3267182"/>
          </a:xfrm>
          <a:prstGeom prst="roundRect">
            <a:avLst>
              <a:gd name="adj" fmla="val 4902"/>
            </a:avLst>
          </a:prstGeom>
          <a:ln w="5217">
            <a:solidFill>
              <a:srgbClr val="94A3B8"/>
            </a:solidFill>
            <a:prstDash val="dash"/>
          </a:ln>
        </p:spPr>
      </p:sp>
      <p:sp>
        <p:nvSpPr>
          <p:cNvPr id="18" name="Text 15"/>
          <p:cNvSpPr/>
          <p:nvPr/>
        </p:nvSpPr>
        <p:spPr>
          <a:xfrm>
            <a:off x="11198904" y="2881528"/>
            <a:ext cx="282176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Database</a:t>
            </a:r>
            <a:endParaRPr lang="en-US" sz="1800" dirty="0"/>
          </a:p>
        </p:txBody>
      </p:sp>
      <p:sp>
        <p:nvSpPr>
          <p:cNvPr id="19" name="Text 16"/>
          <p:cNvSpPr/>
          <p:nvPr/>
        </p:nvSpPr>
        <p:spPr>
          <a:xfrm>
            <a:off x="11198904" y="5427615"/>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20" name="Shape 17"/>
          <p:cNvSpPr/>
          <p:nvPr/>
        </p:nvSpPr>
        <p:spPr>
          <a:xfrm>
            <a:off x="14264577" y="2609670"/>
            <a:ext cx="3108959" cy="3267182"/>
          </a:xfrm>
          <a:prstGeom prst="roundRect">
            <a:avLst>
              <a:gd name="adj" fmla="val 4902"/>
            </a:avLst>
          </a:prstGeom>
          <a:ln w="5217">
            <a:solidFill>
              <a:srgbClr val="94A3B8"/>
            </a:solidFill>
            <a:prstDash val="dash"/>
          </a:ln>
        </p:spPr>
      </p:sp>
      <p:sp>
        <p:nvSpPr>
          <p:cNvPr id="21" name="Text 18"/>
          <p:cNvSpPr/>
          <p:nvPr/>
        </p:nvSpPr>
        <p:spPr>
          <a:xfrm>
            <a:off x="14536434" y="2881528"/>
            <a:ext cx="2642201" cy="559806"/>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Hosting and infrastructure</a:t>
            </a:r>
            <a:endParaRPr lang="en-US" sz="1800" dirty="0"/>
          </a:p>
        </p:txBody>
      </p:sp>
      <p:sp>
        <p:nvSpPr>
          <p:cNvPr id="22" name="Text 19"/>
          <p:cNvSpPr/>
          <p:nvPr/>
        </p:nvSpPr>
        <p:spPr>
          <a:xfrm>
            <a:off x="14536434" y="5427615"/>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23" name="Shape 20"/>
          <p:cNvSpPr/>
          <p:nvPr/>
        </p:nvSpPr>
        <p:spPr>
          <a:xfrm>
            <a:off x="914371" y="6105424"/>
            <a:ext cx="3108959" cy="3267182"/>
          </a:xfrm>
          <a:prstGeom prst="roundRect">
            <a:avLst>
              <a:gd name="adj" fmla="val 4902"/>
            </a:avLst>
          </a:prstGeom>
          <a:ln w="5217">
            <a:solidFill>
              <a:srgbClr val="94A3B8"/>
            </a:solidFill>
            <a:prstDash val="dash"/>
          </a:ln>
        </p:spPr>
      </p:sp>
      <p:sp>
        <p:nvSpPr>
          <p:cNvPr id="24" name="Text 21"/>
          <p:cNvSpPr/>
          <p:nvPr/>
        </p:nvSpPr>
        <p:spPr>
          <a:xfrm>
            <a:off x="1186228" y="6377282"/>
            <a:ext cx="282176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CI/CD</a:t>
            </a:r>
            <a:endParaRPr lang="en-US" sz="1800" dirty="0"/>
          </a:p>
        </p:txBody>
      </p:sp>
      <p:sp>
        <p:nvSpPr>
          <p:cNvPr id="25" name="Text 22"/>
          <p:cNvSpPr/>
          <p:nvPr/>
        </p:nvSpPr>
        <p:spPr>
          <a:xfrm>
            <a:off x="1186228" y="8923369"/>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26" name="Shape 23"/>
          <p:cNvSpPr/>
          <p:nvPr/>
        </p:nvSpPr>
        <p:spPr>
          <a:xfrm>
            <a:off x="4251902" y="6105424"/>
            <a:ext cx="3108959" cy="3267182"/>
          </a:xfrm>
          <a:prstGeom prst="roundRect">
            <a:avLst>
              <a:gd name="adj" fmla="val 4902"/>
            </a:avLst>
          </a:prstGeom>
          <a:ln w="5217">
            <a:solidFill>
              <a:srgbClr val="94A3B8"/>
            </a:solidFill>
            <a:prstDash val="dash"/>
          </a:ln>
        </p:spPr>
      </p:sp>
      <p:sp>
        <p:nvSpPr>
          <p:cNvPr id="27" name="Text 24"/>
          <p:cNvSpPr/>
          <p:nvPr/>
        </p:nvSpPr>
        <p:spPr>
          <a:xfrm>
            <a:off x="4523760" y="6377282"/>
            <a:ext cx="282176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Monitoring</a:t>
            </a:r>
            <a:endParaRPr lang="en-US" sz="1800" dirty="0"/>
          </a:p>
        </p:txBody>
      </p:sp>
      <p:sp>
        <p:nvSpPr>
          <p:cNvPr id="28" name="Text 25"/>
          <p:cNvSpPr/>
          <p:nvPr/>
        </p:nvSpPr>
        <p:spPr>
          <a:xfrm>
            <a:off x="4523760" y="8923369"/>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29" name="Shape 26"/>
          <p:cNvSpPr/>
          <p:nvPr/>
        </p:nvSpPr>
        <p:spPr>
          <a:xfrm>
            <a:off x="7589433" y="6105424"/>
            <a:ext cx="3109040" cy="3267182"/>
          </a:xfrm>
          <a:prstGeom prst="roundRect">
            <a:avLst>
              <a:gd name="adj" fmla="val 4902"/>
            </a:avLst>
          </a:prstGeom>
          <a:ln w="5217">
            <a:solidFill>
              <a:srgbClr val="94A3B8"/>
            </a:solidFill>
            <a:prstDash val="dash"/>
          </a:ln>
        </p:spPr>
      </p:sp>
      <p:sp>
        <p:nvSpPr>
          <p:cNvPr id="30" name="Text 27"/>
          <p:cNvSpPr/>
          <p:nvPr/>
        </p:nvSpPr>
        <p:spPr>
          <a:xfrm>
            <a:off x="7861291" y="6377282"/>
            <a:ext cx="2821858" cy="298953"/>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Mobile (iOS / Android)</a:t>
            </a:r>
            <a:endParaRPr lang="en-US" sz="1800" dirty="0"/>
          </a:p>
        </p:txBody>
      </p:sp>
      <p:sp>
        <p:nvSpPr>
          <p:cNvPr id="31" name="Text 28"/>
          <p:cNvSpPr/>
          <p:nvPr/>
        </p:nvSpPr>
        <p:spPr>
          <a:xfrm>
            <a:off x="7861291" y="8923369"/>
            <a:ext cx="282185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32" name="Shape 29"/>
          <p:cNvSpPr/>
          <p:nvPr/>
        </p:nvSpPr>
        <p:spPr>
          <a:xfrm>
            <a:off x="10927046" y="6105424"/>
            <a:ext cx="3108959" cy="3267182"/>
          </a:xfrm>
          <a:prstGeom prst="roundRect">
            <a:avLst>
              <a:gd name="adj" fmla="val 4902"/>
            </a:avLst>
          </a:prstGeom>
          <a:ln w="5217">
            <a:solidFill>
              <a:srgbClr val="94A3B8"/>
            </a:solidFill>
            <a:prstDash val="dash"/>
          </a:ln>
        </p:spPr>
      </p:sp>
      <p:sp>
        <p:nvSpPr>
          <p:cNvPr id="33" name="Text 30"/>
          <p:cNvSpPr/>
          <p:nvPr/>
        </p:nvSpPr>
        <p:spPr>
          <a:xfrm>
            <a:off x="11198904" y="6377282"/>
            <a:ext cx="2642201" cy="820659"/>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Device firmware and hardware integration toolchain</a:t>
            </a:r>
            <a:endParaRPr lang="en-US" sz="1800" dirty="0"/>
          </a:p>
        </p:txBody>
      </p:sp>
      <p:sp>
        <p:nvSpPr>
          <p:cNvPr id="34" name="Text 31"/>
          <p:cNvSpPr/>
          <p:nvPr/>
        </p:nvSpPr>
        <p:spPr>
          <a:xfrm>
            <a:off x="11198904" y="8923369"/>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35" name="Shape 32"/>
          <p:cNvSpPr/>
          <p:nvPr/>
        </p:nvSpPr>
        <p:spPr>
          <a:xfrm>
            <a:off x="14264577" y="6105424"/>
            <a:ext cx="3108959" cy="3267182"/>
          </a:xfrm>
          <a:prstGeom prst="roundRect">
            <a:avLst>
              <a:gd name="adj" fmla="val 4902"/>
            </a:avLst>
          </a:prstGeom>
          <a:ln w="5217">
            <a:solidFill>
              <a:srgbClr val="94A3B8"/>
            </a:solidFill>
            <a:prstDash val="dash"/>
          </a:ln>
        </p:spPr>
      </p:sp>
      <p:sp>
        <p:nvSpPr>
          <p:cNvPr id="36" name="Text 33"/>
          <p:cNvSpPr/>
          <p:nvPr/>
        </p:nvSpPr>
        <p:spPr>
          <a:xfrm>
            <a:off x="14536434" y="6377282"/>
            <a:ext cx="2642201" cy="559806"/>
          </a:xfrm>
          <a:prstGeom prst="rect">
            <a:avLst/>
          </a:prstGeom>
          <a:noFill/>
          <a:ln/>
        </p:spPr>
        <p:txBody>
          <a:bodyPr wrap="square" lIns="25400" tIns="25400" rIns="25400" bIns="25400" rtlCol="0" anchor="t">
            <a:normAutofit/>
          </a:bodyPr>
          <a:lstStyle/>
          <a:p>
            <a:pPr algn="l" indent="0" marL="0">
              <a:buNone/>
            </a:pPr>
            <a:r>
              <a:rPr lang="en-US" sz="1800" b="1" dirty="0">
                <a:solidFill>
                  <a:srgbClr val="0B132B"/>
                </a:solidFill>
                <a:latin typeface="Arial" pitchFamily="34" charset="0"/>
                <a:ea typeface="Arial" pitchFamily="34" charset="-122"/>
                <a:cs typeface="Arial" pitchFamily="34" charset="-120"/>
              </a:rPr>
              <a:t>AI and automation tooling</a:t>
            </a:r>
            <a:endParaRPr lang="en-US" sz="1800" dirty="0"/>
          </a:p>
        </p:txBody>
      </p:sp>
      <p:sp>
        <p:nvSpPr>
          <p:cNvPr id="37" name="Text 34"/>
          <p:cNvSpPr/>
          <p:nvPr/>
        </p:nvSpPr>
        <p:spPr>
          <a:xfrm>
            <a:off x="14536434" y="8923369"/>
            <a:ext cx="2821768" cy="21548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94A3B8"/>
                </a:solidFill>
                <a:latin typeface="Arial" pitchFamily="34" charset="0"/>
                <a:ea typeface="Arial" pitchFamily="34" charset="-122"/>
                <a:cs typeface="Arial" pitchFamily="34" charset="-120"/>
              </a:rPr>
              <a:t>AWAITING INPUT</a:t>
            </a:r>
            <a:endParaRPr lang="en-US" sz="1125" dirty="0"/>
          </a:p>
        </p:txBody>
      </p:sp>
      <p:sp>
        <p:nvSpPr>
          <p:cNvPr id="38" name="Shape 35"/>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2408" y="609010"/>
            <a:ext cx="717409"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20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twelve-month development plan</a:t>
            </a:r>
            <a:endParaRPr lang="en-US" sz="4050" dirty="0"/>
          </a:p>
        </p:txBody>
      </p:sp>
      <p:sp>
        <p:nvSpPr>
          <p:cNvPr id="6" name="Shape 3"/>
          <p:cNvSpPr/>
          <p:nvPr/>
        </p:nvSpPr>
        <p:spPr>
          <a:xfrm>
            <a:off x="914371" y="2896119"/>
            <a:ext cx="16459247" cy="9525"/>
          </a:xfrm>
          <a:prstGeom prst="rect">
            <a:avLst/>
          </a:prstGeom>
          <a:solidFill>
            <a:srgbClr val="E2E8F0"/>
          </a:solidFill>
          <a:ln/>
        </p:spPr>
      </p:sp>
      <p:sp>
        <p:nvSpPr>
          <p:cNvPr id="7" name="Text 4"/>
          <p:cNvSpPr/>
          <p:nvPr/>
        </p:nvSpPr>
        <p:spPr>
          <a:xfrm>
            <a:off x="914371" y="2609670"/>
            <a:ext cx="440055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475569"/>
                </a:solidFill>
                <a:latin typeface="Arial" pitchFamily="34" charset="0"/>
                <a:ea typeface="Arial" pitchFamily="34" charset="-122"/>
                <a:cs typeface="Arial" pitchFamily="34" charset="-120"/>
              </a:rPr>
              <a:t>Q1 FROM APPROVAL</a:t>
            </a:r>
            <a:endParaRPr lang="en-US" sz="1200" dirty="0"/>
          </a:p>
        </p:txBody>
      </p:sp>
      <p:sp>
        <p:nvSpPr>
          <p:cNvPr id="8" name="Text 5"/>
          <p:cNvSpPr/>
          <p:nvPr/>
        </p:nvSpPr>
        <p:spPr>
          <a:xfrm>
            <a:off x="5067230" y="2609670"/>
            <a:ext cx="440064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475569"/>
                </a:solidFill>
                <a:latin typeface="Arial" pitchFamily="34" charset="0"/>
                <a:ea typeface="Arial" pitchFamily="34" charset="-122"/>
                <a:cs typeface="Arial" pitchFamily="34" charset="-120"/>
              </a:rPr>
              <a:t>Q2</a:t>
            </a:r>
            <a:endParaRPr lang="en-US" sz="1200" dirty="0"/>
          </a:p>
        </p:txBody>
      </p:sp>
      <p:sp>
        <p:nvSpPr>
          <p:cNvPr id="9" name="Text 6"/>
          <p:cNvSpPr/>
          <p:nvPr/>
        </p:nvSpPr>
        <p:spPr>
          <a:xfrm>
            <a:off x="9220171" y="2609670"/>
            <a:ext cx="440055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475569"/>
                </a:solidFill>
                <a:latin typeface="Arial" pitchFamily="34" charset="0"/>
                <a:ea typeface="Arial" pitchFamily="34" charset="-122"/>
                <a:cs typeface="Arial" pitchFamily="34" charset="-120"/>
              </a:rPr>
              <a:t>Q3</a:t>
            </a:r>
            <a:endParaRPr lang="en-US" sz="1200" dirty="0"/>
          </a:p>
        </p:txBody>
      </p:sp>
      <p:sp>
        <p:nvSpPr>
          <p:cNvPr id="10" name="Text 7"/>
          <p:cNvSpPr/>
          <p:nvPr/>
        </p:nvSpPr>
        <p:spPr>
          <a:xfrm>
            <a:off x="13373030" y="2609670"/>
            <a:ext cx="4400645"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475569"/>
                </a:solidFill>
                <a:latin typeface="Arial" pitchFamily="34" charset="0"/>
                <a:ea typeface="Arial" pitchFamily="34" charset="-122"/>
                <a:cs typeface="Arial" pitchFamily="34" charset="-120"/>
              </a:rPr>
              <a:t>Q4</a:t>
            </a:r>
            <a:endParaRPr lang="en-US" sz="1200" dirty="0"/>
          </a:p>
        </p:txBody>
      </p:sp>
      <p:sp>
        <p:nvSpPr>
          <p:cNvPr id="11" name="Shape 8"/>
          <p:cNvSpPr/>
          <p:nvPr/>
        </p:nvSpPr>
        <p:spPr>
          <a:xfrm>
            <a:off x="914371" y="3053691"/>
            <a:ext cx="8153446" cy="476220"/>
          </a:xfrm>
          <a:prstGeom prst="roundRect">
            <a:avLst>
              <a:gd name="adj" fmla="val 16001"/>
            </a:avLst>
          </a:prstGeom>
          <a:solidFill>
            <a:srgbClr val="0B132B"/>
          </a:solidFill>
          <a:ln/>
        </p:spPr>
      </p:sp>
      <p:sp>
        <p:nvSpPr>
          <p:cNvPr id="12" name="Text 9"/>
          <p:cNvSpPr/>
          <p:nvPr/>
        </p:nvSpPr>
        <p:spPr>
          <a:xfrm>
            <a:off x="1104871" y="3053691"/>
            <a:ext cx="8017049"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F6F8FA"/>
                </a:solidFill>
                <a:latin typeface="Arial" pitchFamily="34" charset="0"/>
                <a:ea typeface="Arial" pitchFamily="34" charset="-122"/>
                <a:cs typeface="Arial" pitchFamily="34" charset="-120"/>
              </a:rPr>
              <a:t>8 · Multi-tenant backend for national scale</a:t>
            </a:r>
            <a:endParaRPr lang="en-US" sz="1500" dirty="0"/>
          </a:p>
        </p:txBody>
      </p:sp>
      <p:sp>
        <p:nvSpPr>
          <p:cNvPr id="13" name="Shape 10"/>
          <p:cNvSpPr/>
          <p:nvPr/>
        </p:nvSpPr>
        <p:spPr>
          <a:xfrm>
            <a:off x="914371" y="3625121"/>
            <a:ext cx="8153446" cy="476220"/>
          </a:xfrm>
          <a:prstGeom prst="roundRect">
            <a:avLst>
              <a:gd name="adj" fmla="val 16001"/>
            </a:avLst>
          </a:prstGeom>
          <a:solidFill>
            <a:srgbClr val="0B132B"/>
          </a:solidFill>
          <a:ln/>
        </p:spPr>
      </p:sp>
      <p:sp>
        <p:nvSpPr>
          <p:cNvPr id="14" name="Text 11"/>
          <p:cNvSpPr/>
          <p:nvPr/>
        </p:nvSpPr>
        <p:spPr>
          <a:xfrm>
            <a:off x="1104871" y="3625121"/>
            <a:ext cx="8017049"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F6F8FA"/>
                </a:solidFill>
                <a:latin typeface="Arial" pitchFamily="34" charset="0"/>
                <a:ea typeface="Arial" pitchFamily="34" charset="-122"/>
                <a:cs typeface="Arial" pitchFamily="34" charset="-120"/>
              </a:rPr>
              <a:t>1 · Player feed and consumer experience</a:t>
            </a:r>
            <a:endParaRPr lang="en-US" sz="1500" dirty="0"/>
          </a:p>
        </p:txBody>
      </p:sp>
      <p:sp>
        <p:nvSpPr>
          <p:cNvPr id="15" name="Shape 12"/>
          <p:cNvSpPr/>
          <p:nvPr/>
        </p:nvSpPr>
        <p:spPr>
          <a:xfrm>
            <a:off x="914371" y="4196552"/>
            <a:ext cx="4000505" cy="476220"/>
          </a:xfrm>
          <a:prstGeom prst="roundRect">
            <a:avLst>
              <a:gd name="adj" fmla="val 16001"/>
            </a:avLst>
          </a:prstGeom>
          <a:solidFill>
            <a:srgbClr val="0B132B"/>
          </a:solidFill>
          <a:ln/>
        </p:spPr>
      </p:sp>
      <p:sp>
        <p:nvSpPr>
          <p:cNvPr id="16" name="Text 13"/>
          <p:cNvSpPr/>
          <p:nvPr/>
        </p:nvSpPr>
        <p:spPr>
          <a:xfrm>
            <a:off x="1104871" y="4196552"/>
            <a:ext cx="3739520"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F6F8FA"/>
                </a:solidFill>
                <a:latin typeface="Arial" pitchFamily="34" charset="0"/>
                <a:ea typeface="Arial" pitchFamily="34" charset="-122"/>
                <a:cs typeface="Arial" pitchFamily="34" charset="-120"/>
              </a:rPr>
              <a:t>7 · AI-assisted venue onboarding</a:t>
            </a:r>
            <a:endParaRPr lang="en-US" sz="1500" dirty="0"/>
          </a:p>
        </p:txBody>
      </p:sp>
      <p:sp>
        <p:nvSpPr>
          <p:cNvPr id="17" name="Shape 14"/>
          <p:cNvSpPr/>
          <p:nvPr/>
        </p:nvSpPr>
        <p:spPr>
          <a:xfrm>
            <a:off x="5067230" y="4196552"/>
            <a:ext cx="8153446" cy="476220"/>
          </a:xfrm>
          <a:prstGeom prst="roundRect">
            <a:avLst>
              <a:gd name="adj" fmla="val 16001"/>
            </a:avLst>
          </a:prstGeom>
          <a:solidFill>
            <a:srgbClr val="ED3163"/>
          </a:solidFill>
          <a:ln/>
        </p:spPr>
      </p:sp>
      <p:sp>
        <p:nvSpPr>
          <p:cNvPr id="18" name="Text 15"/>
          <p:cNvSpPr/>
          <p:nvPr/>
        </p:nvSpPr>
        <p:spPr>
          <a:xfrm>
            <a:off x="5257730" y="4196552"/>
            <a:ext cx="8017049"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5 · Venue hardware integration</a:t>
            </a:r>
            <a:endParaRPr lang="en-US" sz="1500" dirty="0"/>
          </a:p>
        </p:txBody>
      </p:sp>
      <p:sp>
        <p:nvSpPr>
          <p:cNvPr id="19" name="Shape 16"/>
          <p:cNvSpPr/>
          <p:nvPr/>
        </p:nvSpPr>
        <p:spPr>
          <a:xfrm>
            <a:off x="5067230" y="4767983"/>
            <a:ext cx="12306387" cy="476220"/>
          </a:xfrm>
          <a:prstGeom prst="roundRect">
            <a:avLst>
              <a:gd name="adj" fmla="val 16001"/>
            </a:avLst>
          </a:prstGeom>
          <a:solidFill>
            <a:srgbClr val="ED3163"/>
          </a:solidFill>
          <a:ln/>
        </p:spPr>
      </p:sp>
      <p:sp>
        <p:nvSpPr>
          <p:cNvPr id="20" name="Text 17"/>
          <p:cNvSpPr/>
          <p:nvPr/>
        </p:nvSpPr>
        <p:spPr>
          <a:xfrm>
            <a:off x="5257730" y="4767983"/>
            <a:ext cx="12294579"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6 · Native mobile applications</a:t>
            </a:r>
            <a:endParaRPr lang="en-US" sz="1500" dirty="0"/>
          </a:p>
        </p:txBody>
      </p:sp>
      <p:sp>
        <p:nvSpPr>
          <p:cNvPr id="21" name="Shape 18"/>
          <p:cNvSpPr/>
          <p:nvPr/>
        </p:nvSpPr>
        <p:spPr>
          <a:xfrm>
            <a:off x="5067230" y="5339414"/>
            <a:ext cx="8153446" cy="476220"/>
          </a:xfrm>
          <a:prstGeom prst="roundRect">
            <a:avLst>
              <a:gd name="adj" fmla="val 16001"/>
            </a:avLst>
          </a:prstGeom>
          <a:solidFill>
            <a:srgbClr val="ED3163"/>
          </a:solidFill>
          <a:ln/>
        </p:spPr>
      </p:sp>
      <p:sp>
        <p:nvSpPr>
          <p:cNvPr id="22" name="Text 19"/>
          <p:cNvSpPr/>
          <p:nvPr/>
        </p:nvSpPr>
        <p:spPr>
          <a:xfrm>
            <a:off x="5257730" y="5339414"/>
            <a:ext cx="8017049"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4 · Automated tax reporting to the Revenue Department</a:t>
            </a:r>
            <a:endParaRPr lang="en-US" sz="1500" dirty="0"/>
          </a:p>
        </p:txBody>
      </p:sp>
      <p:sp>
        <p:nvSpPr>
          <p:cNvPr id="23" name="Shape 20"/>
          <p:cNvSpPr/>
          <p:nvPr/>
        </p:nvSpPr>
        <p:spPr>
          <a:xfrm>
            <a:off x="9220171" y="5910844"/>
            <a:ext cx="4000505" cy="476220"/>
          </a:xfrm>
          <a:prstGeom prst="roundRect">
            <a:avLst>
              <a:gd name="adj" fmla="val 16001"/>
            </a:avLst>
          </a:prstGeom>
          <a:solidFill>
            <a:srgbClr val="FDE3EA"/>
          </a:solidFill>
          <a:ln/>
        </p:spPr>
      </p:sp>
      <p:sp>
        <p:nvSpPr>
          <p:cNvPr id="24" name="Text 21"/>
          <p:cNvSpPr/>
          <p:nvPr/>
        </p:nvSpPr>
        <p:spPr>
          <a:xfrm>
            <a:off x="9410671" y="5910844"/>
            <a:ext cx="3739520"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0B132B"/>
                </a:solidFill>
                <a:latin typeface="Arial" pitchFamily="34" charset="0"/>
                <a:ea typeface="Arial" pitchFamily="34" charset="-122"/>
                <a:cs typeface="Arial" pitchFamily="34" charset="-120"/>
              </a:rPr>
              <a:t>2 · Opponent matching</a:t>
            </a:r>
            <a:endParaRPr lang="en-US" sz="1500" dirty="0"/>
          </a:p>
        </p:txBody>
      </p:sp>
      <p:sp>
        <p:nvSpPr>
          <p:cNvPr id="25" name="Shape 22"/>
          <p:cNvSpPr/>
          <p:nvPr/>
        </p:nvSpPr>
        <p:spPr>
          <a:xfrm>
            <a:off x="9220171" y="6482275"/>
            <a:ext cx="8153446" cy="476220"/>
          </a:xfrm>
          <a:prstGeom prst="roundRect">
            <a:avLst>
              <a:gd name="adj" fmla="val 16001"/>
            </a:avLst>
          </a:prstGeom>
          <a:solidFill>
            <a:srgbClr val="FDE3EA"/>
          </a:solidFill>
          <a:ln/>
        </p:spPr>
      </p:sp>
      <p:sp>
        <p:nvSpPr>
          <p:cNvPr id="26" name="Text 23"/>
          <p:cNvSpPr/>
          <p:nvPr/>
        </p:nvSpPr>
        <p:spPr>
          <a:xfrm>
            <a:off x="9410671" y="6482275"/>
            <a:ext cx="8017049" cy="514320"/>
          </a:xfrm>
          <a:prstGeom prst="rect">
            <a:avLst/>
          </a:prstGeom>
          <a:noFill/>
          <a:ln/>
        </p:spPr>
        <p:txBody>
          <a:bodyPr wrap="square" lIns="25400" tIns="25400" rIns="25400" bIns="25400" rtlCol="0" anchor="ctr">
            <a:normAutofit/>
          </a:bodyPr>
          <a:lstStyle/>
          <a:p>
            <a:pPr algn="l" indent="0" marL="0">
              <a:buNone/>
            </a:pPr>
            <a:r>
              <a:rPr lang="en-US" sz="1500" b="1" dirty="0">
                <a:solidFill>
                  <a:srgbClr val="0B132B"/>
                </a:solidFill>
                <a:latin typeface="Arial" pitchFamily="34" charset="0"/>
                <a:ea typeface="Arial" pitchFamily="34" charset="-122"/>
                <a:cs typeface="Arial" pitchFamily="34" charset="-120"/>
              </a:rPr>
              <a:t>3 · Leagues, tournaments and rankings</a:t>
            </a:r>
            <a:endParaRPr lang="en-US" sz="1500" dirty="0"/>
          </a:p>
        </p:txBody>
      </p:sp>
      <p:sp>
        <p:nvSpPr>
          <p:cNvPr id="27" name="Text 24"/>
          <p:cNvSpPr/>
          <p:nvPr/>
        </p:nvSpPr>
        <p:spPr>
          <a:xfrm>
            <a:off x="914371" y="8625915"/>
            <a:ext cx="10754024" cy="784791"/>
          </a:xfrm>
          <a:prstGeom prst="rect">
            <a:avLst/>
          </a:prstGeom>
          <a:noFill/>
          <a:ln/>
        </p:spPr>
        <p:txBody>
          <a:bodyPr wrap="square" lIns="25400" tIns="25400" rIns="25400" bIns="25400" rtlCol="0" anchor="t">
            <a:normAutofit/>
          </a:bodyPr>
          <a:lstStyle/>
          <a:p>
            <a:pPr algn="l" indent="0" marL="0">
              <a:lnSpc>
                <a:spcPct val="121304"/>
              </a:lnSpc>
              <a:buNone/>
            </a:pPr>
            <a:r>
              <a:rPr lang="en-US" sz="2100" dirty="0">
                <a:solidFill>
                  <a:srgbClr val="0B132B"/>
                </a:solidFill>
                <a:latin typeface="Arial" pitchFamily="34" charset="0"/>
                <a:ea typeface="Arial" pitchFamily="34" charset="-122"/>
                <a:cs typeface="Arial" pitchFamily="34" charset="-120"/>
              </a:rPr>
              <a:t>Built in Thailand, at the Bangkok development office, by the company's Thai engineering team.</a:t>
            </a:r>
            <a:endParaRPr lang="en-US" sz="2100" dirty="0"/>
          </a:p>
        </p:txBody>
      </p:sp>
      <p:sp>
        <p:nvSpPr>
          <p:cNvPr id="28" name="Text 25"/>
          <p:cNvSpPr/>
          <p:nvPr/>
        </p:nvSpPr>
        <p:spPr>
          <a:xfrm>
            <a:off x="11802485" y="8955242"/>
            <a:ext cx="5571132" cy="455465"/>
          </a:xfrm>
          <a:prstGeom prst="rect">
            <a:avLst/>
          </a:prstGeom>
          <a:noFill/>
          <a:ln/>
        </p:spPr>
        <p:txBody>
          <a:bodyPr wrap="square" lIns="25400" tIns="25400" rIns="25400" bIns="25400" rtlCol="0" anchor="t">
            <a:normAutofit/>
          </a:bodyPr>
          <a:lstStyle/>
          <a:p>
            <a:pPr algn="r" indent="0" marL="0">
              <a:buNone/>
            </a:pPr>
            <a:r>
              <a:rPr lang="en-US" sz="1350" dirty="0">
                <a:solidFill>
                  <a:srgbClr val="94A3B8"/>
                </a:solidFill>
                <a:latin typeface="Arial" pitchFamily="34" charset="0"/>
                <a:ea typeface="Arial" pitchFamily="34" charset="-122"/>
                <a:cs typeface="Arial" pitchFamily="34" charset="-120"/>
              </a:rPr>
              <a:t>Quarters counted from approval. Numbers refer to the eight functions on slide 15.</a:t>
            </a:r>
            <a:endParaRPr lang="en-US" sz="1350" dirty="0"/>
          </a:p>
        </p:txBody>
      </p:sp>
      <p:sp>
        <p:nvSpPr>
          <p:cNvPr id="29" name="Shape 26"/>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75123" y="609010"/>
            <a:ext cx="674694"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21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371434"/>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 · THE BUILD</a:t>
            </a:r>
            <a:endParaRPr lang="en-US" sz="1200" dirty="0"/>
          </a:p>
        </p:txBody>
      </p:sp>
      <p:sp>
        <p:nvSpPr>
          <p:cNvPr id="5" name="Text 2"/>
          <p:cNvSpPr/>
          <p:nvPr/>
        </p:nvSpPr>
        <p:spPr>
          <a:xfrm>
            <a:off x="914371" y="1657883"/>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Customers and revenue</a:t>
            </a:r>
            <a:endParaRPr lang="en-US" sz="4050" dirty="0"/>
          </a:p>
        </p:txBody>
      </p:sp>
      <p:sp>
        <p:nvSpPr>
          <p:cNvPr id="6" name="Text 3"/>
          <p:cNvSpPr/>
          <p:nvPr/>
        </p:nvSpPr>
        <p:spPr>
          <a:xfrm>
            <a:off x="914371" y="2609670"/>
            <a:ext cx="8549682"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CUSTOMERS</a:t>
            </a:r>
            <a:endParaRPr lang="en-US" sz="1200" dirty="0"/>
          </a:p>
        </p:txBody>
      </p:sp>
      <p:sp>
        <p:nvSpPr>
          <p:cNvPr id="7" name="Text 4"/>
          <p:cNvSpPr/>
          <p:nvPr/>
        </p:nvSpPr>
        <p:spPr>
          <a:xfrm>
            <a:off x="914371" y="2934187"/>
            <a:ext cx="8005611" cy="1514201"/>
          </a:xfrm>
          <a:prstGeom prst="rect">
            <a:avLst/>
          </a:prstGeom>
          <a:noFill/>
          <a:ln/>
        </p:spPr>
        <p:txBody>
          <a:bodyPr wrap="square" lIns="25400" tIns="25400" rIns="25400" bIns="25400" rtlCol="0" anchor="t">
            <a:normAutofit/>
          </a:bodyPr>
          <a:lstStyle/>
          <a:p>
            <a:pPr algn="l" indent="0" marL="0">
              <a:lnSpc>
                <a:spcPct val="136053"/>
              </a:lnSpc>
              <a:buNone/>
            </a:pPr>
            <a:r>
              <a:rPr lang="en-US" sz="1875" dirty="0">
                <a:solidFill>
                  <a:srgbClr val="475569"/>
                </a:solidFill>
                <a:latin typeface="Arial" pitchFamily="34" charset="0"/>
                <a:ea typeface="Arial" pitchFamily="34" charset="-122"/>
                <a:cs typeface="Arial" pitchFamily="34" charset="-120"/>
              </a:rPr>
              <a:t>Sports and activity venues in Thailand — Muay Thai gyms, fitness centres, padel and tennis courts, swimming pools and multi-sport facilities. On the consumer side, players who discover and book those venues through the marketplace.</a:t>
            </a:r>
            <a:endParaRPr lang="en-US" sz="1875" dirty="0"/>
          </a:p>
        </p:txBody>
      </p:sp>
      <p:sp>
        <p:nvSpPr>
          <p:cNvPr id="8" name="Text 5"/>
          <p:cNvSpPr/>
          <p:nvPr/>
        </p:nvSpPr>
        <p:spPr>
          <a:xfrm>
            <a:off x="914371" y="4791215"/>
            <a:ext cx="8549682"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REVENUE</a:t>
            </a:r>
            <a:endParaRPr lang="en-US" sz="1200" dirty="0"/>
          </a:p>
        </p:txBody>
      </p:sp>
      <p:sp>
        <p:nvSpPr>
          <p:cNvPr id="9" name="Text 6"/>
          <p:cNvSpPr/>
          <p:nvPr/>
        </p:nvSpPr>
        <p:spPr>
          <a:xfrm>
            <a:off x="914371" y="5115733"/>
            <a:ext cx="8005611" cy="1145176"/>
          </a:xfrm>
          <a:prstGeom prst="rect">
            <a:avLst/>
          </a:prstGeom>
          <a:noFill/>
          <a:ln/>
        </p:spPr>
        <p:txBody>
          <a:bodyPr wrap="square" lIns="25400" tIns="25400" rIns="25400" bIns="25400" rtlCol="0" anchor="t">
            <a:normAutofit/>
          </a:bodyPr>
          <a:lstStyle/>
          <a:p>
            <a:pPr algn="l" indent="0" marL="0">
              <a:lnSpc>
                <a:spcPct val="136053"/>
              </a:lnSpc>
              <a:buNone/>
            </a:pPr>
            <a:r>
              <a:rPr lang="en-US" sz="1875" dirty="0">
                <a:solidFill>
                  <a:srgbClr val="475569"/>
                </a:solidFill>
                <a:latin typeface="Arial" pitchFamily="34" charset="0"/>
                <a:ea typeface="Arial" pitchFamily="34" charset="-122"/>
                <a:cs typeface="Arial" pitchFamily="34" charset="-120"/>
              </a:rPr>
              <a:t>A tiered monthly software licence fee, invoiced to the venue. The fee is fixed within each band according to venue size, and is set independently of the venue's own revenue.</a:t>
            </a:r>
            <a:endParaRPr lang="en-US" sz="1875" dirty="0"/>
          </a:p>
        </p:txBody>
      </p:sp>
      <p:sp>
        <p:nvSpPr>
          <p:cNvPr id="10" name="Shape 7"/>
          <p:cNvSpPr/>
          <p:nvPr/>
        </p:nvSpPr>
        <p:spPr>
          <a:xfrm>
            <a:off x="9601179" y="2915112"/>
            <a:ext cx="7772438" cy="9525"/>
          </a:xfrm>
          <a:prstGeom prst="rect">
            <a:avLst/>
          </a:prstGeom>
          <a:solidFill>
            <a:srgbClr val="0B132B"/>
          </a:solidFill>
          <a:ln/>
        </p:spPr>
      </p:sp>
      <p:sp>
        <p:nvSpPr>
          <p:cNvPr id="11" name="Text 8"/>
          <p:cNvSpPr/>
          <p:nvPr/>
        </p:nvSpPr>
        <p:spPr>
          <a:xfrm>
            <a:off x="9601179" y="2609670"/>
            <a:ext cx="7229586"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475569"/>
                </a:solidFill>
                <a:latin typeface="Arial" pitchFamily="34" charset="0"/>
                <a:ea typeface="Arial" pitchFamily="34" charset="-122"/>
                <a:cs typeface="Arial" pitchFamily="34" charset="-120"/>
              </a:rPr>
              <a:t>LICENCE BAND</a:t>
            </a:r>
            <a:endParaRPr lang="en-US" sz="1200" dirty="0"/>
          </a:p>
        </p:txBody>
      </p:sp>
      <p:sp>
        <p:nvSpPr>
          <p:cNvPr id="12" name="Text 9"/>
          <p:cNvSpPr/>
          <p:nvPr/>
        </p:nvSpPr>
        <p:spPr>
          <a:xfrm>
            <a:off x="16173530" y="2609670"/>
            <a:ext cx="1320095" cy="210263"/>
          </a:xfrm>
          <a:prstGeom prst="rect">
            <a:avLst/>
          </a:prstGeom>
          <a:noFill/>
          <a:ln/>
        </p:spPr>
        <p:txBody>
          <a:bodyPr wrap="none" lIns="25400" tIns="25400" rIns="25400" bIns="25400" rtlCol="0" anchor="t">
            <a:normAutofit/>
          </a:bodyPr>
          <a:lstStyle/>
          <a:p>
            <a:pPr algn="l" indent="0" marL="0">
              <a:buNone/>
            </a:pPr>
            <a:r>
              <a:rPr lang="en-US" sz="1200" b="1" spc="150" kern="0" dirty="0">
                <a:solidFill>
                  <a:srgbClr val="475569"/>
                </a:solidFill>
                <a:latin typeface="Arial" pitchFamily="34" charset="0"/>
                <a:ea typeface="Arial" pitchFamily="34" charset="-122"/>
                <a:cs typeface="Arial" pitchFamily="34" charset="-120"/>
              </a:rPr>
              <a:t>THB / MONTH</a:t>
            </a:r>
            <a:endParaRPr lang="en-US" sz="1200" dirty="0"/>
          </a:p>
        </p:txBody>
      </p:sp>
      <p:sp>
        <p:nvSpPr>
          <p:cNvPr id="13" name="Shape 10"/>
          <p:cNvSpPr/>
          <p:nvPr/>
        </p:nvSpPr>
        <p:spPr>
          <a:xfrm>
            <a:off x="9601179" y="3683650"/>
            <a:ext cx="7772438" cy="9525"/>
          </a:xfrm>
          <a:prstGeom prst="rect">
            <a:avLst/>
          </a:prstGeom>
          <a:solidFill>
            <a:srgbClr val="E2E8F0"/>
          </a:solidFill>
          <a:ln/>
        </p:spPr>
      </p:sp>
      <p:sp>
        <p:nvSpPr>
          <p:cNvPr id="14" name="Text 11"/>
          <p:cNvSpPr/>
          <p:nvPr/>
        </p:nvSpPr>
        <p:spPr>
          <a:xfrm>
            <a:off x="9601179" y="3129827"/>
            <a:ext cx="7649951"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Starter</a:t>
            </a:r>
            <a:endParaRPr lang="en-US" sz="2250" dirty="0"/>
          </a:p>
        </p:txBody>
      </p:sp>
      <p:sp>
        <p:nvSpPr>
          <p:cNvPr id="15" name="Text 12"/>
          <p:cNvSpPr/>
          <p:nvPr/>
        </p:nvSpPr>
        <p:spPr>
          <a:xfrm>
            <a:off x="16555680" y="3129827"/>
            <a:ext cx="894137"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1,000</a:t>
            </a:r>
            <a:endParaRPr lang="en-US" sz="2250" dirty="0"/>
          </a:p>
        </p:txBody>
      </p:sp>
      <p:sp>
        <p:nvSpPr>
          <p:cNvPr id="16" name="Shape 13"/>
          <p:cNvSpPr/>
          <p:nvPr/>
        </p:nvSpPr>
        <p:spPr>
          <a:xfrm>
            <a:off x="9601179" y="4452188"/>
            <a:ext cx="7772438" cy="9525"/>
          </a:xfrm>
          <a:prstGeom prst="rect">
            <a:avLst/>
          </a:prstGeom>
          <a:solidFill>
            <a:srgbClr val="E2E8F0"/>
          </a:solidFill>
          <a:ln/>
        </p:spPr>
      </p:sp>
      <p:sp>
        <p:nvSpPr>
          <p:cNvPr id="17" name="Text 14"/>
          <p:cNvSpPr/>
          <p:nvPr/>
        </p:nvSpPr>
        <p:spPr>
          <a:xfrm>
            <a:off x="9601179" y="3898365"/>
            <a:ext cx="7649951"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Growth</a:t>
            </a:r>
            <a:endParaRPr lang="en-US" sz="2250" dirty="0"/>
          </a:p>
        </p:txBody>
      </p:sp>
      <p:sp>
        <p:nvSpPr>
          <p:cNvPr id="18" name="Text 15"/>
          <p:cNvSpPr/>
          <p:nvPr/>
        </p:nvSpPr>
        <p:spPr>
          <a:xfrm>
            <a:off x="16555680" y="3898365"/>
            <a:ext cx="894137"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2,000</a:t>
            </a:r>
            <a:endParaRPr lang="en-US" sz="2250" dirty="0"/>
          </a:p>
        </p:txBody>
      </p:sp>
      <p:sp>
        <p:nvSpPr>
          <p:cNvPr id="19" name="Shape 16"/>
          <p:cNvSpPr/>
          <p:nvPr/>
        </p:nvSpPr>
        <p:spPr>
          <a:xfrm>
            <a:off x="9601179" y="5220726"/>
            <a:ext cx="7772438" cy="9525"/>
          </a:xfrm>
          <a:prstGeom prst="rect">
            <a:avLst/>
          </a:prstGeom>
          <a:solidFill>
            <a:srgbClr val="E2E8F0"/>
          </a:solidFill>
          <a:ln/>
        </p:spPr>
      </p:sp>
      <p:sp>
        <p:nvSpPr>
          <p:cNvPr id="20" name="Text 17"/>
          <p:cNvSpPr/>
          <p:nvPr/>
        </p:nvSpPr>
        <p:spPr>
          <a:xfrm>
            <a:off x="9601179" y="4666903"/>
            <a:ext cx="7649951"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Professional</a:t>
            </a:r>
            <a:endParaRPr lang="en-US" sz="2250" dirty="0"/>
          </a:p>
        </p:txBody>
      </p:sp>
      <p:sp>
        <p:nvSpPr>
          <p:cNvPr id="21" name="Text 18"/>
          <p:cNvSpPr/>
          <p:nvPr/>
        </p:nvSpPr>
        <p:spPr>
          <a:xfrm>
            <a:off x="16555680" y="4666903"/>
            <a:ext cx="894137"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5,000</a:t>
            </a:r>
            <a:endParaRPr lang="en-US" sz="2250" dirty="0"/>
          </a:p>
        </p:txBody>
      </p:sp>
      <p:sp>
        <p:nvSpPr>
          <p:cNvPr id="22" name="Shape 19"/>
          <p:cNvSpPr/>
          <p:nvPr/>
        </p:nvSpPr>
        <p:spPr>
          <a:xfrm>
            <a:off x="9601179" y="5989263"/>
            <a:ext cx="7772438" cy="9525"/>
          </a:xfrm>
          <a:prstGeom prst="rect">
            <a:avLst/>
          </a:prstGeom>
          <a:solidFill>
            <a:srgbClr val="E2E8F0"/>
          </a:solidFill>
          <a:ln/>
        </p:spPr>
      </p:sp>
      <p:sp>
        <p:nvSpPr>
          <p:cNvPr id="23" name="Text 20"/>
          <p:cNvSpPr/>
          <p:nvPr/>
        </p:nvSpPr>
        <p:spPr>
          <a:xfrm>
            <a:off x="9601179" y="5435440"/>
            <a:ext cx="6668533"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Enterprise</a:t>
            </a:r>
            <a:endParaRPr lang="en-US" sz="2250" dirty="0"/>
          </a:p>
        </p:txBody>
      </p:sp>
      <p:sp>
        <p:nvSpPr>
          <p:cNvPr id="24" name="Text 21"/>
          <p:cNvSpPr/>
          <p:nvPr/>
        </p:nvSpPr>
        <p:spPr>
          <a:xfrm>
            <a:off x="15663481" y="5435440"/>
            <a:ext cx="1881149" cy="382426"/>
          </a:xfrm>
          <a:prstGeom prst="rect">
            <a:avLst/>
          </a:prstGeom>
          <a:noFill/>
          <a:ln/>
        </p:spPr>
        <p:txBody>
          <a:bodyPr wrap="square" lIns="25400" tIns="25400" rIns="25400" bIns="25400" rtlCol="0" anchor="t">
            <a:normAutofit/>
          </a:bodyPr>
          <a:lstStyle/>
          <a:p>
            <a:pPr algn="l" indent="0" marL="0">
              <a:buNone/>
            </a:pPr>
            <a:r>
              <a:rPr lang="en-US" sz="2250" dirty="0">
                <a:solidFill>
                  <a:srgbClr val="0B132B"/>
                </a:solidFill>
                <a:latin typeface="Arial" pitchFamily="34" charset="0"/>
                <a:ea typeface="Arial" pitchFamily="34" charset="-122"/>
                <a:cs typeface="Arial" pitchFamily="34" charset="-120"/>
              </a:rPr>
              <a:t>from 10,000</a:t>
            </a:r>
            <a:endParaRPr lang="en-US" sz="2250" dirty="0"/>
          </a:p>
        </p:txBody>
      </p:sp>
      <p:sp>
        <p:nvSpPr>
          <p:cNvPr id="25" name="Text 22"/>
          <p:cNvSpPr/>
          <p:nvPr/>
        </p:nvSpPr>
        <p:spPr>
          <a:xfrm>
            <a:off x="9601179" y="8601298"/>
            <a:ext cx="8005611" cy="809409"/>
          </a:xfrm>
          <a:prstGeom prst="rect">
            <a:avLst/>
          </a:prstGeom>
          <a:noFill/>
          <a:ln/>
        </p:spPr>
        <p:txBody>
          <a:bodyPr wrap="square" lIns="25400" tIns="25400" rIns="25400" bIns="25400" rtlCol="0" anchor="t">
            <a:normAutofit/>
          </a:bodyPr>
          <a:lstStyle/>
          <a:p>
            <a:pPr algn="l" indent="0" marL="0">
              <a:lnSpc>
                <a:spcPct val="129724"/>
              </a:lnSpc>
              <a:buNone/>
            </a:pPr>
            <a:r>
              <a:rPr lang="en-US" sz="1350" dirty="0">
                <a:solidFill>
                  <a:srgbClr val="94A3B8"/>
                </a:solidFill>
                <a:latin typeface="Arial" pitchFamily="34" charset="0"/>
                <a:ea typeface="Arial" pitchFamily="34" charset="-122"/>
                <a:cs typeface="Arial" pitchFamily="34" charset="-120"/>
              </a:rPr>
              <a:t>The company also earns payment processing income from venues using its integrated payments. That income is ordinary non-promoted income, is fully disclosed, and is taxed normally.</a:t>
            </a:r>
            <a:endParaRPr lang="en-US" sz="1350" dirty="0"/>
          </a:p>
        </p:txBody>
      </p:sp>
      <p:sp>
        <p:nvSpPr>
          <p:cNvPr id="26" name="Shape 23"/>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
          </a:blip>
          <a:stretch>
            <a:fillRect/>
          </a:stretch>
        </p:blipFill>
        <p:spPr>
          <a:xfrm>
            <a:off x="6857985" y="3402255"/>
            <a:ext cx="13334962" cy="7837162"/>
          </a:xfrm>
          <a:prstGeom prst="rect">
            <a:avLst/>
          </a:prstGeom>
        </p:spPr>
      </p:pic>
      <p:pic>
        <p:nvPicPr>
          <p:cNvPr id="3" name="Image 1" descr="preencoded.png">    </p:cNvPr>
          <p:cNvPicPr>
            <a:picLocks noChangeAspect="1"/>
          </p:cNvPicPr>
          <p:nvPr/>
        </p:nvPicPr>
        <p:blipFill>
          <a:blip r:embed="rId2"/>
          <a:stretch>
            <a:fillRect/>
          </a:stretch>
        </p:blipFill>
        <p:spPr>
          <a:xfrm>
            <a:off x="914371" y="533363"/>
            <a:ext cx="322561" cy="380927"/>
          </a:xfrm>
          <a:prstGeom prst="rect">
            <a:avLst/>
          </a:prstGeom>
        </p:spPr>
      </p:pic>
      <p:sp>
        <p:nvSpPr>
          <p:cNvPr id="4" name="Text 0"/>
          <p:cNvSpPr/>
          <p:nvPr/>
        </p:nvSpPr>
        <p:spPr>
          <a:xfrm>
            <a:off x="1332143" y="533770"/>
            <a:ext cx="1001902" cy="418130"/>
          </a:xfrm>
          <a:prstGeom prst="rect">
            <a:avLst/>
          </a:prstGeom>
          <a:noFill/>
          <a:ln/>
        </p:spPr>
        <p:txBody>
          <a:bodyPr wrap="square" lIns="25400" tIns="25400" rIns="25400" bIns="25400" rtlCol="0" anchor="t">
            <a:normAutofit/>
          </a:bodyPr>
          <a:lstStyle/>
          <a:p>
            <a:pPr algn="l" indent="0" marL="0">
              <a:lnSpc>
                <a:spcPct val="93394"/>
              </a:lnSpc>
              <a:buNone/>
            </a:pPr>
            <a:r>
              <a:rPr lang="en-US" sz="1425" b="1" dirty="0">
                <a:solidFill>
                  <a:srgbClr val="F6F8FA"/>
                </a:solidFill>
                <a:latin typeface="Arial" pitchFamily="34" charset="0"/>
                <a:ea typeface="Arial" pitchFamily="34" charset="-122"/>
                <a:cs typeface="Arial" pitchFamily="34" charset="-120"/>
              </a:rPr>
              <a:t>Education AI Group</a:t>
            </a:r>
            <a:endParaRPr lang="en-US" sz="1425" dirty="0"/>
          </a:p>
        </p:txBody>
      </p:sp>
      <p:sp>
        <p:nvSpPr>
          <p:cNvPr id="5" name="Text 1"/>
          <p:cNvSpPr/>
          <p:nvPr/>
        </p:nvSpPr>
        <p:spPr>
          <a:xfrm>
            <a:off x="16736402" y="609010"/>
            <a:ext cx="713415" cy="267651"/>
          </a:xfrm>
          <a:prstGeom prst="rect">
            <a:avLst/>
          </a:prstGeom>
          <a:noFill/>
          <a:ln/>
        </p:spPr>
        <p:txBody>
          <a:bodyPr wrap="none" lIns="25400" tIns="25400" rIns="25400" bIns="25400" rtlCol="0" anchor="t">
            <a:normAutofit/>
          </a:bodyPr>
          <a:lstStyle/>
          <a:p>
            <a:pPr algn="l" indent="0" marL="0">
              <a:buNone/>
            </a:pPr>
            <a:r>
              <a:rPr lang="en-US" sz="1500" dirty="0">
                <a:solidFill>
                  <a:srgbClr val="F6F8FA"/>
                </a:solidFill>
                <a:latin typeface="Arial" pitchFamily="34" charset="0"/>
                <a:ea typeface="Arial" pitchFamily="34" charset="-122"/>
                <a:cs typeface="Arial" pitchFamily="34" charset="-120"/>
              </a:rPr>
              <a:t>22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F6F8FA"/>
                </a:solidFill>
                <a:latin typeface="Arial" pitchFamily="34" charset="0"/>
                <a:ea typeface="Arial" pitchFamily="34" charset="-122"/>
                <a:cs typeface="Arial" pitchFamily="34" charset="-120"/>
              </a:rPr>
              <a:t>26</a:t>
            </a:r>
            <a:endParaRPr lang="en-US" sz="1500" dirty="0"/>
          </a:p>
        </p:txBody>
      </p:sp>
      <p:pic>
        <p:nvPicPr>
          <p:cNvPr id="6" name="Image 2" descr="preencoded.png">    </p:cNvPr>
          <p:cNvPicPr>
            <a:picLocks noChangeAspect="1"/>
          </p:cNvPicPr>
          <p:nvPr/>
        </p:nvPicPr>
        <p:blipFill>
          <a:blip r:embed="rId3"/>
          <a:stretch>
            <a:fillRect/>
          </a:stretch>
        </p:blipFill>
        <p:spPr>
          <a:xfrm>
            <a:off x="914371" y="3887768"/>
            <a:ext cx="2770747" cy="609581"/>
          </a:xfrm>
          <a:prstGeom prst="rect">
            <a:avLst/>
          </a:prstGeom>
        </p:spPr>
      </p:pic>
      <p:sp>
        <p:nvSpPr>
          <p:cNvPr id="7" name="Text 2"/>
          <p:cNvSpPr/>
          <p:nvPr/>
        </p:nvSpPr>
        <p:spPr>
          <a:xfrm>
            <a:off x="914371" y="4878275"/>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III — WHO WE ARE, AND WHAT THE COUNTRY GETS</a:t>
            </a:r>
            <a:endParaRPr lang="en-US" sz="1200" dirty="0"/>
          </a:p>
        </p:txBody>
      </p:sp>
      <p:sp>
        <p:nvSpPr>
          <p:cNvPr id="8" name="Text 3"/>
          <p:cNvSpPr/>
          <p:nvPr/>
        </p:nvSpPr>
        <p:spPr>
          <a:xfrm>
            <a:off x="914371" y="5279010"/>
            <a:ext cx="18105171" cy="1158219"/>
          </a:xfrm>
          <a:prstGeom prst="rect">
            <a:avLst/>
          </a:prstGeom>
          <a:noFill/>
          <a:ln/>
        </p:spPr>
        <p:txBody>
          <a:bodyPr wrap="square" lIns="25400" tIns="25400" rIns="25400" bIns="25400" rtlCol="0" anchor="t">
            <a:normAutofit/>
          </a:bodyPr>
          <a:lstStyle/>
          <a:p>
            <a:pPr algn="l" indent="0" marL="0">
              <a:lnSpc>
                <a:spcPct val="91365"/>
              </a:lnSpc>
              <a:buNone/>
            </a:pPr>
            <a:r>
              <a:rPr lang="en-US" sz="8400" b="1" spc="-90" kern="0" dirty="0">
                <a:solidFill>
                  <a:srgbClr val="F6F8FA"/>
                </a:solidFill>
                <a:latin typeface="Arial" pitchFamily="34" charset="0"/>
                <a:ea typeface="Arial" pitchFamily="34" charset="-122"/>
                <a:cs typeface="Arial" pitchFamily="34" charset="-120"/>
              </a:rPr>
              <a:t>Thailand's </a:t>
            </a:r>
            <a:pPr algn="l" indent="0" marL="0">
              <a:lnSpc>
                <a:spcPct val="91365"/>
              </a:lnSpc>
              <a:buNone/>
            </a:pPr>
            <a:r>
              <a:rPr lang="en-US" sz="8400" b="1" spc="-90" kern="0" dirty="0">
                <a:solidFill>
                  <a:srgbClr val="ED3163"/>
                </a:solidFill>
                <a:latin typeface="Arial" pitchFamily="34" charset="0"/>
                <a:ea typeface="Arial" pitchFamily="34" charset="-122"/>
                <a:cs typeface="Arial" pitchFamily="34" charset="-120"/>
              </a:rPr>
              <a:t>return</a:t>
            </a:r>
            <a:endParaRPr lang="en-US" sz="8400" dirty="0"/>
          </a:p>
        </p:txBody>
      </p:sp>
      <p:sp>
        <p:nvSpPr>
          <p:cNvPr id="9" name="Shape 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4934" y="609010"/>
            <a:ext cx="714882"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23 </a:t>
            </a:r>
            <a:pPr algn="l" indent="0" marL="0">
              <a:buNone/>
            </a:pPr>
            <a:r>
              <a:rPr lang="en-US" sz="1500" dirty="0">
                <a:solidFill>
                  <a:srgbClr val="00D4C8"/>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295216"/>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0D4C8"/>
                </a:solidFill>
                <a:latin typeface="Arial" pitchFamily="34" charset="0"/>
                <a:ea typeface="Arial" pitchFamily="34" charset="-122"/>
                <a:cs typeface="Arial" pitchFamily="34" charset="-120"/>
              </a:rPr>
              <a:t>ACT III · THAILAND'S RETURN</a:t>
            </a:r>
            <a:endParaRPr lang="en-US" sz="1200" dirty="0"/>
          </a:p>
        </p:txBody>
      </p:sp>
      <p:sp>
        <p:nvSpPr>
          <p:cNvPr id="5" name="Text 2"/>
          <p:cNvSpPr/>
          <p:nvPr/>
        </p:nvSpPr>
        <p:spPr>
          <a:xfrm>
            <a:off x="914371" y="1581665"/>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Thailand dividend</a:t>
            </a:r>
            <a:endParaRPr lang="en-US" sz="4050" dirty="0"/>
          </a:p>
        </p:txBody>
      </p:sp>
      <p:sp>
        <p:nvSpPr>
          <p:cNvPr id="6" name="Text 3"/>
          <p:cNvSpPr/>
          <p:nvPr/>
        </p:nvSpPr>
        <p:spPr>
          <a:xfrm>
            <a:off x="914371" y="2400091"/>
            <a:ext cx="14668458" cy="434270"/>
          </a:xfrm>
          <a:prstGeom prst="rect">
            <a:avLst/>
          </a:prstGeom>
          <a:noFill/>
          <a:ln/>
        </p:spPr>
        <p:txBody>
          <a:bodyPr wrap="square" lIns="25400" tIns="25400" rIns="25400" bIns="25400" rtlCol="0" anchor="t">
            <a:normAutofit/>
          </a:bodyPr>
          <a:lstStyle/>
          <a:p>
            <a:pPr algn="l" indent="0" marL="0">
              <a:lnSpc>
                <a:spcPct val="113359"/>
              </a:lnSpc>
              <a:buNone/>
            </a:pPr>
            <a:r>
              <a:rPr lang="en-US" sz="2400" spc="-22" kern="0" dirty="0">
                <a:solidFill>
                  <a:srgbClr val="0B132B"/>
                </a:solidFill>
                <a:latin typeface="Arial" pitchFamily="34" charset="0"/>
                <a:ea typeface="Arial" pitchFamily="34" charset="-122"/>
                <a:cs typeface="Arial" pitchFamily="34" charset="-120"/>
              </a:rPr>
              <a:t>When a venue runs on MySportia, its whole revenue runs through one system.</a:t>
            </a:r>
            <a:endParaRPr lang="en-US" sz="2400" dirty="0"/>
          </a:p>
        </p:txBody>
      </p:sp>
      <p:sp>
        <p:nvSpPr>
          <p:cNvPr id="7" name="Shape 4"/>
          <p:cNvSpPr/>
          <p:nvPr/>
        </p:nvSpPr>
        <p:spPr>
          <a:xfrm>
            <a:off x="914371" y="3966349"/>
            <a:ext cx="3714790" cy="1795972"/>
          </a:xfrm>
          <a:prstGeom prst="roundRect">
            <a:avLst>
              <a:gd name="adj" fmla="val 8486"/>
            </a:avLst>
          </a:prstGeom>
          <a:solidFill>
            <a:srgbClr val="FFFFFF"/>
          </a:solidFill>
          <a:ln w="5217">
            <a:solidFill>
              <a:srgbClr val="E2E8F0"/>
            </a:solidFill>
            <a:prstDash val="solid"/>
          </a:ln>
        </p:spPr>
      </p:sp>
      <p:sp>
        <p:nvSpPr>
          <p:cNvPr id="8" name="Text 5"/>
          <p:cNvSpPr/>
          <p:nvPr/>
        </p:nvSpPr>
        <p:spPr>
          <a:xfrm>
            <a:off x="1186228" y="4238207"/>
            <a:ext cx="3488182"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94A3B8"/>
                </a:solidFill>
                <a:latin typeface="Arial" pitchFamily="34" charset="0"/>
                <a:ea typeface="Arial" pitchFamily="34" charset="-122"/>
                <a:cs typeface="Arial" pitchFamily="34" charset="-120"/>
              </a:rPr>
              <a:t>1</a:t>
            </a:r>
            <a:endParaRPr lang="en-US" sz="1200" dirty="0"/>
          </a:p>
        </p:txBody>
      </p:sp>
      <p:sp>
        <p:nvSpPr>
          <p:cNvPr id="9" name="Text 6"/>
          <p:cNvSpPr/>
          <p:nvPr/>
        </p:nvSpPr>
        <p:spPr>
          <a:xfrm>
            <a:off x="1186228" y="4524656"/>
            <a:ext cx="3488182" cy="346722"/>
          </a:xfrm>
          <a:prstGeom prst="rect">
            <a:avLst/>
          </a:prstGeom>
          <a:noFill/>
          <a:ln/>
        </p:spPr>
        <p:txBody>
          <a:bodyPr wrap="square" lIns="25400" tIns="25400" rIns="25400" bIns="25400" rtlCol="0" anchor="t">
            <a:normAutofit/>
          </a:bodyPr>
          <a:lstStyle/>
          <a:p>
            <a:pPr algn="l" indent="0" marL="0">
              <a:lnSpc>
                <a:spcPct val="103779"/>
              </a:lnSpc>
              <a:buNone/>
            </a:pPr>
            <a:r>
              <a:rPr lang="en-US" sz="2025" b="1" dirty="0">
                <a:solidFill>
                  <a:srgbClr val="0B132B"/>
                </a:solidFill>
                <a:latin typeface="Arial" pitchFamily="34" charset="0"/>
                <a:ea typeface="Arial" pitchFamily="34" charset="-122"/>
                <a:cs typeface="Arial" pitchFamily="34" charset="-120"/>
              </a:rPr>
              <a:t>Connected revenue</a:t>
            </a:r>
            <a:endParaRPr lang="en-US" sz="2025" dirty="0"/>
          </a:p>
        </p:txBody>
      </p:sp>
      <p:sp>
        <p:nvSpPr>
          <p:cNvPr id="10" name="Text 7"/>
          <p:cNvSpPr/>
          <p:nvPr/>
        </p:nvSpPr>
        <p:spPr>
          <a:xfrm>
            <a:off x="1186228" y="4947564"/>
            <a:ext cx="3266206" cy="58100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475569"/>
                </a:solidFill>
                <a:latin typeface="Arial" pitchFamily="34" charset="0"/>
                <a:ea typeface="Arial" pitchFamily="34" charset="-122"/>
                <a:cs typeface="Arial" pitchFamily="34" charset="-120"/>
              </a:rPr>
              <a:t>Every booking and every payment is recorded as it happens.</a:t>
            </a:r>
            <a:endParaRPr lang="en-US" sz="1425" dirty="0"/>
          </a:p>
        </p:txBody>
      </p:sp>
      <p:sp>
        <p:nvSpPr>
          <p:cNvPr id="11" name="Text 8"/>
          <p:cNvSpPr/>
          <p:nvPr/>
        </p:nvSpPr>
        <p:spPr>
          <a:xfrm>
            <a:off x="4591060" y="3966349"/>
            <a:ext cx="609563" cy="382426"/>
          </a:xfrm>
          <a:prstGeom prst="rect">
            <a:avLst/>
          </a:prstGeom>
          <a:noFill/>
          <a:ln/>
        </p:spPr>
        <p:txBody>
          <a:bodyPr wrap="square" lIns="25400" tIns="25400" rIns="25400" bIns="25400" rtlCol="0" anchor="ctr">
            <a:normAutofit/>
          </a:bodyPr>
          <a:lstStyle/>
          <a:p>
            <a:pPr algn="ctr" indent="0" marL="0">
              <a:buNone/>
            </a:pPr>
            <a:r>
              <a:rPr lang="en-US" sz="2250" dirty="0">
                <a:solidFill>
                  <a:srgbClr val="00D4C8"/>
                </a:solidFill>
                <a:latin typeface="Arial" pitchFamily="34" charset="0"/>
                <a:ea typeface="Arial" pitchFamily="34" charset="-122"/>
                <a:cs typeface="Arial" pitchFamily="34" charset="-120"/>
              </a:rPr>
              <a:t>→</a:t>
            </a:r>
            <a:endParaRPr lang="en-US" sz="2250" dirty="0"/>
          </a:p>
        </p:txBody>
      </p:sp>
      <p:sp>
        <p:nvSpPr>
          <p:cNvPr id="12" name="Shape 9"/>
          <p:cNvSpPr/>
          <p:nvPr/>
        </p:nvSpPr>
        <p:spPr>
          <a:xfrm>
            <a:off x="5162523" y="3966349"/>
            <a:ext cx="3714790" cy="2067422"/>
          </a:xfrm>
          <a:prstGeom prst="roundRect">
            <a:avLst>
              <a:gd name="adj" fmla="val 7371"/>
            </a:avLst>
          </a:prstGeom>
          <a:solidFill>
            <a:srgbClr val="FFFFFF"/>
          </a:solidFill>
          <a:ln w="5217">
            <a:solidFill>
              <a:srgbClr val="E2E8F0"/>
            </a:solidFill>
            <a:prstDash val="solid"/>
          </a:ln>
        </p:spPr>
      </p:sp>
      <p:sp>
        <p:nvSpPr>
          <p:cNvPr id="13" name="Text 10"/>
          <p:cNvSpPr/>
          <p:nvPr/>
        </p:nvSpPr>
        <p:spPr>
          <a:xfrm>
            <a:off x="5434381" y="4238207"/>
            <a:ext cx="3488182"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94A3B8"/>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5434381" y="4524656"/>
            <a:ext cx="3488182" cy="346722"/>
          </a:xfrm>
          <a:prstGeom prst="rect">
            <a:avLst/>
          </a:prstGeom>
          <a:noFill/>
          <a:ln/>
        </p:spPr>
        <p:txBody>
          <a:bodyPr wrap="square" lIns="25400" tIns="25400" rIns="25400" bIns="25400" rtlCol="0" anchor="t">
            <a:normAutofit/>
          </a:bodyPr>
          <a:lstStyle/>
          <a:p>
            <a:pPr algn="l" indent="0" marL="0">
              <a:lnSpc>
                <a:spcPct val="103779"/>
              </a:lnSpc>
              <a:buNone/>
            </a:pPr>
            <a:r>
              <a:rPr lang="en-US" sz="2025" b="1" dirty="0">
                <a:solidFill>
                  <a:srgbClr val="0B132B"/>
                </a:solidFill>
                <a:latin typeface="Arial" pitchFamily="34" charset="0"/>
                <a:ea typeface="Arial" pitchFamily="34" charset="-122"/>
                <a:cs typeface="Arial" pitchFamily="34" charset="-120"/>
              </a:rPr>
              <a:t>Automatic accounting</a:t>
            </a:r>
            <a:endParaRPr lang="en-US" sz="2025" dirty="0"/>
          </a:p>
        </p:txBody>
      </p:sp>
      <p:sp>
        <p:nvSpPr>
          <p:cNvPr id="15" name="Text 12"/>
          <p:cNvSpPr/>
          <p:nvPr/>
        </p:nvSpPr>
        <p:spPr>
          <a:xfrm>
            <a:off x="5434381" y="4947564"/>
            <a:ext cx="3266206" cy="85245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475569"/>
                </a:solidFill>
                <a:latin typeface="Arial" pitchFamily="34" charset="0"/>
                <a:ea typeface="Arial" pitchFamily="34" charset="-122"/>
                <a:cs typeface="Arial" pitchFamily="34" charset="-120"/>
              </a:rPr>
              <a:t>Accounts are produced automatically — invoices, receipts and VAT, without a bookkeeper.</a:t>
            </a:r>
            <a:endParaRPr lang="en-US" sz="1425" dirty="0"/>
          </a:p>
        </p:txBody>
      </p:sp>
      <p:sp>
        <p:nvSpPr>
          <p:cNvPr id="16" name="Text 13"/>
          <p:cNvSpPr/>
          <p:nvPr/>
        </p:nvSpPr>
        <p:spPr>
          <a:xfrm>
            <a:off x="8839213" y="3966349"/>
            <a:ext cx="609563" cy="382426"/>
          </a:xfrm>
          <a:prstGeom prst="rect">
            <a:avLst/>
          </a:prstGeom>
          <a:noFill/>
          <a:ln/>
        </p:spPr>
        <p:txBody>
          <a:bodyPr wrap="square" lIns="25400" tIns="25400" rIns="25400" bIns="25400" rtlCol="0" anchor="ctr">
            <a:normAutofit/>
          </a:bodyPr>
          <a:lstStyle/>
          <a:p>
            <a:pPr algn="ctr" indent="0" marL="0">
              <a:buNone/>
            </a:pPr>
            <a:r>
              <a:rPr lang="en-US" sz="2250" dirty="0">
                <a:solidFill>
                  <a:srgbClr val="00D4C8"/>
                </a:solidFill>
                <a:latin typeface="Arial" pitchFamily="34" charset="0"/>
                <a:ea typeface="Arial" pitchFamily="34" charset="-122"/>
                <a:cs typeface="Arial" pitchFamily="34" charset="-120"/>
              </a:rPr>
              <a:t>→</a:t>
            </a:r>
            <a:endParaRPr lang="en-US" sz="2250" dirty="0"/>
          </a:p>
        </p:txBody>
      </p:sp>
      <p:sp>
        <p:nvSpPr>
          <p:cNvPr id="17" name="Shape 14"/>
          <p:cNvSpPr/>
          <p:nvPr/>
        </p:nvSpPr>
        <p:spPr>
          <a:xfrm>
            <a:off x="9410675" y="3966349"/>
            <a:ext cx="3714790" cy="3153222"/>
          </a:xfrm>
          <a:prstGeom prst="roundRect">
            <a:avLst>
              <a:gd name="adj" fmla="val 4833"/>
            </a:avLst>
          </a:prstGeom>
          <a:solidFill>
            <a:srgbClr val="FFFFFF"/>
          </a:solidFill>
          <a:ln w="5217">
            <a:solidFill>
              <a:srgbClr val="E2E8F0"/>
            </a:solidFill>
            <a:prstDash val="solid"/>
          </a:ln>
        </p:spPr>
      </p:sp>
      <p:sp>
        <p:nvSpPr>
          <p:cNvPr id="18" name="Text 15"/>
          <p:cNvSpPr/>
          <p:nvPr/>
        </p:nvSpPr>
        <p:spPr>
          <a:xfrm>
            <a:off x="9682533" y="4238207"/>
            <a:ext cx="3488182"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94A3B8"/>
                </a:solidFill>
                <a:latin typeface="Arial" pitchFamily="34" charset="0"/>
                <a:ea typeface="Arial" pitchFamily="34" charset="-122"/>
                <a:cs typeface="Arial" pitchFamily="34" charset="-120"/>
              </a:rPr>
              <a:t>3</a:t>
            </a:r>
            <a:endParaRPr lang="en-US" sz="1200" dirty="0"/>
          </a:p>
        </p:txBody>
      </p:sp>
      <p:sp>
        <p:nvSpPr>
          <p:cNvPr id="19" name="Text 16"/>
          <p:cNvSpPr/>
          <p:nvPr/>
        </p:nvSpPr>
        <p:spPr>
          <a:xfrm>
            <a:off x="9682533" y="4524656"/>
            <a:ext cx="3488182" cy="346722"/>
          </a:xfrm>
          <a:prstGeom prst="rect">
            <a:avLst/>
          </a:prstGeom>
          <a:noFill/>
          <a:ln/>
        </p:spPr>
        <p:txBody>
          <a:bodyPr wrap="square" lIns="25400" tIns="25400" rIns="25400" bIns="25400" rtlCol="0" anchor="t">
            <a:normAutofit/>
          </a:bodyPr>
          <a:lstStyle/>
          <a:p>
            <a:pPr algn="l" indent="0" marL="0">
              <a:lnSpc>
                <a:spcPct val="103779"/>
              </a:lnSpc>
              <a:buNone/>
            </a:pPr>
            <a:r>
              <a:rPr lang="en-US" sz="2025" b="1" dirty="0">
                <a:solidFill>
                  <a:srgbClr val="0B132B"/>
                </a:solidFill>
                <a:latin typeface="Arial" pitchFamily="34" charset="0"/>
                <a:ea typeface="Arial" pitchFamily="34" charset="-122"/>
                <a:cs typeface="Arial" pitchFamily="34" charset="-120"/>
              </a:rPr>
              <a:t>Direct filing</a:t>
            </a:r>
            <a:endParaRPr lang="en-US" sz="2025" dirty="0"/>
          </a:p>
        </p:txBody>
      </p:sp>
      <p:sp>
        <p:nvSpPr>
          <p:cNvPr id="20" name="Text 17"/>
          <p:cNvSpPr/>
          <p:nvPr/>
        </p:nvSpPr>
        <p:spPr>
          <a:xfrm>
            <a:off x="9682533" y="4947564"/>
            <a:ext cx="3266206" cy="193825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475569"/>
                </a:solidFill>
                <a:latin typeface="Arial" pitchFamily="34" charset="0"/>
                <a:ea typeface="Arial" pitchFamily="34" charset="-122"/>
                <a:cs typeface="Arial" pitchFamily="34" charset="-120"/>
              </a:rPr>
              <a:t>Under this project, that extends to filing itself: automated tax reporting to the Revenue Department, prepared from the venue's own transaction records and submitted through the Department's digital channels.</a:t>
            </a:r>
            <a:endParaRPr lang="en-US" sz="1425" dirty="0"/>
          </a:p>
        </p:txBody>
      </p:sp>
      <p:sp>
        <p:nvSpPr>
          <p:cNvPr id="21" name="Text 18"/>
          <p:cNvSpPr/>
          <p:nvPr/>
        </p:nvSpPr>
        <p:spPr>
          <a:xfrm>
            <a:off x="13087365" y="3966349"/>
            <a:ext cx="609563" cy="382426"/>
          </a:xfrm>
          <a:prstGeom prst="rect">
            <a:avLst/>
          </a:prstGeom>
          <a:noFill/>
          <a:ln/>
        </p:spPr>
        <p:txBody>
          <a:bodyPr wrap="square" lIns="25400" tIns="25400" rIns="25400" bIns="25400" rtlCol="0" anchor="ctr">
            <a:normAutofit/>
          </a:bodyPr>
          <a:lstStyle/>
          <a:p>
            <a:pPr algn="ctr" indent="0" marL="0">
              <a:buNone/>
            </a:pPr>
            <a:r>
              <a:rPr lang="en-US" sz="2250" dirty="0">
                <a:solidFill>
                  <a:srgbClr val="00D4C8"/>
                </a:solidFill>
                <a:latin typeface="Arial" pitchFamily="34" charset="0"/>
                <a:ea typeface="Arial" pitchFamily="34" charset="-122"/>
                <a:cs typeface="Arial" pitchFamily="34" charset="-120"/>
              </a:rPr>
              <a:t>→</a:t>
            </a:r>
            <a:endParaRPr lang="en-US" sz="2250" dirty="0"/>
          </a:p>
        </p:txBody>
      </p:sp>
      <p:sp>
        <p:nvSpPr>
          <p:cNvPr id="22" name="Shape 19"/>
          <p:cNvSpPr/>
          <p:nvPr/>
        </p:nvSpPr>
        <p:spPr>
          <a:xfrm>
            <a:off x="13658827" y="3966349"/>
            <a:ext cx="3714790" cy="3733294"/>
          </a:xfrm>
          <a:prstGeom prst="roundRect">
            <a:avLst>
              <a:gd name="adj" fmla="val 4103"/>
            </a:avLst>
          </a:prstGeom>
          <a:solidFill>
            <a:srgbClr val="0B132B"/>
          </a:solidFill>
          <a:ln w="5217">
            <a:solidFill>
              <a:srgbClr val="0B132B"/>
            </a:solidFill>
            <a:prstDash val="solid"/>
          </a:ln>
        </p:spPr>
      </p:sp>
      <p:sp>
        <p:nvSpPr>
          <p:cNvPr id="23" name="Text 20"/>
          <p:cNvSpPr/>
          <p:nvPr/>
        </p:nvSpPr>
        <p:spPr>
          <a:xfrm>
            <a:off x="13930685" y="4238207"/>
            <a:ext cx="3488182"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00D4C8"/>
                </a:solidFill>
                <a:latin typeface="Arial" pitchFamily="34" charset="0"/>
                <a:ea typeface="Arial" pitchFamily="34" charset="-122"/>
                <a:cs typeface="Arial" pitchFamily="34" charset="-120"/>
              </a:rPr>
              <a:t>4</a:t>
            </a:r>
            <a:endParaRPr lang="en-US" sz="1200" dirty="0"/>
          </a:p>
        </p:txBody>
      </p:sp>
      <p:sp>
        <p:nvSpPr>
          <p:cNvPr id="24" name="Text 21"/>
          <p:cNvSpPr/>
          <p:nvPr/>
        </p:nvSpPr>
        <p:spPr>
          <a:xfrm>
            <a:off x="13930685" y="4524656"/>
            <a:ext cx="3266206" cy="655343"/>
          </a:xfrm>
          <a:prstGeom prst="rect">
            <a:avLst/>
          </a:prstGeom>
          <a:noFill/>
          <a:ln/>
        </p:spPr>
        <p:txBody>
          <a:bodyPr wrap="square" lIns="25400" tIns="25400" rIns="25400" bIns="25400" rtlCol="0" anchor="t">
            <a:normAutofit/>
          </a:bodyPr>
          <a:lstStyle/>
          <a:p>
            <a:pPr algn="l" indent="0" marL="0">
              <a:lnSpc>
                <a:spcPct val="103779"/>
              </a:lnSpc>
              <a:buNone/>
            </a:pPr>
            <a:r>
              <a:rPr lang="en-US" sz="2025" b="1" dirty="0">
                <a:solidFill>
                  <a:srgbClr val="F6F8FA"/>
                </a:solidFill>
                <a:latin typeface="Arial" pitchFamily="34" charset="0"/>
                <a:ea typeface="Arial" pitchFamily="34" charset="-122"/>
                <a:cs typeface="Arial" pitchFamily="34" charset="-120"/>
              </a:rPr>
              <a:t>A growing, visible tax base</a:t>
            </a:r>
            <a:endParaRPr lang="en-US" sz="2025" dirty="0"/>
          </a:p>
        </p:txBody>
      </p:sp>
      <p:sp>
        <p:nvSpPr>
          <p:cNvPr id="25" name="Text 22"/>
          <p:cNvSpPr/>
          <p:nvPr/>
        </p:nvSpPr>
        <p:spPr>
          <a:xfrm>
            <a:off x="13930685" y="5256186"/>
            <a:ext cx="3266206" cy="2209700"/>
          </a:xfrm>
          <a:prstGeom prst="rect">
            <a:avLst/>
          </a:prstGeom>
          <a:noFill/>
          <a:ln/>
        </p:spPr>
        <p:txBody>
          <a:bodyPr wrap="square" lIns="25400" tIns="25400" rIns="25400" bIns="25400" rtlCol="0" anchor="t">
            <a:normAutofit/>
          </a:bodyPr>
          <a:lstStyle/>
          <a:p>
            <a:pPr algn="l" indent="0" marL="0">
              <a:lnSpc>
                <a:spcPct val="133420"/>
              </a:lnSpc>
              <a:buNone/>
            </a:pPr>
            <a:r>
              <a:rPr lang="en-US" sz="1425" dirty="0">
                <a:solidFill>
                  <a:srgbClr val="CBD5E1"/>
                </a:solidFill>
                <a:latin typeface="Arial" pitchFamily="34" charset="0"/>
                <a:ea typeface="Arial" pitchFamily="34" charset="-122"/>
                <a:cs typeface="Arial" pitchFamily="34" charset="-120"/>
              </a:rPr>
              <a:t>Today, most of this sector runs on cash. Revenue goes unrecorded, and tax goes uncollected. A connected venue is a visible venue — and the platform gives it the tools to grow: new customers from the marketplace, automated operations, more revenue to declare.</a:t>
            </a:r>
            <a:endParaRPr lang="en-US" sz="1425" dirty="0"/>
          </a:p>
        </p:txBody>
      </p:sp>
      <p:sp>
        <p:nvSpPr>
          <p:cNvPr id="26" name="Text 23"/>
          <p:cNvSpPr/>
          <p:nvPr/>
        </p:nvSpPr>
        <p:spPr>
          <a:xfrm>
            <a:off x="914371" y="8869731"/>
            <a:ext cx="18105171" cy="540975"/>
          </a:xfrm>
          <a:prstGeom prst="rect">
            <a:avLst/>
          </a:prstGeom>
          <a:noFill/>
          <a:ln/>
        </p:spPr>
        <p:txBody>
          <a:bodyPr wrap="square" lIns="25400" tIns="25400" rIns="25400" bIns="25400" rtlCol="0" anchor="t">
            <a:normAutofit/>
          </a:bodyPr>
          <a:lstStyle/>
          <a:p>
            <a:pPr algn="l" indent="0" marL="0">
              <a:lnSpc>
                <a:spcPct val="103655"/>
              </a:lnSpc>
              <a:buNone/>
            </a:pPr>
            <a:r>
              <a:rPr lang="en-US" sz="3300" b="1" spc="-37" kern="0" dirty="0">
                <a:solidFill>
                  <a:srgbClr val="0B132B"/>
                </a:solidFill>
                <a:latin typeface="Arial" pitchFamily="34" charset="0"/>
                <a:ea typeface="Arial" pitchFamily="34" charset="-122"/>
                <a:cs typeface="Arial" pitchFamily="34" charset="-120"/>
              </a:rPr>
              <a:t>A bigger, cleaner tax base — </a:t>
            </a:r>
            <a:pPr algn="l" indent="0" marL="0">
              <a:lnSpc>
                <a:spcPct val="103655"/>
              </a:lnSpc>
              <a:buNone/>
            </a:pPr>
            <a:r>
              <a:rPr lang="en-US" sz="3300" b="1" spc="-37" kern="0" dirty="0">
                <a:solidFill>
                  <a:srgbClr val="00D4C8"/>
                </a:solidFill>
                <a:latin typeface="Arial" pitchFamily="34" charset="0"/>
                <a:ea typeface="Arial" pitchFamily="34" charset="-122"/>
                <a:cs typeface="Arial" pitchFamily="34" charset="-120"/>
              </a:rPr>
              <a:t>at no cost to the state.</a:t>
            </a:r>
            <a:endParaRPr lang="en-US" sz="3300" dirty="0"/>
          </a:p>
        </p:txBody>
      </p:sp>
      <p:sp>
        <p:nvSpPr>
          <p:cNvPr id="27" name="Shape 24"/>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2489" y="609010"/>
            <a:ext cx="717327"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24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295216"/>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III · THAILAND'S RETURN</a:t>
            </a:r>
            <a:endParaRPr lang="en-US" sz="1200" dirty="0"/>
          </a:p>
        </p:txBody>
      </p:sp>
      <p:sp>
        <p:nvSpPr>
          <p:cNvPr id="5" name="Text 2"/>
          <p:cNvSpPr/>
          <p:nvPr/>
        </p:nvSpPr>
        <p:spPr>
          <a:xfrm>
            <a:off x="914371" y="1581665"/>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The team</a:t>
            </a:r>
            <a:endParaRPr lang="en-US" sz="4050" dirty="0"/>
          </a:p>
        </p:txBody>
      </p:sp>
      <p:sp>
        <p:nvSpPr>
          <p:cNvPr id="6" name="Text 3"/>
          <p:cNvSpPr/>
          <p:nvPr/>
        </p:nvSpPr>
        <p:spPr>
          <a:xfrm>
            <a:off x="914371" y="2400091"/>
            <a:ext cx="14668458" cy="409571"/>
          </a:xfrm>
          <a:prstGeom prst="rect">
            <a:avLst/>
          </a:prstGeom>
          <a:noFill/>
          <a:ln/>
        </p:spPr>
        <p:txBody>
          <a:bodyPr wrap="square" lIns="25400" tIns="25400" rIns="25400" bIns="25400" rtlCol="0" anchor="t">
            <a:normAutofit/>
          </a:bodyPr>
          <a:lstStyle/>
          <a:p>
            <a:pPr algn="l" indent="0" marL="0">
              <a:lnSpc>
                <a:spcPct val="129462"/>
              </a:lnSpc>
              <a:buNone/>
            </a:pPr>
            <a:r>
              <a:rPr lang="en-US" sz="1950" dirty="0">
                <a:solidFill>
                  <a:srgbClr val="0B132B"/>
                </a:solidFill>
                <a:latin typeface="Arial" pitchFamily="34" charset="0"/>
                <a:ea typeface="Arial" pitchFamily="34" charset="-122"/>
                <a:cs typeface="Arial" pitchFamily="34" charset="-120"/>
              </a:rPr>
              <a:t>Education AI Group has no employees today. Every role on this slide is new employment created after approval.</a:t>
            </a:r>
            <a:endParaRPr lang="en-US" sz="1950" dirty="0"/>
          </a:p>
        </p:txBody>
      </p:sp>
      <p:sp>
        <p:nvSpPr>
          <p:cNvPr id="7" name="Shape 4"/>
          <p:cNvSpPr/>
          <p:nvPr/>
        </p:nvSpPr>
        <p:spPr>
          <a:xfrm>
            <a:off x="914371" y="3038202"/>
            <a:ext cx="5161952" cy="3390843"/>
          </a:xfrm>
          <a:prstGeom prst="roundRect">
            <a:avLst>
              <a:gd name="adj" fmla="val 4494"/>
            </a:avLst>
          </a:prstGeom>
          <a:solidFill>
            <a:srgbClr val="FFFFFF"/>
          </a:solidFill>
          <a:ln w="5217">
            <a:solidFill>
              <a:srgbClr val="E2E8F0"/>
            </a:solidFill>
            <a:prstDash val="solid"/>
          </a:ln>
        </p:spPr>
      </p:sp>
      <p:sp>
        <p:nvSpPr>
          <p:cNvPr id="8" name="Shape 5"/>
          <p:cNvSpPr/>
          <p:nvPr/>
        </p:nvSpPr>
        <p:spPr>
          <a:xfrm>
            <a:off x="1224378" y="3310060"/>
            <a:ext cx="609581" cy="609581"/>
          </a:xfrm>
          <a:prstGeom prst="ellipse">
            <a:avLst/>
          </a:prstGeom>
          <a:solidFill>
            <a:srgbClr val="0B132B"/>
          </a:solidFill>
          <a:ln/>
        </p:spPr>
      </p:sp>
      <p:sp>
        <p:nvSpPr>
          <p:cNvPr id="9" name="Text 6"/>
          <p:cNvSpPr/>
          <p:nvPr/>
        </p:nvSpPr>
        <p:spPr>
          <a:xfrm>
            <a:off x="1186278" y="3310060"/>
            <a:ext cx="685781" cy="647681"/>
          </a:xfrm>
          <a:prstGeom prst="rect">
            <a:avLst/>
          </a:prstGeom>
          <a:noFill/>
          <a:ln/>
        </p:spPr>
        <p:txBody>
          <a:bodyPr wrap="square" lIns="25400" tIns="25400" rIns="25400" bIns="25400" rtlCol="0" anchor="ctr">
            <a:normAutofit/>
          </a:bodyPr>
          <a:lstStyle/>
          <a:p>
            <a:pPr algn="ctr" indent="0" marL="0">
              <a:buNone/>
            </a:pPr>
            <a:r>
              <a:rPr lang="en-US" sz="1650" b="1" dirty="0">
                <a:solidFill>
                  <a:srgbClr val="F6F8FA"/>
                </a:solidFill>
                <a:latin typeface="Arial" pitchFamily="34" charset="0"/>
                <a:ea typeface="Arial" pitchFamily="34" charset="-122"/>
                <a:cs typeface="Arial" pitchFamily="34" charset="-120"/>
              </a:rPr>
              <a:t>JC</a:t>
            </a:r>
            <a:endParaRPr lang="en-US" sz="1650" dirty="0"/>
          </a:p>
        </p:txBody>
      </p:sp>
      <p:sp>
        <p:nvSpPr>
          <p:cNvPr id="10" name="Text 7"/>
          <p:cNvSpPr/>
          <p:nvPr/>
        </p:nvSpPr>
        <p:spPr>
          <a:xfrm>
            <a:off x="2005388" y="3327912"/>
            <a:ext cx="3570766" cy="41372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Justin Cohen</a:t>
            </a:r>
            <a:endParaRPr lang="en-US" sz="1950" dirty="0"/>
          </a:p>
        </p:txBody>
      </p:sp>
      <p:sp>
        <p:nvSpPr>
          <p:cNvPr id="11" name="Text 8"/>
          <p:cNvSpPr/>
          <p:nvPr/>
        </p:nvSpPr>
        <p:spPr>
          <a:xfrm>
            <a:off x="2005388" y="3703540"/>
            <a:ext cx="3570766" cy="236348"/>
          </a:xfrm>
          <a:prstGeom prst="rect">
            <a:avLst/>
          </a:prstGeom>
          <a:noFill/>
          <a:ln/>
        </p:spPr>
        <p:txBody>
          <a:bodyPr wrap="none" lIns="25400" tIns="25400" rIns="25400" bIns="25400" rtlCol="0" anchor="t">
            <a:normAutofit/>
          </a:bodyPr>
          <a:lstStyle/>
          <a:p>
            <a:pPr algn="l" indent="0" marL="0">
              <a:buNone/>
            </a:pPr>
            <a:r>
              <a:rPr lang="en-US" sz="1350" b="1" dirty="0">
                <a:solidFill>
                  <a:srgbClr val="475569"/>
                </a:solidFill>
                <a:latin typeface="Arial" pitchFamily="34" charset="0"/>
                <a:ea typeface="Arial" pitchFamily="34" charset="-122"/>
                <a:cs typeface="Arial" pitchFamily="34" charset="-120"/>
              </a:rPr>
              <a:t>Chief Executive Officer, authorised director</a:t>
            </a:r>
            <a:endParaRPr lang="en-US" sz="1350" dirty="0"/>
          </a:p>
        </p:txBody>
      </p:sp>
      <p:sp>
        <p:nvSpPr>
          <p:cNvPr id="12" name="Text 9"/>
          <p:cNvSpPr/>
          <p:nvPr/>
        </p:nvSpPr>
        <p:spPr>
          <a:xfrm>
            <a:off x="1224378" y="4091070"/>
            <a:ext cx="4678196" cy="1466677"/>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475569"/>
                </a:solidFill>
                <a:latin typeface="Arial" pitchFamily="34" charset="0"/>
                <a:ea typeface="Arial" pitchFamily="34" charset="-122"/>
                <a:cs typeface="Arial" pitchFamily="34" charset="-120"/>
              </a:rPr>
              <a:t>MSc Advanced Management, Leeds University. Founding and leading technology, product and consumer businesses since 2006, including hardware product development from design through manufacture.</a:t>
            </a:r>
            <a:endParaRPr lang="en-US" sz="1500" dirty="0"/>
          </a:p>
        </p:txBody>
      </p:sp>
      <p:sp>
        <p:nvSpPr>
          <p:cNvPr id="13" name="Shape 10"/>
          <p:cNvSpPr/>
          <p:nvPr/>
        </p:nvSpPr>
        <p:spPr>
          <a:xfrm>
            <a:off x="6304895" y="3038202"/>
            <a:ext cx="5161952" cy="3390843"/>
          </a:xfrm>
          <a:prstGeom prst="roundRect">
            <a:avLst>
              <a:gd name="adj" fmla="val 4494"/>
            </a:avLst>
          </a:prstGeom>
          <a:solidFill>
            <a:srgbClr val="FFFFFF"/>
          </a:solidFill>
          <a:ln w="5217">
            <a:solidFill>
              <a:srgbClr val="E2E8F0"/>
            </a:solidFill>
            <a:prstDash val="solid"/>
          </a:ln>
        </p:spPr>
      </p:sp>
      <p:sp>
        <p:nvSpPr>
          <p:cNvPr id="14" name="Shape 11"/>
          <p:cNvSpPr/>
          <p:nvPr/>
        </p:nvSpPr>
        <p:spPr>
          <a:xfrm>
            <a:off x="6614903" y="3310060"/>
            <a:ext cx="609581" cy="609581"/>
          </a:xfrm>
          <a:prstGeom prst="ellipse">
            <a:avLst/>
          </a:prstGeom>
          <a:solidFill>
            <a:srgbClr val="0B132B"/>
          </a:solidFill>
          <a:ln/>
        </p:spPr>
      </p:sp>
      <p:sp>
        <p:nvSpPr>
          <p:cNvPr id="15" name="Text 12"/>
          <p:cNvSpPr/>
          <p:nvPr/>
        </p:nvSpPr>
        <p:spPr>
          <a:xfrm>
            <a:off x="6576803" y="3310060"/>
            <a:ext cx="685781" cy="647681"/>
          </a:xfrm>
          <a:prstGeom prst="rect">
            <a:avLst/>
          </a:prstGeom>
          <a:noFill/>
          <a:ln/>
        </p:spPr>
        <p:txBody>
          <a:bodyPr wrap="square" lIns="25400" tIns="25400" rIns="25400" bIns="25400" rtlCol="0" anchor="ctr">
            <a:normAutofit/>
          </a:bodyPr>
          <a:lstStyle/>
          <a:p>
            <a:pPr algn="ctr" indent="0" marL="0">
              <a:buNone/>
            </a:pPr>
            <a:r>
              <a:rPr lang="en-US" sz="1650" b="1" dirty="0">
                <a:solidFill>
                  <a:srgbClr val="F6F8FA"/>
                </a:solidFill>
                <a:latin typeface="Arial" pitchFamily="34" charset="0"/>
                <a:ea typeface="Arial" pitchFamily="34" charset="-122"/>
                <a:cs typeface="Arial" pitchFamily="34" charset="-120"/>
              </a:rPr>
              <a:t>DB</a:t>
            </a:r>
            <a:endParaRPr lang="en-US" sz="1650" dirty="0"/>
          </a:p>
        </p:txBody>
      </p:sp>
      <p:sp>
        <p:nvSpPr>
          <p:cNvPr id="16" name="Text 13"/>
          <p:cNvSpPr/>
          <p:nvPr/>
        </p:nvSpPr>
        <p:spPr>
          <a:xfrm>
            <a:off x="7395913" y="3327912"/>
            <a:ext cx="2047573" cy="413728"/>
          </a:xfrm>
          <a:prstGeom prst="rect">
            <a:avLst/>
          </a:prstGeom>
          <a:noFill/>
          <a:ln/>
        </p:spPr>
        <p:txBody>
          <a:bodyPr wrap="square" lIns="25400" tIns="25400" rIns="25400" bIns="25400" rtlCol="0" anchor="t">
            <a:normAutofit/>
          </a:bodyPr>
          <a:lstStyle/>
          <a:p>
            <a:pPr algn="l" indent="0" marL="0">
              <a:buNone/>
            </a:pPr>
            <a:r>
              <a:rPr lang="en-US" sz="1950" b="1" dirty="0">
                <a:solidFill>
                  <a:srgbClr val="0B132B"/>
                </a:solidFill>
                <a:latin typeface="Arial" pitchFamily="34" charset="0"/>
                <a:ea typeface="Arial" pitchFamily="34" charset="-122"/>
                <a:cs typeface="Arial" pitchFamily="34" charset="-120"/>
              </a:rPr>
              <a:t>Dmytro Bodlev</a:t>
            </a:r>
            <a:endParaRPr lang="en-US" sz="1950" dirty="0"/>
          </a:p>
        </p:txBody>
      </p:sp>
      <p:sp>
        <p:nvSpPr>
          <p:cNvPr id="17" name="Text 14"/>
          <p:cNvSpPr/>
          <p:nvPr/>
        </p:nvSpPr>
        <p:spPr>
          <a:xfrm>
            <a:off x="7395913" y="3703540"/>
            <a:ext cx="2047573" cy="236348"/>
          </a:xfrm>
          <a:prstGeom prst="rect">
            <a:avLst/>
          </a:prstGeom>
          <a:noFill/>
          <a:ln/>
        </p:spPr>
        <p:txBody>
          <a:bodyPr wrap="none" lIns="25400" tIns="25400" rIns="25400" bIns="25400" rtlCol="0" anchor="t">
            <a:normAutofit/>
          </a:bodyPr>
          <a:lstStyle/>
          <a:p>
            <a:pPr algn="l" indent="0" marL="0">
              <a:buNone/>
            </a:pPr>
            <a:r>
              <a:rPr lang="en-US" sz="1350" b="1" dirty="0">
                <a:solidFill>
                  <a:srgbClr val="475569"/>
                </a:solidFill>
                <a:latin typeface="Arial" pitchFamily="34" charset="0"/>
                <a:ea typeface="Arial" pitchFamily="34" charset="-122"/>
                <a:cs typeface="Arial" pitchFamily="34" charset="-120"/>
              </a:rPr>
              <a:t>Chief Technology Officer</a:t>
            </a:r>
            <a:endParaRPr lang="en-US" sz="1350" dirty="0"/>
          </a:p>
        </p:txBody>
      </p:sp>
      <p:sp>
        <p:nvSpPr>
          <p:cNvPr id="18" name="Text 15"/>
          <p:cNvSpPr/>
          <p:nvPr/>
        </p:nvSpPr>
        <p:spPr>
          <a:xfrm>
            <a:off x="6614903" y="4091070"/>
            <a:ext cx="4678196" cy="609531"/>
          </a:xfrm>
          <a:prstGeom prst="rect">
            <a:avLst/>
          </a:prstGeom>
          <a:noFill/>
          <a:ln/>
        </p:spPr>
        <p:txBody>
          <a:bodyPr wrap="square" lIns="25400" tIns="25400" rIns="25400" bIns="25400" rtlCol="0" anchor="t">
            <a:normAutofit/>
          </a:bodyPr>
          <a:lstStyle/>
          <a:p>
            <a:pPr algn="l" indent="0" marL="0">
              <a:lnSpc>
                <a:spcPct val="130410"/>
              </a:lnSpc>
              <a:buNone/>
            </a:pPr>
            <a:r>
              <a:rPr lang="en-US" sz="1500" dirty="0">
                <a:solidFill>
                  <a:srgbClr val="475569"/>
                </a:solidFill>
                <a:latin typeface="Arial" pitchFamily="34" charset="0"/>
                <a:ea typeface="Arial" pitchFamily="34" charset="-122"/>
                <a:cs typeface="Arial" pitchFamily="34" charset="-120"/>
              </a:rPr>
              <a:t>Platform architecture and delivery. Will build and lead the Thai engineering team in Bangkok.</a:t>
            </a:r>
            <a:endParaRPr lang="en-US" sz="1500" dirty="0"/>
          </a:p>
        </p:txBody>
      </p:sp>
      <p:sp>
        <p:nvSpPr>
          <p:cNvPr id="19" name="Shape 16"/>
          <p:cNvSpPr/>
          <p:nvPr/>
        </p:nvSpPr>
        <p:spPr>
          <a:xfrm>
            <a:off x="11695420" y="3038202"/>
            <a:ext cx="5678196" cy="3390843"/>
          </a:xfrm>
          <a:prstGeom prst="roundRect">
            <a:avLst>
              <a:gd name="adj" fmla="val 4494"/>
            </a:avLst>
          </a:prstGeom>
          <a:solidFill>
            <a:srgbClr val="FFFFFF"/>
          </a:solidFill>
          <a:ln w="5217">
            <a:solidFill>
              <a:srgbClr val="E2E8F0"/>
            </a:solidFill>
            <a:prstDash val="solid"/>
          </a:ln>
        </p:spPr>
      </p:sp>
      <p:sp>
        <p:nvSpPr>
          <p:cNvPr id="20" name="Text 17"/>
          <p:cNvSpPr/>
          <p:nvPr/>
        </p:nvSpPr>
        <p:spPr>
          <a:xfrm>
            <a:off x="12005428" y="3310060"/>
            <a:ext cx="5564000" cy="205046"/>
          </a:xfrm>
          <a:prstGeom prst="rect">
            <a:avLst/>
          </a:prstGeom>
          <a:noFill/>
          <a:ln/>
        </p:spPr>
        <p:txBody>
          <a:bodyPr wrap="square" lIns="25400" tIns="25400" rIns="25400" bIns="25400" rtlCol="0" anchor="t">
            <a:normAutofit/>
          </a:bodyPr>
          <a:lstStyle/>
          <a:p>
            <a:pPr algn="l" indent="0" marL="0">
              <a:buNone/>
            </a:pPr>
            <a:r>
              <a:rPr lang="en-US" sz="1125" b="1" spc="135" kern="0" dirty="0">
                <a:solidFill>
                  <a:srgbClr val="ED3163"/>
                </a:solidFill>
                <a:latin typeface="Arial" pitchFamily="34" charset="0"/>
                <a:ea typeface="Arial" pitchFamily="34" charset="-122"/>
                <a:cs typeface="Arial" pitchFamily="34" charset="-120"/>
              </a:rPr>
              <a:t>TO BE RECRUITED AFTER APPROVAL — ROLES, NO NAMES</a:t>
            </a:r>
            <a:endParaRPr lang="en-US" sz="1125" dirty="0"/>
          </a:p>
        </p:txBody>
      </p:sp>
      <p:sp>
        <p:nvSpPr>
          <p:cNvPr id="21" name="Text 18"/>
          <p:cNvSpPr/>
          <p:nvPr/>
        </p:nvSpPr>
        <p:spPr>
          <a:xfrm>
            <a:off x="12005428" y="3648435"/>
            <a:ext cx="2266875" cy="798160"/>
          </a:xfrm>
          <a:prstGeom prst="rect">
            <a:avLst/>
          </a:prstGeom>
          <a:noFill/>
          <a:ln/>
        </p:spPr>
        <p:txBody>
          <a:bodyPr wrap="square" lIns="25400" tIns="25400" rIns="25400" bIns="25400" rtlCol="0" anchor="t">
            <a:normAutofit/>
          </a:bodyPr>
          <a:lstStyle/>
          <a:p>
            <a:pPr algn="l" indent="0" marL="0">
              <a:lnSpc>
                <a:spcPct val="124525"/>
              </a:lnSpc>
              <a:buNone/>
            </a:pPr>
            <a:r>
              <a:rPr lang="en-US" sz="1425" b="1" dirty="0">
                <a:solidFill>
                  <a:srgbClr val="0B132B"/>
                </a:solidFill>
                <a:latin typeface="Arial" pitchFamily="34" charset="0"/>
                <a:ea typeface="Arial" pitchFamily="34" charset="-122"/>
                <a:cs typeface="Arial" pitchFamily="34" charset="-120"/>
              </a:rPr>
              <a:t>Chief Operating Officer</a:t>
            </a:r>
            <a:endParaRPr lang="en-US" sz="1425" dirty="0"/>
          </a:p>
        </p:txBody>
      </p:sp>
      <p:sp>
        <p:nvSpPr>
          <p:cNvPr id="22" name="Text 19"/>
          <p:cNvSpPr/>
          <p:nvPr/>
        </p:nvSpPr>
        <p:spPr>
          <a:xfrm>
            <a:off x="14386525" y="3648435"/>
            <a:ext cx="2757397" cy="798160"/>
          </a:xfrm>
          <a:prstGeom prst="rect">
            <a:avLst/>
          </a:prstGeom>
          <a:noFill/>
          <a:ln/>
        </p:spPr>
        <p:txBody>
          <a:bodyPr wrap="square" lIns="25400" tIns="25400" rIns="25400" bIns="25400" rtlCol="0" anchor="t">
            <a:normAutofit/>
          </a:bodyPr>
          <a:lstStyle/>
          <a:p>
            <a:pPr algn="l" indent="0" marL="0">
              <a:lnSpc>
                <a:spcPct val="124525"/>
              </a:lnSpc>
              <a:buNone/>
            </a:pPr>
            <a:r>
              <a:rPr lang="en-US" sz="1425" dirty="0">
                <a:solidFill>
                  <a:srgbClr val="475569"/>
                </a:solidFill>
                <a:latin typeface="Arial" pitchFamily="34" charset="0"/>
                <a:ea typeface="Arial" pitchFamily="34" charset="-122"/>
                <a:cs typeface="Arial" pitchFamily="34" charset="-120"/>
              </a:rPr>
              <a:t>venue operations, customer support, service delivery, venue hardware deployment</a:t>
            </a:r>
            <a:endParaRPr lang="en-US" sz="1425" dirty="0"/>
          </a:p>
        </p:txBody>
      </p:sp>
      <p:sp>
        <p:nvSpPr>
          <p:cNvPr id="23" name="Text 20"/>
          <p:cNvSpPr/>
          <p:nvPr/>
        </p:nvSpPr>
        <p:spPr>
          <a:xfrm>
            <a:off x="12005428" y="4522781"/>
            <a:ext cx="2266875" cy="1051513"/>
          </a:xfrm>
          <a:prstGeom prst="rect">
            <a:avLst/>
          </a:prstGeom>
          <a:noFill/>
          <a:ln/>
        </p:spPr>
        <p:txBody>
          <a:bodyPr wrap="square" lIns="25400" tIns="25400" rIns="25400" bIns="25400" rtlCol="0" anchor="t">
            <a:normAutofit/>
          </a:bodyPr>
          <a:lstStyle/>
          <a:p>
            <a:pPr algn="l" indent="0" marL="0">
              <a:lnSpc>
                <a:spcPct val="124525"/>
              </a:lnSpc>
              <a:buNone/>
            </a:pPr>
            <a:r>
              <a:rPr lang="en-US" sz="1425" b="1" dirty="0">
                <a:solidFill>
                  <a:srgbClr val="0B132B"/>
                </a:solidFill>
                <a:latin typeface="Arial" pitchFamily="34" charset="0"/>
                <a:ea typeface="Arial" pitchFamily="34" charset="-122"/>
                <a:cs typeface="Arial" pitchFamily="34" charset="-120"/>
              </a:rPr>
              <a:t>Project Manager</a:t>
            </a:r>
            <a:endParaRPr lang="en-US" sz="1425" dirty="0"/>
          </a:p>
        </p:txBody>
      </p:sp>
      <p:sp>
        <p:nvSpPr>
          <p:cNvPr id="24" name="Text 21"/>
          <p:cNvSpPr/>
          <p:nvPr/>
        </p:nvSpPr>
        <p:spPr>
          <a:xfrm>
            <a:off x="14386525" y="4522781"/>
            <a:ext cx="2757397" cy="1051513"/>
          </a:xfrm>
          <a:prstGeom prst="rect">
            <a:avLst/>
          </a:prstGeom>
          <a:noFill/>
          <a:ln/>
        </p:spPr>
        <p:txBody>
          <a:bodyPr wrap="square" lIns="25400" tIns="25400" rIns="25400" bIns="25400" rtlCol="0" anchor="t">
            <a:normAutofit/>
          </a:bodyPr>
          <a:lstStyle/>
          <a:p>
            <a:pPr algn="l" indent="0" marL="0">
              <a:lnSpc>
                <a:spcPct val="124525"/>
              </a:lnSpc>
              <a:buNone/>
            </a:pPr>
            <a:r>
              <a:rPr lang="en-US" sz="1425" dirty="0">
                <a:solidFill>
                  <a:srgbClr val="475569"/>
                </a:solidFill>
                <a:latin typeface="Arial" pitchFamily="34" charset="0"/>
                <a:ea typeface="Arial" pitchFamily="34" charset="-122"/>
                <a:cs typeface="Arial" pitchFamily="34" charset="-120"/>
              </a:rPr>
              <a:t>delivery planning and coordination across engineering, design and testing</a:t>
            </a:r>
            <a:endParaRPr lang="en-US" sz="1425" dirty="0"/>
          </a:p>
        </p:txBody>
      </p:sp>
      <p:sp>
        <p:nvSpPr>
          <p:cNvPr id="25" name="Text 22"/>
          <p:cNvSpPr/>
          <p:nvPr/>
        </p:nvSpPr>
        <p:spPr>
          <a:xfrm>
            <a:off x="12005428" y="5650481"/>
            <a:ext cx="2266875" cy="544807"/>
          </a:xfrm>
          <a:prstGeom prst="rect">
            <a:avLst/>
          </a:prstGeom>
          <a:noFill/>
          <a:ln/>
        </p:spPr>
        <p:txBody>
          <a:bodyPr wrap="square" lIns="25400" tIns="25400" rIns="25400" bIns="25400" rtlCol="0" anchor="t">
            <a:normAutofit/>
          </a:bodyPr>
          <a:lstStyle/>
          <a:p>
            <a:pPr algn="l" indent="0" marL="0">
              <a:lnSpc>
                <a:spcPct val="124525"/>
              </a:lnSpc>
              <a:buNone/>
            </a:pPr>
            <a:r>
              <a:rPr lang="en-US" sz="1425" b="1" dirty="0">
                <a:solidFill>
                  <a:srgbClr val="0B132B"/>
                </a:solidFill>
                <a:latin typeface="Arial" pitchFamily="34" charset="0"/>
                <a:ea typeface="Arial" pitchFamily="34" charset="-122"/>
                <a:cs typeface="Arial" pitchFamily="34" charset="-120"/>
              </a:rPr>
              <a:t>Head of Sales</a:t>
            </a:r>
            <a:endParaRPr lang="en-US" sz="1425" dirty="0"/>
          </a:p>
        </p:txBody>
      </p:sp>
      <p:sp>
        <p:nvSpPr>
          <p:cNvPr id="26" name="Text 23"/>
          <p:cNvSpPr/>
          <p:nvPr/>
        </p:nvSpPr>
        <p:spPr>
          <a:xfrm>
            <a:off x="14386525" y="5650481"/>
            <a:ext cx="2757397" cy="544807"/>
          </a:xfrm>
          <a:prstGeom prst="rect">
            <a:avLst/>
          </a:prstGeom>
          <a:noFill/>
          <a:ln/>
        </p:spPr>
        <p:txBody>
          <a:bodyPr wrap="square" lIns="25400" tIns="25400" rIns="25400" bIns="25400" rtlCol="0" anchor="t">
            <a:normAutofit/>
          </a:bodyPr>
          <a:lstStyle/>
          <a:p>
            <a:pPr algn="l" indent="0" marL="0">
              <a:lnSpc>
                <a:spcPct val="124525"/>
              </a:lnSpc>
              <a:buNone/>
            </a:pPr>
            <a:r>
              <a:rPr lang="en-US" sz="1425" dirty="0">
                <a:solidFill>
                  <a:srgbClr val="475569"/>
                </a:solidFill>
                <a:latin typeface="Arial" pitchFamily="34" charset="0"/>
                <a:ea typeface="Arial" pitchFamily="34" charset="-122"/>
                <a:cs typeface="Arial" pitchFamily="34" charset="-120"/>
              </a:rPr>
              <a:t>national venue acquisition and the Thai agent network</a:t>
            </a:r>
            <a:endParaRPr lang="en-US" sz="1425" dirty="0"/>
          </a:p>
        </p:txBody>
      </p:sp>
      <p:sp>
        <p:nvSpPr>
          <p:cNvPr id="27" name="Shape 24"/>
          <p:cNvSpPr/>
          <p:nvPr/>
        </p:nvSpPr>
        <p:spPr>
          <a:xfrm>
            <a:off x="914371" y="8261863"/>
            <a:ext cx="16459247" cy="9525"/>
          </a:xfrm>
          <a:prstGeom prst="rect">
            <a:avLst/>
          </a:prstGeom>
          <a:solidFill>
            <a:srgbClr val="E2E8F0"/>
          </a:solidFill>
          <a:ln/>
        </p:spPr>
      </p:sp>
      <p:sp>
        <p:nvSpPr>
          <p:cNvPr id="28" name="Text 25"/>
          <p:cNvSpPr/>
          <p:nvPr/>
        </p:nvSpPr>
        <p:spPr>
          <a:xfrm>
            <a:off x="914371" y="8495652"/>
            <a:ext cx="4364778"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THAI ENGINEERING TEAM</a:t>
            </a:r>
            <a:endParaRPr lang="en-US" sz="1200" dirty="0"/>
          </a:p>
        </p:txBody>
      </p:sp>
      <p:sp>
        <p:nvSpPr>
          <p:cNvPr id="29" name="Text 26"/>
          <p:cNvSpPr/>
          <p:nvPr/>
        </p:nvSpPr>
        <p:spPr>
          <a:xfrm>
            <a:off x="914371" y="8637817"/>
            <a:ext cx="460143" cy="893697"/>
          </a:xfrm>
          <a:prstGeom prst="rect">
            <a:avLst/>
          </a:prstGeom>
          <a:noFill/>
          <a:ln/>
        </p:spPr>
        <p:txBody>
          <a:bodyPr wrap="square" lIns="25400" tIns="25400" rIns="25400" bIns="25400" rtlCol="0" anchor="t">
            <a:normAutofit/>
          </a:bodyPr>
          <a:lstStyle/>
          <a:p>
            <a:pPr algn="l" indent="0" marL="0">
              <a:lnSpc>
                <a:spcPct val="86554"/>
              </a:lnSpc>
              <a:buNone/>
            </a:pPr>
            <a:r>
              <a:rPr lang="en-US" sz="4800" b="1" spc="-150" kern="0" dirty="0">
                <a:solidFill>
                  <a:srgbClr val="0B132B"/>
                </a:solidFill>
                <a:latin typeface="Arial" pitchFamily="34" charset="0"/>
                <a:ea typeface="Arial" pitchFamily="34" charset="-122"/>
                <a:cs typeface="Arial" pitchFamily="34" charset="-120"/>
              </a:rPr>
              <a:t>4</a:t>
            </a:r>
            <a:endParaRPr lang="en-US" sz="4800" dirty="0"/>
          </a:p>
        </p:txBody>
      </p:sp>
      <p:sp>
        <p:nvSpPr>
          <p:cNvPr id="30" name="Text 27"/>
          <p:cNvSpPr/>
          <p:nvPr/>
        </p:nvSpPr>
        <p:spPr>
          <a:xfrm>
            <a:off x="1393525" y="9107352"/>
            <a:ext cx="619915" cy="251999"/>
          </a:xfrm>
          <a:prstGeom prst="rect">
            <a:avLst/>
          </a:prstGeom>
          <a:noFill/>
          <a:ln/>
        </p:spPr>
        <p:txBody>
          <a:bodyPr wrap="none" lIns="25400" tIns="25400" rIns="25400" bIns="25400" rtlCol="0" anchor="t">
            <a:normAutofit/>
          </a:bodyPr>
          <a:lstStyle/>
          <a:p>
            <a:pPr algn="l" indent="0" marL="0">
              <a:buNone/>
            </a:pPr>
            <a:r>
              <a:rPr lang="en-US" sz="1500" dirty="0">
                <a:solidFill>
                  <a:srgbClr val="94A3B8"/>
                </a:solidFill>
                <a:latin typeface="Arial" pitchFamily="34" charset="0"/>
                <a:ea typeface="Arial" pitchFamily="34" charset="-122"/>
                <a:cs typeface="Arial" pitchFamily="34" charset="-120"/>
              </a:rPr>
              <a:t>Year 1</a:t>
            </a:r>
            <a:endParaRPr lang="en-US" sz="1500" dirty="0"/>
          </a:p>
        </p:txBody>
      </p:sp>
      <p:sp>
        <p:nvSpPr>
          <p:cNvPr id="31" name="Text 28"/>
          <p:cNvSpPr/>
          <p:nvPr/>
        </p:nvSpPr>
        <p:spPr>
          <a:xfrm>
            <a:off x="2318167" y="8637817"/>
            <a:ext cx="449138" cy="893697"/>
          </a:xfrm>
          <a:prstGeom prst="rect">
            <a:avLst/>
          </a:prstGeom>
          <a:noFill/>
          <a:ln/>
        </p:spPr>
        <p:txBody>
          <a:bodyPr wrap="square" lIns="25400" tIns="25400" rIns="25400" bIns="25400" rtlCol="0" anchor="t">
            <a:normAutofit/>
          </a:bodyPr>
          <a:lstStyle/>
          <a:p>
            <a:pPr algn="l" indent="0" marL="0">
              <a:lnSpc>
                <a:spcPct val="86554"/>
              </a:lnSpc>
              <a:buNone/>
            </a:pPr>
            <a:r>
              <a:rPr lang="en-US" sz="4800" b="1" spc="-150" kern="0" dirty="0">
                <a:solidFill>
                  <a:srgbClr val="0B132B"/>
                </a:solidFill>
                <a:latin typeface="Arial" pitchFamily="34" charset="0"/>
                <a:ea typeface="Arial" pitchFamily="34" charset="-122"/>
                <a:cs typeface="Arial" pitchFamily="34" charset="-120"/>
              </a:rPr>
              <a:t>8</a:t>
            </a:r>
            <a:endParaRPr lang="en-US" sz="4800" dirty="0"/>
          </a:p>
        </p:txBody>
      </p:sp>
      <p:sp>
        <p:nvSpPr>
          <p:cNvPr id="32" name="Text 29"/>
          <p:cNvSpPr/>
          <p:nvPr/>
        </p:nvSpPr>
        <p:spPr>
          <a:xfrm>
            <a:off x="2786316" y="9107352"/>
            <a:ext cx="619915" cy="251999"/>
          </a:xfrm>
          <a:prstGeom prst="rect">
            <a:avLst/>
          </a:prstGeom>
          <a:noFill/>
          <a:ln/>
        </p:spPr>
        <p:txBody>
          <a:bodyPr wrap="none" lIns="25400" tIns="25400" rIns="25400" bIns="25400" rtlCol="0" anchor="t">
            <a:normAutofit/>
          </a:bodyPr>
          <a:lstStyle/>
          <a:p>
            <a:pPr algn="l" indent="0" marL="0">
              <a:buNone/>
            </a:pPr>
            <a:r>
              <a:rPr lang="en-US" sz="1500" dirty="0">
                <a:solidFill>
                  <a:srgbClr val="94A3B8"/>
                </a:solidFill>
                <a:latin typeface="Arial" pitchFamily="34" charset="0"/>
                <a:ea typeface="Arial" pitchFamily="34" charset="-122"/>
                <a:cs typeface="Arial" pitchFamily="34" charset="-120"/>
              </a:rPr>
              <a:t>Year 2</a:t>
            </a:r>
            <a:endParaRPr lang="en-US" sz="1500" dirty="0"/>
          </a:p>
        </p:txBody>
      </p:sp>
      <p:sp>
        <p:nvSpPr>
          <p:cNvPr id="33" name="Text 30"/>
          <p:cNvSpPr/>
          <p:nvPr/>
        </p:nvSpPr>
        <p:spPr>
          <a:xfrm>
            <a:off x="3710958" y="8637817"/>
            <a:ext cx="608666" cy="893697"/>
          </a:xfrm>
          <a:prstGeom prst="rect">
            <a:avLst/>
          </a:prstGeom>
          <a:noFill/>
          <a:ln/>
        </p:spPr>
        <p:txBody>
          <a:bodyPr wrap="square" lIns="25400" tIns="25400" rIns="25400" bIns="25400" rtlCol="0" anchor="t">
            <a:normAutofit/>
          </a:bodyPr>
          <a:lstStyle/>
          <a:p>
            <a:pPr algn="l" indent="0" marL="0">
              <a:lnSpc>
                <a:spcPct val="86554"/>
              </a:lnSpc>
              <a:buNone/>
            </a:pPr>
            <a:r>
              <a:rPr lang="en-US" sz="4800" b="1" spc="-150" kern="0" dirty="0">
                <a:solidFill>
                  <a:srgbClr val="0B132B"/>
                </a:solidFill>
                <a:latin typeface="Arial" pitchFamily="34" charset="0"/>
                <a:ea typeface="Arial" pitchFamily="34" charset="-122"/>
                <a:cs typeface="Arial" pitchFamily="34" charset="-120"/>
              </a:rPr>
              <a:t>12</a:t>
            </a:r>
            <a:endParaRPr lang="en-US" sz="4800" dirty="0"/>
          </a:p>
        </p:txBody>
      </p:sp>
      <p:sp>
        <p:nvSpPr>
          <p:cNvPr id="34" name="Text 31"/>
          <p:cNvSpPr/>
          <p:nvPr/>
        </p:nvSpPr>
        <p:spPr>
          <a:xfrm>
            <a:off x="4338635" y="9107352"/>
            <a:ext cx="619915" cy="251999"/>
          </a:xfrm>
          <a:prstGeom prst="rect">
            <a:avLst/>
          </a:prstGeom>
          <a:noFill/>
          <a:ln/>
        </p:spPr>
        <p:txBody>
          <a:bodyPr wrap="none" lIns="25400" tIns="25400" rIns="25400" bIns="25400" rtlCol="0" anchor="t">
            <a:normAutofit/>
          </a:bodyPr>
          <a:lstStyle/>
          <a:p>
            <a:pPr algn="l" indent="0" marL="0">
              <a:buNone/>
            </a:pPr>
            <a:r>
              <a:rPr lang="en-US" sz="1500" dirty="0">
                <a:solidFill>
                  <a:srgbClr val="94A3B8"/>
                </a:solidFill>
                <a:latin typeface="Arial" pitchFamily="34" charset="0"/>
                <a:ea typeface="Arial" pitchFamily="34" charset="-122"/>
                <a:cs typeface="Arial" pitchFamily="34" charset="-120"/>
              </a:rPr>
              <a:t>Year 3</a:t>
            </a:r>
            <a:endParaRPr lang="en-US" sz="1500" dirty="0"/>
          </a:p>
        </p:txBody>
      </p:sp>
      <p:sp>
        <p:nvSpPr>
          <p:cNvPr id="35" name="Text 32"/>
          <p:cNvSpPr/>
          <p:nvPr/>
        </p:nvSpPr>
        <p:spPr>
          <a:xfrm>
            <a:off x="5491931" y="8619802"/>
            <a:ext cx="12238136" cy="666755"/>
          </a:xfrm>
          <a:prstGeom prst="rect">
            <a:avLst/>
          </a:prstGeom>
          <a:noFill/>
          <a:ln/>
        </p:spPr>
        <p:txBody>
          <a:bodyPr wrap="square" lIns="25400" tIns="25400" rIns="25400" bIns="25400" rtlCol="0" anchor="t">
            <a:normAutofit/>
          </a:bodyPr>
          <a:lstStyle/>
          <a:p>
            <a:pPr algn="l" indent="0" marL="0">
              <a:lnSpc>
                <a:spcPct val="130977"/>
              </a:lnSpc>
              <a:buNone/>
            </a:pPr>
            <a:r>
              <a:rPr lang="en-US" sz="1650" dirty="0">
                <a:solidFill>
                  <a:srgbClr val="475569"/>
                </a:solidFill>
                <a:latin typeface="Arial" pitchFamily="34" charset="0"/>
                <a:ea typeface="Arial" pitchFamily="34" charset="-122"/>
                <a:cs typeface="Arial" pitchFamily="34" charset="-120"/>
              </a:rPr>
              <a:t>Project management, systems analysis, development, design, testing. Based at the Bangkok development office.</a:t>
            </a:r>
            <a:endParaRPr lang="en-US" sz="1650" dirty="0"/>
          </a:p>
        </p:txBody>
      </p:sp>
      <p:sp>
        <p:nvSpPr>
          <p:cNvPr id="36" name="Shape 33"/>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371" y="533363"/>
            <a:ext cx="1171229" cy="380927"/>
          </a:xfrm>
          <a:prstGeom prst="rect">
            <a:avLst/>
          </a:prstGeom>
        </p:spPr>
      </p:pic>
      <p:sp>
        <p:nvSpPr>
          <p:cNvPr id="3" name="Text 0"/>
          <p:cNvSpPr/>
          <p:nvPr/>
        </p:nvSpPr>
        <p:spPr>
          <a:xfrm>
            <a:off x="16739582" y="609010"/>
            <a:ext cx="710235" cy="267651"/>
          </a:xfrm>
          <a:prstGeom prst="rect">
            <a:avLst/>
          </a:prstGeom>
          <a:noFill/>
          <a:ln/>
        </p:spPr>
        <p:txBody>
          <a:bodyPr wrap="none" lIns="25400" tIns="25400" rIns="25400" bIns="25400" rtlCol="0" anchor="t">
            <a:normAutofit/>
          </a:bodyPr>
          <a:lstStyle/>
          <a:p>
            <a:pPr algn="l" indent="0" marL="0">
              <a:buNone/>
            </a:pPr>
            <a:r>
              <a:rPr lang="en-US" sz="1500" dirty="0">
                <a:solidFill>
                  <a:srgbClr val="0B132B"/>
                </a:solidFill>
                <a:latin typeface="Arial" pitchFamily="34" charset="0"/>
                <a:ea typeface="Arial" pitchFamily="34" charset="-122"/>
                <a:cs typeface="Arial" pitchFamily="34" charset="-120"/>
              </a:rPr>
              <a:t>25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0B132B"/>
                </a:solidFill>
                <a:latin typeface="Arial" pitchFamily="34" charset="0"/>
                <a:ea typeface="Arial" pitchFamily="34" charset="-122"/>
                <a:cs typeface="Arial" pitchFamily="34" charset="-120"/>
              </a:rPr>
              <a:t>26</a:t>
            </a:r>
            <a:endParaRPr lang="en-US" sz="1500" dirty="0"/>
          </a:p>
        </p:txBody>
      </p:sp>
      <p:sp>
        <p:nvSpPr>
          <p:cNvPr id="4" name="Text 1"/>
          <p:cNvSpPr/>
          <p:nvPr/>
        </p:nvSpPr>
        <p:spPr>
          <a:xfrm>
            <a:off x="914371" y="1295216"/>
            <a:ext cx="18105171" cy="210263"/>
          </a:xfrm>
          <a:prstGeom prst="rect">
            <a:avLst/>
          </a:prstGeom>
          <a:noFill/>
          <a:ln/>
        </p:spPr>
        <p:txBody>
          <a:bodyPr wrap="square" lIns="25400" tIns="25400" rIns="25400" bIns="25400" rtlCol="0" anchor="t">
            <a:normAutofit/>
          </a:bodyPr>
          <a:lstStyle/>
          <a:p>
            <a:pPr algn="l" indent="0" marL="0">
              <a:buNone/>
            </a:pPr>
            <a:r>
              <a:rPr lang="en-US" sz="1200" b="1" spc="150" kern="0" dirty="0">
                <a:solidFill>
                  <a:srgbClr val="ED3163"/>
                </a:solidFill>
                <a:latin typeface="Arial" pitchFamily="34" charset="0"/>
                <a:ea typeface="Arial" pitchFamily="34" charset="-122"/>
                <a:cs typeface="Arial" pitchFamily="34" charset="-120"/>
              </a:rPr>
              <a:t>ACT III · THAILAND'S RETURN</a:t>
            </a:r>
            <a:endParaRPr lang="en-US" sz="1200" dirty="0"/>
          </a:p>
        </p:txBody>
      </p:sp>
      <p:sp>
        <p:nvSpPr>
          <p:cNvPr id="5" name="Text 2"/>
          <p:cNvSpPr/>
          <p:nvPr/>
        </p:nvSpPr>
        <p:spPr>
          <a:xfrm>
            <a:off x="914371" y="1581665"/>
            <a:ext cx="18105171" cy="629584"/>
          </a:xfrm>
          <a:prstGeom prst="rect">
            <a:avLst/>
          </a:prstGeom>
          <a:noFill/>
          <a:ln/>
        </p:spPr>
        <p:txBody>
          <a:bodyPr wrap="square" lIns="25400" tIns="25400" rIns="25400" bIns="25400" rtlCol="0" anchor="t">
            <a:normAutofit/>
          </a:bodyPr>
          <a:lstStyle/>
          <a:p>
            <a:pPr algn="l" indent="0" marL="0">
              <a:lnSpc>
                <a:spcPct val="100335"/>
              </a:lnSpc>
              <a:buNone/>
            </a:pPr>
            <a:r>
              <a:rPr lang="en-US" sz="4050" b="1" spc="-22" kern="0" dirty="0">
                <a:solidFill>
                  <a:srgbClr val="0B132B"/>
                </a:solidFill>
                <a:latin typeface="Arial" pitchFamily="34" charset="0"/>
                <a:ea typeface="Arial" pitchFamily="34" charset="-122"/>
                <a:cs typeface="Arial" pitchFamily="34" charset="-120"/>
              </a:rPr>
              <a:t>Investment, employment and what Thailand gets</a:t>
            </a:r>
            <a:endParaRPr lang="en-US" sz="4050" dirty="0"/>
          </a:p>
        </p:txBody>
      </p:sp>
      <p:sp>
        <p:nvSpPr>
          <p:cNvPr id="6" name="Shape 3"/>
          <p:cNvSpPr/>
          <p:nvPr/>
        </p:nvSpPr>
        <p:spPr>
          <a:xfrm>
            <a:off x="914371" y="2400091"/>
            <a:ext cx="7238994" cy="9525"/>
          </a:xfrm>
          <a:prstGeom prst="rect">
            <a:avLst/>
          </a:prstGeom>
          <a:solidFill>
            <a:srgbClr val="E2E8F0"/>
          </a:solidFill>
          <a:ln/>
        </p:spPr>
      </p:sp>
      <p:sp>
        <p:nvSpPr>
          <p:cNvPr id="7" name="Text 4"/>
          <p:cNvSpPr/>
          <p:nvPr/>
        </p:nvSpPr>
        <p:spPr>
          <a:xfrm>
            <a:off x="914371" y="2614806"/>
            <a:ext cx="3457515" cy="723899"/>
          </a:xfrm>
          <a:prstGeom prst="rect">
            <a:avLst/>
          </a:prstGeom>
          <a:noFill/>
          <a:ln/>
        </p:spPr>
        <p:txBody>
          <a:bodyPr wrap="square" lIns="25400" tIns="25400" rIns="25400" bIns="25400" rtlCol="0" anchor="t">
            <a:normAutofit/>
          </a:bodyPr>
          <a:lstStyle/>
          <a:p>
            <a:pPr algn="l" indent="0" marL="0">
              <a:lnSpc>
                <a:spcPct val="87055"/>
              </a:lnSpc>
              <a:buNone/>
            </a:pPr>
            <a:r>
              <a:rPr lang="en-US" sz="5400" b="1" spc="-150" kern="0" dirty="0">
                <a:solidFill>
                  <a:srgbClr val="0B132B"/>
                </a:solidFill>
                <a:latin typeface="Arial" pitchFamily="34" charset="0"/>
                <a:ea typeface="Arial" pitchFamily="34" charset="-122"/>
                <a:cs typeface="Arial" pitchFamily="34" charset="-120"/>
              </a:rPr>
              <a:t>5.65</a:t>
            </a:r>
            <a:pPr algn="l" indent="0" marL="0">
              <a:lnSpc>
                <a:spcPct val="87055"/>
              </a:lnSpc>
              <a:buNone/>
            </a:pPr>
            <a:r>
              <a:rPr lang="en-US" sz="3000" b="1" spc="-150" kern="0" dirty="0">
                <a:solidFill>
                  <a:srgbClr val="ED3163"/>
                </a:solidFill>
                <a:latin typeface="Arial" pitchFamily="34" charset="0"/>
                <a:ea typeface="Arial" pitchFamily="34" charset="-122"/>
                <a:cs typeface="Arial" pitchFamily="34" charset="-120"/>
              </a:rPr>
              <a:t>M THB</a:t>
            </a:r>
            <a:endParaRPr lang="en-US" sz="5400" dirty="0"/>
          </a:p>
        </p:txBody>
      </p:sp>
      <p:sp>
        <p:nvSpPr>
          <p:cNvPr id="8" name="Text 5"/>
          <p:cNvSpPr/>
          <p:nvPr/>
        </p:nvSpPr>
        <p:spPr>
          <a:xfrm>
            <a:off x="4286139" y="2974783"/>
            <a:ext cx="4253948" cy="331478"/>
          </a:xfrm>
          <a:prstGeom prst="rect">
            <a:avLst/>
          </a:prstGeom>
          <a:noFill/>
          <a:ln/>
        </p:spPr>
        <p:txBody>
          <a:bodyPr wrap="square" lIns="25400" tIns="25400" rIns="25400" bIns="25400" rtlCol="0" anchor="t">
            <a:normAutofit/>
          </a:bodyPr>
          <a:lstStyle/>
          <a:p>
            <a:pPr algn="l" indent="0" marL="0">
              <a:lnSpc>
                <a:spcPct val="122245"/>
              </a:lnSpc>
              <a:buNone/>
            </a:pPr>
            <a:r>
              <a:rPr lang="en-US" sz="1650" dirty="0">
                <a:solidFill>
                  <a:srgbClr val="475569"/>
                </a:solidFill>
                <a:latin typeface="Arial" pitchFamily="34" charset="0"/>
                <a:ea typeface="Arial" pitchFamily="34" charset="-122"/>
                <a:cs typeface="Arial" pitchFamily="34" charset="-120"/>
              </a:rPr>
              <a:t>total project investment</a:t>
            </a:r>
            <a:endParaRPr lang="en-US" sz="1650" dirty="0"/>
          </a:p>
        </p:txBody>
      </p:sp>
      <p:sp>
        <p:nvSpPr>
          <p:cNvPr id="9" name="Shape 6"/>
          <p:cNvSpPr/>
          <p:nvPr/>
        </p:nvSpPr>
        <p:spPr>
          <a:xfrm>
            <a:off x="914371" y="3510101"/>
            <a:ext cx="7238994" cy="9525"/>
          </a:xfrm>
          <a:prstGeom prst="rect">
            <a:avLst/>
          </a:prstGeom>
          <a:solidFill>
            <a:srgbClr val="E2E8F0"/>
          </a:solidFill>
          <a:ln/>
        </p:spPr>
      </p:sp>
      <p:sp>
        <p:nvSpPr>
          <p:cNvPr id="10" name="Text 7"/>
          <p:cNvSpPr/>
          <p:nvPr/>
        </p:nvSpPr>
        <p:spPr>
          <a:xfrm>
            <a:off x="914371" y="3724816"/>
            <a:ext cx="3457515" cy="609612"/>
          </a:xfrm>
          <a:prstGeom prst="rect">
            <a:avLst/>
          </a:prstGeom>
          <a:noFill/>
          <a:ln/>
        </p:spPr>
        <p:txBody>
          <a:bodyPr wrap="square" lIns="25400" tIns="25400" rIns="25400" bIns="25400" rtlCol="0" anchor="t">
            <a:normAutofit/>
          </a:bodyPr>
          <a:lstStyle/>
          <a:p>
            <a:pPr algn="l" indent="0" marL="0">
              <a:lnSpc>
                <a:spcPct val="86940"/>
              </a:lnSpc>
              <a:buNone/>
            </a:pPr>
            <a:r>
              <a:rPr lang="en-US" sz="4500" b="1" spc="-150" kern="0" dirty="0">
                <a:solidFill>
                  <a:srgbClr val="0B132B"/>
                </a:solidFill>
                <a:latin typeface="Arial" pitchFamily="34" charset="0"/>
                <a:ea typeface="Arial" pitchFamily="34" charset="-122"/>
                <a:cs typeface="Arial" pitchFamily="34" charset="-120"/>
              </a:rPr>
              <a:t>2,080,000</a:t>
            </a:r>
            <a:endParaRPr lang="en-US" sz="4500" dirty="0"/>
          </a:p>
        </p:txBody>
      </p:sp>
      <p:sp>
        <p:nvSpPr>
          <p:cNvPr id="11" name="Text 8"/>
          <p:cNvSpPr/>
          <p:nvPr/>
        </p:nvSpPr>
        <p:spPr>
          <a:xfrm>
            <a:off x="4286139" y="3990886"/>
            <a:ext cx="3983242" cy="624856"/>
          </a:xfrm>
          <a:prstGeom prst="rect">
            <a:avLst/>
          </a:prstGeom>
          <a:noFill/>
          <a:ln/>
        </p:spPr>
        <p:txBody>
          <a:bodyPr wrap="square" lIns="25400" tIns="25400" rIns="25400" bIns="25400" rtlCol="0" anchor="t">
            <a:normAutofit/>
          </a:bodyPr>
          <a:lstStyle/>
          <a:p>
            <a:pPr algn="l" indent="0" marL="0">
              <a:lnSpc>
                <a:spcPct val="122245"/>
              </a:lnSpc>
              <a:buNone/>
            </a:pPr>
            <a:r>
              <a:rPr lang="en-US" sz="1650" dirty="0">
                <a:solidFill>
                  <a:srgbClr val="475569"/>
                </a:solidFill>
                <a:latin typeface="Arial" pitchFamily="34" charset="0"/>
                <a:ea typeface="Arial" pitchFamily="34" charset="-122"/>
                <a:cs typeface="Arial" pitchFamily="34" charset="-120"/>
              </a:rPr>
              <a:t>Thai IT salaries in year one, against BOI's 1,500,000 minimum</a:t>
            </a:r>
            <a:endParaRPr lang="en-US" sz="1650" dirty="0"/>
          </a:p>
        </p:txBody>
      </p:sp>
      <p:sp>
        <p:nvSpPr>
          <p:cNvPr id="12" name="Shape 9"/>
          <p:cNvSpPr/>
          <p:nvPr/>
        </p:nvSpPr>
        <p:spPr>
          <a:xfrm>
            <a:off x="914371" y="4787139"/>
            <a:ext cx="7238994" cy="9525"/>
          </a:xfrm>
          <a:prstGeom prst="rect">
            <a:avLst/>
          </a:prstGeom>
          <a:solidFill>
            <a:srgbClr val="E2E8F0"/>
          </a:solidFill>
          <a:ln/>
        </p:spPr>
      </p:sp>
      <p:sp>
        <p:nvSpPr>
          <p:cNvPr id="13" name="Text 10"/>
          <p:cNvSpPr/>
          <p:nvPr/>
        </p:nvSpPr>
        <p:spPr>
          <a:xfrm>
            <a:off x="914371" y="5001854"/>
            <a:ext cx="3457515" cy="723899"/>
          </a:xfrm>
          <a:prstGeom prst="rect">
            <a:avLst/>
          </a:prstGeom>
          <a:noFill/>
          <a:ln/>
        </p:spPr>
        <p:txBody>
          <a:bodyPr wrap="square" lIns="25400" tIns="25400" rIns="25400" bIns="25400" rtlCol="0" anchor="t">
            <a:normAutofit/>
          </a:bodyPr>
          <a:lstStyle/>
          <a:p>
            <a:pPr algn="l" indent="0" marL="0">
              <a:lnSpc>
                <a:spcPct val="87055"/>
              </a:lnSpc>
              <a:buNone/>
            </a:pPr>
            <a:r>
              <a:rPr lang="en-US" sz="5400" b="1" spc="-150" kern="0" dirty="0">
                <a:solidFill>
                  <a:srgbClr val="0B132B"/>
                </a:solidFill>
                <a:latin typeface="Arial" pitchFamily="34" charset="0"/>
                <a:ea typeface="Arial" pitchFamily="34" charset="-122"/>
                <a:cs typeface="Arial" pitchFamily="34" charset="-120"/>
              </a:rPr>
              <a:t>12</a:t>
            </a:r>
            <a:pPr algn="l" indent="0" marL="0">
              <a:lnSpc>
                <a:spcPct val="87055"/>
              </a:lnSpc>
              <a:buNone/>
            </a:pPr>
            <a:r>
              <a:rPr lang="en-US" sz="3000" b="1" spc="-150" kern="0" dirty="0">
                <a:solidFill>
                  <a:srgbClr val="ED3163"/>
                </a:solidFill>
                <a:latin typeface="Arial" pitchFamily="34" charset="0"/>
                <a:ea typeface="Arial" pitchFamily="34" charset="-122"/>
                <a:cs typeface="Arial" pitchFamily="34" charset="-120"/>
              </a:rPr>
              <a:t>months</a:t>
            </a:r>
            <a:endParaRPr lang="en-US" sz="5400" dirty="0"/>
          </a:p>
        </p:txBody>
      </p:sp>
      <p:sp>
        <p:nvSpPr>
          <p:cNvPr id="14" name="Text 11"/>
          <p:cNvSpPr/>
          <p:nvPr/>
        </p:nvSpPr>
        <p:spPr>
          <a:xfrm>
            <a:off x="4286139" y="5361831"/>
            <a:ext cx="4253948" cy="331478"/>
          </a:xfrm>
          <a:prstGeom prst="rect">
            <a:avLst/>
          </a:prstGeom>
          <a:noFill/>
          <a:ln/>
        </p:spPr>
        <p:txBody>
          <a:bodyPr wrap="square" lIns="25400" tIns="25400" rIns="25400" bIns="25400" rtlCol="0" anchor="t">
            <a:normAutofit/>
          </a:bodyPr>
          <a:lstStyle/>
          <a:p>
            <a:pPr algn="l" indent="0" marL="0">
              <a:lnSpc>
                <a:spcPct val="122245"/>
              </a:lnSpc>
              <a:buNone/>
            </a:pPr>
            <a:r>
              <a:rPr lang="en-US" sz="1650" dirty="0">
                <a:solidFill>
                  <a:srgbClr val="475569"/>
                </a:solidFill>
                <a:latin typeface="Arial" pitchFamily="34" charset="0"/>
                <a:ea typeface="Arial" pitchFamily="34" charset="-122"/>
                <a:cs typeface="Arial" pitchFamily="34" charset="-120"/>
              </a:rPr>
              <a:t>to completion</a:t>
            </a:r>
            <a:endParaRPr lang="en-US" sz="1650" dirty="0"/>
          </a:p>
        </p:txBody>
      </p:sp>
      <p:sp>
        <p:nvSpPr>
          <p:cNvPr id="15" name="Shape 12"/>
          <p:cNvSpPr/>
          <p:nvPr/>
        </p:nvSpPr>
        <p:spPr>
          <a:xfrm>
            <a:off x="914371" y="7268095"/>
            <a:ext cx="7238994" cy="9525"/>
          </a:xfrm>
          <a:prstGeom prst="rect">
            <a:avLst/>
          </a:prstGeom>
          <a:solidFill>
            <a:srgbClr val="E2E8F0"/>
          </a:solidFill>
          <a:ln/>
        </p:spPr>
      </p:sp>
      <p:sp>
        <p:nvSpPr>
          <p:cNvPr id="16" name="Shape 13"/>
          <p:cNvSpPr/>
          <p:nvPr/>
        </p:nvSpPr>
        <p:spPr>
          <a:xfrm>
            <a:off x="914371" y="5897150"/>
            <a:ext cx="7238994" cy="9525"/>
          </a:xfrm>
          <a:prstGeom prst="rect">
            <a:avLst/>
          </a:prstGeom>
          <a:solidFill>
            <a:srgbClr val="E2E8F0"/>
          </a:solidFill>
          <a:ln/>
        </p:spPr>
      </p:sp>
      <p:sp>
        <p:nvSpPr>
          <p:cNvPr id="17" name="Text 14"/>
          <p:cNvSpPr/>
          <p:nvPr/>
        </p:nvSpPr>
        <p:spPr>
          <a:xfrm>
            <a:off x="914371" y="6111865"/>
            <a:ext cx="3457515" cy="723899"/>
          </a:xfrm>
          <a:prstGeom prst="rect">
            <a:avLst/>
          </a:prstGeom>
          <a:noFill/>
          <a:ln/>
        </p:spPr>
        <p:txBody>
          <a:bodyPr wrap="square" lIns="25400" tIns="25400" rIns="25400" bIns="25400" rtlCol="0" anchor="t">
            <a:normAutofit/>
          </a:bodyPr>
          <a:lstStyle/>
          <a:p>
            <a:pPr algn="l" indent="0" marL="0">
              <a:lnSpc>
                <a:spcPct val="87055"/>
              </a:lnSpc>
              <a:buNone/>
            </a:pPr>
            <a:r>
              <a:rPr lang="en-US" sz="5400" b="1" spc="-150" kern="0" dirty="0">
                <a:solidFill>
                  <a:srgbClr val="0B132B"/>
                </a:solidFill>
                <a:latin typeface="Arial" pitchFamily="34" charset="0"/>
                <a:ea typeface="Arial" pitchFamily="34" charset="-122"/>
                <a:cs typeface="Arial" pitchFamily="34" charset="-120"/>
              </a:rPr>
              <a:t>2</a:t>
            </a:r>
            <a:pPr algn="l" indent="0" marL="0">
              <a:lnSpc>
                <a:spcPct val="87055"/>
              </a:lnSpc>
              <a:buNone/>
            </a:pPr>
            <a:r>
              <a:rPr lang="en-US" sz="3000" b="1" spc="-150" kern="0" dirty="0">
                <a:solidFill>
                  <a:srgbClr val="ED3163"/>
                </a:solidFill>
                <a:latin typeface="Arial" pitchFamily="34" charset="0"/>
                <a:ea typeface="Arial" pitchFamily="34" charset="-122"/>
                <a:cs typeface="Arial" pitchFamily="34" charset="-120"/>
              </a:rPr>
              <a:t>sites</a:t>
            </a:r>
            <a:endParaRPr lang="en-US" sz="5400" dirty="0"/>
          </a:p>
        </p:txBody>
      </p:sp>
      <p:sp>
        <p:nvSpPr>
          <p:cNvPr id="18" name="Text 15"/>
          <p:cNvSpPr/>
          <p:nvPr/>
        </p:nvSpPr>
        <p:spPr>
          <a:xfrm>
            <a:off x="4286139" y="6471842"/>
            <a:ext cx="3983242" cy="624856"/>
          </a:xfrm>
          <a:prstGeom prst="rect">
            <a:avLst/>
          </a:prstGeom>
          <a:noFill/>
          <a:ln/>
        </p:spPr>
        <p:txBody>
          <a:bodyPr wrap="square" lIns="25400" tIns="25400" rIns="25400" bIns="25400" rtlCol="0" anchor="t">
            <a:normAutofit/>
          </a:bodyPr>
          <a:lstStyle/>
          <a:p>
            <a:pPr algn="l" indent="0" marL="0">
              <a:lnSpc>
                <a:spcPct val="122245"/>
              </a:lnSpc>
              <a:buNone/>
            </a:pPr>
            <a:r>
              <a:rPr lang="en-US" sz="1650" dirty="0">
                <a:solidFill>
                  <a:srgbClr val="475569"/>
                </a:solidFill>
                <a:latin typeface="Arial" pitchFamily="34" charset="0"/>
                <a:ea typeface="Arial" pitchFamily="34" charset="-122"/>
                <a:cs typeface="Arial" pitchFamily="34" charset="-120"/>
              </a:rPr>
              <a:t>Ko Samui head office · Bangkok development branch, 100 sqm</a:t>
            </a:r>
            <a:endParaRPr lang="en-US" sz="1650" dirty="0"/>
          </a:p>
        </p:txBody>
      </p:sp>
      <p:sp>
        <p:nvSpPr>
          <p:cNvPr id="19" name="Shape 16"/>
          <p:cNvSpPr/>
          <p:nvPr/>
        </p:nvSpPr>
        <p:spPr>
          <a:xfrm>
            <a:off x="9067735" y="2400091"/>
            <a:ext cx="8305882" cy="9525"/>
          </a:xfrm>
          <a:prstGeom prst="rect">
            <a:avLst/>
          </a:prstGeom>
          <a:solidFill>
            <a:srgbClr val="E2E8F0"/>
          </a:solidFill>
          <a:ln/>
        </p:spPr>
      </p:sp>
      <p:sp>
        <p:nvSpPr>
          <p:cNvPr id="20" name="Text 17"/>
          <p:cNvSpPr/>
          <p:nvPr/>
        </p:nvSpPr>
        <p:spPr>
          <a:xfrm>
            <a:off x="9067735" y="2538658"/>
            <a:ext cx="8555058" cy="327995"/>
          </a:xfrm>
          <a:prstGeom prst="rect">
            <a:avLst/>
          </a:prstGeom>
          <a:noFill/>
          <a:ln/>
        </p:spPr>
        <p:txBody>
          <a:bodyPr wrap="square" lIns="25400" tIns="25400" rIns="25400" bIns="25400" rtlCol="0" anchor="t">
            <a:normAutofit/>
          </a:bodyPr>
          <a:lstStyle/>
          <a:p>
            <a:pPr algn="l" indent="0" marL="0">
              <a:lnSpc>
                <a:spcPct val="126350"/>
              </a:lnSpc>
              <a:buNone/>
            </a:pPr>
            <a:r>
              <a:rPr lang="en-US" sz="1575" b="1" dirty="0">
                <a:solidFill>
                  <a:srgbClr val="0B132B"/>
                </a:solidFill>
                <a:latin typeface="Arial" pitchFamily="34" charset="0"/>
                <a:ea typeface="Arial" pitchFamily="34" charset="-122"/>
                <a:cs typeface="Arial" pitchFamily="34" charset="-120"/>
              </a:rPr>
              <a:t>Higher participation in sport and physical activity, </a:t>
            </a:r>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against a measured 75% sedentary rate</a:t>
            </a:r>
            <a:endParaRPr lang="en-US" sz="1575" dirty="0"/>
          </a:p>
        </p:txBody>
      </p:sp>
      <p:sp>
        <p:nvSpPr>
          <p:cNvPr id="21" name="Shape 18"/>
          <p:cNvSpPr/>
          <p:nvPr/>
        </p:nvSpPr>
        <p:spPr>
          <a:xfrm>
            <a:off x="9067735" y="3449127"/>
            <a:ext cx="8305882" cy="9525"/>
          </a:xfrm>
          <a:prstGeom prst="rect">
            <a:avLst/>
          </a:prstGeom>
          <a:solidFill>
            <a:srgbClr val="E2E8F0"/>
          </a:solidFill>
          <a:ln/>
        </p:spPr>
      </p:sp>
      <p:sp>
        <p:nvSpPr>
          <p:cNvPr id="22" name="Text 19"/>
          <p:cNvSpPr/>
          <p:nvPr/>
        </p:nvSpPr>
        <p:spPr>
          <a:xfrm>
            <a:off x="9067735" y="3587694"/>
            <a:ext cx="8555058" cy="618031"/>
          </a:xfrm>
          <a:prstGeom prst="rect">
            <a:avLst/>
          </a:prstGeom>
          <a:noFill/>
          <a:ln/>
        </p:spPr>
        <p:txBody>
          <a:bodyPr wrap="square" lIns="25400" tIns="25400" rIns="25400" bIns="25400" rtlCol="0" anchor="t">
            <a:normAutofit/>
          </a:bodyPr>
          <a:lstStyle/>
          <a:p>
            <a:pPr algn="l" indent="0" marL="0">
              <a:lnSpc>
                <a:spcPct val="126350"/>
              </a:lnSpc>
              <a:buNone/>
            </a:pPr>
            <a:r>
              <a:rPr lang="en-US" sz="1575" b="1" dirty="0">
                <a:solidFill>
                  <a:srgbClr val="0B132B"/>
                </a:solidFill>
                <a:latin typeface="Arial" pitchFamily="34" charset="0"/>
                <a:ea typeface="Arial" pitchFamily="34" charset="-122"/>
                <a:cs typeface="Arial" pitchFamily="34" charset="-120"/>
              </a:rPr>
              <a:t>Amateur and minority sports made visible </a:t>
            </a:r>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 once the connective layer exists, the marginal cost of carrying one more sport is close to zero</a:t>
            </a:r>
            <a:endParaRPr lang="en-US" sz="1575" dirty="0"/>
          </a:p>
        </p:txBody>
      </p:sp>
      <p:sp>
        <p:nvSpPr>
          <p:cNvPr id="23" name="Shape 20"/>
          <p:cNvSpPr/>
          <p:nvPr/>
        </p:nvSpPr>
        <p:spPr>
          <a:xfrm>
            <a:off x="9067735" y="4788281"/>
            <a:ext cx="8305882" cy="9525"/>
          </a:xfrm>
          <a:prstGeom prst="rect">
            <a:avLst/>
          </a:prstGeom>
          <a:solidFill>
            <a:srgbClr val="E2E8F0"/>
          </a:solidFill>
          <a:ln/>
        </p:spPr>
      </p:sp>
      <p:sp>
        <p:nvSpPr>
          <p:cNvPr id="24" name="Text 21"/>
          <p:cNvSpPr/>
          <p:nvPr/>
        </p:nvSpPr>
        <p:spPr>
          <a:xfrm>
            <a:off x="9067735" y="4926848"/>
            <a:ext cx="8555058" cy="618031"/>
          </a:xfrm>
          <a:prstGeom prst="rect">
            <a:avLst/>
          </a:prstGeom>
          <a:noFill/>
          <a:ln/>
        </p:spPr>
        <p:txBody>
          <a:bodyPr wrap="square" lIns="25400" tIns="25400" rIns="25400" bIns="25400" rtlCol="0" anchor="t">
            <a:normAutofit/>
          </a:bodyPr>
          <a:lstStyle/>
          <a:p>
            <a:pPr algn="l" indent="0" marL="0">
              <a:lnSpc>
                <a:spcPct val="126350"/>
              </a:lnSpc>
              <a:buNone/>
            </a:pPr>
            <a:r>
              <a:rPr lang="en-US" sz="1575" b="1" dirty="0">
                <a:solidFill>
                  <a:srgbClr val="0B132B"/>
                </a:solidFill>
                <a:latin typeface="Arial" pitchFamily="34" charset="0"/>
                <a:ea typeface="Arial" pitchFamily="34" charset="-122"/>
                <a:cs typeface="Arial" pitchFamily="34" charset="-120"/>
              </a:rPr>
              <a:t>Venues brought into the digital tax system, </a:t>
            </a:r>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through automated reporting to the Revenue Department, at no cost to the state</a:t>
            </a:r>
            <a:endParaRPr lang="en-US" sz="1575" dirty="0"/>
          </a:p>
        </p:txBody>
      </p:sp>
      <p:sp>
        <p:nvSpPr>
          <p:cNvPr id="25" name="Shape 22"/>
          <p:cNvSpPr/>
          <p:nvPr/>
        </p:nvSpPr>
        <p:spPr>
          <a:xfrm>
            <a:off x="9067735" y="6127353"/>
            <a:ext cx="8305882" cy="9525"/>
          </a:xfrm>
          <a:prstGeom prst="rect">
            <a:avLst/>
          </a:prstGeom>
          <a:solidFill>
            <a:srgbClr val="E2E8F0"/>
          </a:solidFill>
          <a:ln/>
        </p:spPr>
      </p:sp>
      <p:sp>
        <p:nvSpPr>
          <p:cNvPr id="26" name="Text 23"/>
          <p:cNvSpPr/>
          <p:nvPr/>
        </p:nvSpPr>
        <p:spPr>
          <a:xfrm>
            <a:off x="9067735" y="6265920"/>
            <a:ext cx="8555058" cy="618031"/>
          </a:xfrm>
          <a:prstGeom prst="rect">
            <a:avLst/>
          </a:prstGeom>
          <a:noFill/>
          <a:ln/>
        </p:spPr>
        <p:txBody>
          <a:bodyPr wrap="square" lIns="25400" tIns="25400" rIns="25400" bIns="25400" rtlCol="0" anchor="t">
            <a:normAutofit/>
          </a:bodyPr>
          <a:lstStyle/>
          <a:p>
            <a:pPr algn="l" indent="0" marL="0">
              <a:lnSpc>
                <a:spcPct val="126350"/>
              </a:lnSpc>
              <a:buNone/>
            </a:pPr>
            <a:r>
              <a:rPr lang="en-US" sz="1575" b="1" dirty="0">
                <a:solidFill>
                  <a:srgbClr val="0B132B"/>
                </a:solidFill>
                <a:latin typeface="Arial" pitchFamily="34" charset="0"/>
                <a:ea typeface="Arial" pitchFamily="34" charset="-122"/>
                <a:cs typeface="Arial" pitchFamily="34" charset="-120"/>
              </a:rPr>
              <a:t>Sports tourism, </a:t>
            </a:r>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supporting the government's own Amazing Thailand Grand Tourism and Sports Year campaigns and the National Physical Activity Strategy 2018–2030</a:t>
            </a:r>
            <a:endParaRPr lang="en-US" sz="1575" dirty="0"/>
          </a:p>
        </p:txBody>
      </p:sp>
      <p:sp>
        <p:nvSpPr>
          <p:cNvPr id="27" name="Shape 24"/>
          <p:cNvSpPr/>
          <p:nvPr/>
        </p:nvSpPr>
        <p:spPr>
          <a:xfrm>
            <a:off x="9067735" y="7466506"/>
            <a:ext cx="8305882" cy="9525"/>
          </a:xfrm>
          <a:prstGeom prst="rect">
            <a:avLst/>
          </a:prstGeom>
          <a:solidFill>
            <a:srgbClr val="E2E8F0"/>
          </a:solidFill>
          <a:ln/>
        </p:spPr>
      </p:sp>
      <p:sp>
        <p:nvSpPr>
          <p:cNvPr id="28" name="Text 25"/>
          <p:cNvSpPr/>
          <p:nvPr/>
        </p:nvSpPr>
        <p:spPr>
          <a:xfrm>
            <a:off x="9067735" y="7605073"/>
            <a:ext cx="8555058" cy="327995"/>
          </a:xfrm>
          <a:prstGeom prst="rect">
            <a:avLst/>
          </a:prstGeom>
          <a:noFill/>
          <a:ln/>
        </p:spPr>
        <p:txBody>
          <a:bodyPr wrap="square" lIns="25400" tIns="25400" rIns="25400" bIns="25400" rtlCol="0" anchor="t">
            <a:normAutofit/>
          </a:bodyPr>
          <a:lstStyle/>
          <a:p>
            <a:pPr algn="l" indent="0" marL="0">
              <a:lnSpc>
                <a:spcPct val="126350"/>
              </a:lnSpc>
              <a:buNone/>
            </a:pPr>
            <a:r>
              <a:rPr lang="en-US" sz="1575" b="1" dirty="0">
                <a:solidFill>
                  <a:srgbClr val="0B132B"/>
                </a:solidFill>
                <a:latin typeface="Arial" pitchFamily="34" charset="0"/>
                <a:ea typeface="Arial" pitchFamily="34" charset="-122"/>
                <a:cs typeface="Arial" pitchFamily="34" charset="-120"/>
              </a:rPr>
              <a:t>Skilled Thai technology employment, </a:t>
            </a:r>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and the training that goes with it</a:t>
            </a:r>
            <a:endParaRPr lang="en-US" sz="1575" dirty="0"/>
          </a:p>
        </p:txBody>
      </p:sp>
      <p:sp>
        <p:nvSpPr>
          <p:cNvPr id="29" name="Shape 26"/>
          <p:cNvSpPr/>
          <p:nvPr/>
        </p:nvSpPr>
        <p:spPr>
          <a:xfrm>
            <a:off x="9067735" y="9367390"/>
            <a:ext cx="8305882" cy="9525"/>
          </a:xfrm>
          <a:prstGeom prst="rect">
            <a:avLst/>
          </a:prstGeom>
          <a:solidFill>
            <a:srgbClr val="E2E8F0"/>
          </a:solidFill>
          <a:ln/>
        </p:spPr>
      </p:sp>
      <p:sp>
        <p:nvSpPr>
          <p:cNvPr id="30" name="Shape 27"/>
          <p:cNvSpPr/>
          <p:nvPr/>
        </p:nvSpPr>
        <p:spPr>
          <a:xfrm>
            <a:off x="9067735" y="8515542"/>
            <a:ext cx="8305882" cy="9525"/>
          </a:xfrm>
          <a:prstGeom prst="rect">
            <a:avLst/>
          </a:prstGeom>
          <a:solidFill>
            <a:srgbClr val="E2E8F0"/>
          </a:solidFill>
          <a:ln/>
        </p:spPr>
      </p:sp>
      <p:sp>
        <p:nvSpPr>
          <p:cNvPr id="31" name="Text 28"/>
          <p:cNvSpPr/>
          <p:nvPr/>
        </p:nvSpPr>
        <p:spPr>
          <a:xfrm>
            <a:off x="9067735" y="8654109"/>
            <a:ext cx="8555058" cy="618031"/>
          </a:xfrm>
          <a:prstGeom prst="rect">
            <a:avLst/>
          </a:prstGeom>
          <a:noFill/>
          <a:ln/>
        </p:spPr>
        <p:txBody>
          <a:bodyPr wrap="square" lIns="25400" tIns="25400" rIns="25400" bIns="25400" rtlCol="0" anchor="t">
            <a:normAutofit/>
          </a:bodyPr>
          <a:lstStyle/>
          <a:p>
            <a:pPr algn="l" indent="0" marL="0">
              <a:lnSpc>
                <a:spcPct val="126350"/>
              </a:lnSpc>
              <a:buNone/>
            </a:pPr>
            <a:r>
              <a:rPr lang="en-US" sz="1575" b="1" dirty="0">
                <a:solidFill>
                  <a:srgbClr val="0B132B"/>
                </a:solidFill>
                <a:latin typeface="Arial" pitchFamily="34" charset="0"/>
                <a:ea typeface="Arial" pitchFamily="34" charset="-122"/>
                <a:cs typeface="Arial" pitchFamily="34" charset="-120"/>
              </a:rPr>
              <a:t>Participation data the state has never had </a:t>
            </a:r>
            <a:pPr algn="l" indent="0" marL="0">
              <a:lnSpc>
                <a:spcPct val="126350"/>
              </a:lnSpc>
              <a:buNone/>
            </a:pPr>
            <a:r>
              <a:rPr lang="en-US" sz="1575" dirty="0">
                <a:solidFill>
                  <a:srgbClr val="475569"/>
                </a:solidFill>
                <a:latin typeface="Arial" pitchFamily="34" charset="0"/>
                <a:ea typeface="Arial" pitchFamily="34" charset="-122"/>
                <a:cs typeface="Arial" pitchFamily="34" charset="-120"/>
              </a:rPr>
              <a:t>— which sports are growing, where, and among whom</a:t>
            </a:r>
            <a:endParaRPr lang="en-US" sz="1575" dirty="0"/>
          </a:p>
        </p:txBody>
      </p:sp>
      <p:sp>
        <p:nvSpPr>
          <p:cNvPr id="32" name="Shape 29"/>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
          </a:blip>
          <a:stretch>
            <a:fillRect/>
          </a:stretch>
        </p:blipFill>
        <p:spPr>
          <a:xfrm>
            <a:off x="95211" y="-174649"/>
            <a:ext cx="18097484" cy="10636195"/>
          </a:xfrm>
          <a:prstGeom prst="rect">
            <a:avLst/>
          </a:prstGeom>
        </p:spPr>
      </p:pic>
      <p:pic>
        <p:nvPicPr>
          <p:cNvPr id="3" name="Image 1" descr="preencoded.png">    </p:cNvPr>
          <p:cNvPicPr>
            <a:picLocks noChangeAspect="1"/>
          </p:cNvPicPr>
          <p:nvPr/>
        </p:nvPicPr>
        <p:blipFill>
          <a:blip r:embed="rId2"/>
          <a:stretch>
            <a:fillRect/>
          </a:stretch>
        </p:blipFill>
        <p:spPr>
          <a:xfrm>
            <a:off x="914371" y="533363"/>
            <a:ext cx="322561" cy="380927"/>
          </a:xfrm>
          <a:prstGeom prst="rect">
            <a:avLst/>
          </a:prstGeom>
        </p:spPr>
      </p:pic>
      <p:sp>
        <p:nvSpPr>
          <p:cNvPr id="4" name="Text 0"/>
          <p:cNvSpPr/>
          <p:nvPr/>
        </p:nvSpPr>
        <p:spPr>
          <a:xfrm>
            <a:off x="1332143" y="533770"/>
            <a:ext cx="1001902" cy="418130"/>
          </a:xfrm>
          <a:prstGeom prst="rect">
            <a:avLst/>
          </a:prstGeom>
          <a:noFill/>
          <a:ln/>
        </p:spPr>
        <p:txBody>
          <a:bodyPr wrap="square" lIns="25400" tIns="25400" rIns="25400" bIns="25400" rtlCol="0" anchor="t">
            <a:normAutofit/>
          </a:bodyPr>
          <a:lstStyle/>
          <a:p>
            <a:pPr algn="l" indent="0" marL="0">
              <a:lnSpc>
                <a:spcPct val="93394"/>
              </a:lnSpc>
              <a:buNone/>
            </a:pPr>
            <a:r>
              <a:rPr lang="en-US" sz="1425" b="1" dirty="0">
                <a:solidFill>
                  <a:srgbClr val="F6F8FA"/>
                </a:solidFill>
                <a:latin typeface="Arial" pitchFamily="34" charset="0"/>
                <a:ea typeface="Arial" pitchFamily="34" charset="-122"/>
                <a:cs typeface="Arial" pitchFamily="34" charset="-120"/>
              </a:rPr>
              <a:t>Education AI Group</a:t>
            </a:r>
            <a:endParaRPr lang="en-US" sz="1425" dirty="0"/>
          </a:p>
        </p:txBody>
      </p:sp>
      <p:sp>
        <p:nvSpPr>
          <p:cNvPr id="5" name="Text 1"/>
          <p:cNvSpPr/>
          <p:nvPr/>
        </p:nvSpPr>
        <p:spPr>
          <a:xfrm>
            <a:off x="16734446" y="609010"/>
            <a:ext cx="715371" cy="267651"/>
          </a:xfrm>
          <a:prstGeom prst="rect">
            <a:avLst/>
          </a:prstGeom>
          <a:noFill/>
          <a:ln/>
        </p:spPr>
        <p:txBody>
          <a:bodyPr wrap="none" lIns="25400" tIns="25400" rIns="25400" bIns="25400" rtlCol="0" anchor="t">
            <a:normAutofit/>
          </a:bodyPr>
          <a:lstStyle/>
          <a:p>
            <a:pPr algn="l" indent="0" marL="0">
              <a:buNone/>
            </a:pPr>
            <a:r>
              <a:rPr lang="en-US" sz="1500" dirty="0">
                <a:solidFill>
                  <a:srgbClr val="F6F8FA"/>
                </a:solidFill>
                <a:latin typeface="Arial" pitchFamily="34" charset="0"/>
                <a:ea typeface="Arial" pitchFamily="34" charset="-122"/>
                <a:cs typeface="Arial" pitchFamily="34" charset="-120"/>
              </a:rPr>
              <a:t>26 </a:t>
            </a:r>
            <a:pPr algn="l" indent="0" marL="0">
              <a:buNone/>
            </a:pPr>
            <a:r>
              <a:rPr lang="en-US" sz="1500" dirty="0">
                <a:solidFill>
                  <a:srgbClr val="ED3163"/>
                </a:solidFill>
                <a:latin typeface="Arial" pitchFamily="34" charset="0"/>
                <a:ea typeface="Arial" pitchFamily="34" charset="-122"/>
                <a:cs typeface="Arial" pitchFamily="34" charset="-120"/>
              </a:rPr>
              <a:t>| </a:t>
            </a:r>
            <a:pPr algn="l" indent="0" marL="0">
              <a:buNone/>
            </a:pPr>
            <a:r>
              <a:rPr lang="en-US" sz="1500" dirty="0">
                <a:solidFill>
                  <a:srgbClr val="F6F8FA"/>
                </a:solidFill>
                <a:latin typeface="Arial" pitchFamily="34" charset="0"/>
                <a:ea typeface="Arial" pitchFamily="34" charset="-122"/>
                <a:cs typeface="Arial" pitchFamily="34" charset="-120"/>
              </a:rPr>
              <a:t>26</a:t>
            </a:r>
            <a:endParaRPr lang="en-US" sz="1500" dirty="0"/>
          </a:p>
        </p:txBody>
      </p:sp>
      <p:pic>
        <p:nvPicPr>
          <p:cNvPr id="6" name="Image 2" descr="preencoded.png">    </p:cNvPr>
          <p:cNvPicPr>
            <a:picLocks noChangeAspect="1"/>
          </p:cNvPicPr>
          <p:nvPr/>
        </p:nvPicPr>
        <p:blipFill>
          <a:blip r:embed="rId3"/>
          <a:stretch>
            <a:fillRect/>
          </a:stretch>
        </p:blipFill>
        <p:spPr>
          <a:xfrm>
            <a:off x="7195708" y="3314706"/>
            <a:ext cx="3896490" cy="857228"/>
          </a:xfrm>
          <a:prstGeom prst="rect">
            <a:avLst/>
          </a:prstGeom>
        </p:spPr>
      </p:pic>
      <p:sp>
        <p:nvSpPr>
          <p:cNvPr id="7" name="Text 2"/>
          <p:cNvSpPr/>
          <p:nvPr/>
        </p:nvSpPr>
        <p:spPr>
          <a:xfrm>
            <a:off x="944785" y="4629079"/>
            <a:ext cx="16398336" cy="1466840"/>
          </a:xfrm>
          <a:prstGeom prst="rect">
            <a:avLst/>
          </a:prstGeom>
          <a:noFill/>
          <a:ln/>
        </p:spPr>
        <p:txBody>
          <a:bodyPr wrap="square" lIns="25400" tIns="25400" rIns="25400" bIns="25400" rtlCol="0" anchor="t">
            <a:normAutofit/>
          </a:bodyPr>
          <a:lstStyle/>
          <a:p>
            <a:pPr algn="ctr" indent="0" marL="0">
              <a:lnSpc>
                <a:spcPct val="86940"/>
              </a:lnSpc>
              <a:buNone/>
            </a:pPr>
            <a:r>
              <a:rPr lang="en-US" sz="11250" b="1" spc="-225" kern="0" dirty="0">
                <a:solidFill>
                  <a:srgbClr val="F6F8FA"/>
                </a:solidFill>
                <a:latin typeface="Arial" pitchFamily="34" charset="0"/>
                <a:ea typeface="Arial" pitchFamily="34" charset="-122"/>
                <a:cs typeface="Arial" pitchFamily="34" charset="-120"/>
              </a:rPr>
              <a:t>Get Thailand </a:t>
            </a:r>
            <a:pPr algn="ctr" indent="0" marL="0">
              <a:lnSpc>
                <a:spcPct val="86940"/>
              </a:lnSpc>
              <a:buNone/>
            </a:pPr>
            <a:r>
              <a:rPr lang="en-US" sz="11250" b="1" spc="-225" kern="0" dirty="0">
                <a:solidFill>
                  <a:srgbClr val="ED3163"/>
                </a:solidFill>
                <a:latin typeface="Arial" pitchFamily="34" charset="0"/>
                <a:ea typeface="Arial" pitchFamily="34" charset="-122"/>
                <a:cs typeface="Arial" pitchFamily="34" charset="-120"/>
              </a:rPr>
              <a:t>playing.</a:t>
            </a:r>
            <a:endParaRPr lang="en-US" sz="11250" dirty="0"/>
          </a:p>
        </p:txBody>
      </p:sp>
      <p:sp>
        <p:nvSpPr>
          <p:cNvPr id="8" name="Text 3"/>
          <p:cNvSpPr/>
          <p:nvPr/>
        </p:nvSpPr>
        <p:spPr>
          <a:xfrm>
            <a:off x="91409" y="8458236"/>
            <a:ext cx="18105171" cy="342890"/>
          </a:xfrm>
          <a:prstGeom prst="rect">
            <a:avLst/>
          </a:prstGeom>
          <a:noFill/>
          <a:ln/>
        </p:spPr>
        <p:txBody>
          <a:bodyPr wrap="square" lIns="25400" tIns="25400" rIns="25400" bIns="25400" rtlCol="0" anchor="t">
            <a:normAutofit/>
          </a:bodyPr>
          <a:lstStyle/>
          <a:p>
            <a:pPr algn="ctr" indent="0" marL="0">
              <a:lnSpc>
                <a:spcPct val="139104"/>
              </a:lnSpc>
              <a:buNone/>
            </a:pPr>
            <a:r>
              <a:rPr lang="en-US" sz="1500" b="1" dirty="0">
                <a:solidFill>
                  <a:srgbClr val="F6F8FA"/>
                </a:solidFill>
                <a:latin typeface="Arial" pitchFamily="34" charset="0"/>
                <a:ea typeface="Arial" pitchFamily="34" charset="-122"/>
                <a:cs typeface="Arial" pitchFamily="34" charset="-120"/>
              </a:rPr>
              <a:t>Education AI Group Co., Ltd.</a:t>
            </a:r>
            <a:endParaRPr lang="en-US" sz="1500" dirty="0"/>
          </a:p>
        </p:txBody>
      </p:sp>
      <p:sp>
        <p:nvSpPr>
          <p:cNvPr id="9" name="Text 4"/>
          <p:cNvSpPr/>
          <p:nvPr/>
        </p:nvSpPr>
        <p:spPr>
          <a:xfrm>
            <a:off x="91409" y="8763026"/>
            <a:ext cx="18105171" cy="342890"/>
          </a:xfrm>
          <a:prstGeom prst="rect">
            <a:avLst/>
          </a:prstGeom>
          <a:noFill/>
          <a:ln/>
        </p:spPr>
        <p:txBody>
          <a:bodyPr wrap="square" lIns="25400" tIns="25400" rIns="25400" bIns="25400" rtlCol="0" anchor="t">
            <a:normAutofit/>
          </a:bodyPr>
          <a:lstStyle/>
          <a:p>
            <a:pPr algn="ctr" indent="0" marL="0">
              <a:lnSpc>
                <a:spcPct val="139104"/>
              </a:lnSpc>
              <a:buNone/>
            </a:pPr>
            <a:r>
              <a:rPr lang="en-US" sz="1500" dirty="0">
                <a:solidFill>
                  <a:srgbClr val="94A3B8"/>
                </a:solidFill>
                <a:latin typeface="Arial" pitchFamily="34" charset="0"/>
                <a:ea typeface="Arial" pitchFamily="34" charset="-122"/>
                <a:cs typeface="Arial" pitchFamily="34" charset="-120"/>
              </a:rPr>
              <a:t>Registration 0845568020186 · Bo Phut, Ko Samui, Surat Thani</a:t>
            </a:r>
            <a:endParaRPr lang="en-US" sz="1500" dirty="0"/>
          </a:p>
        </p:txBody>
      </p:sp>
      <p:sp>
        <p:nvSpPr>
          <p:cNvPr id="10" name="Text 5"/>
          <p:cNvSpPr/>
          <p:nvPr/>
        </p:nvSpPr>
        <p:spPr>
          <a:xfrm>
            <a:off x="91409" y="9067817"/>
            <a:ext cx="18105171" cy="342890"/>
          </a:xfrm>
          <a:prstGeom prst="rect">
            <a:avLst/>
          </a:prstGeom>
          <a:noFill/>
          <a:ln/>
        </p:spPr>
        <p:txBody>
          <a:bodyPr wrap="square" lIns="25400" tIns="25400" rIns="25400" bIns="25400" rtlCol="0" anchor="t">
            <a:normAutofit/>
          </a:bodyPr>
          <a:lstStyle/>
          <a:p>
            <a:pPr algn="ctr" indent="0" marL="0">
              <a:lnSpc>
                <a:spcPct val="139104"/>
              </a:lnSpc>
              <a:buNone/>
            </a:pPr>
            <a:r>
              <a:rPr lang="en-US" sz="1500" dirty="0">
                <a:solidFill>
                  <a:srgbClr val="94A3B8"/>
                </a:solidFill>
                <a:latin typeface="Arial" pitchFamily="34" charset="0"/>
                <a:ea typeface="Arial" pitchFamily="34" charset="-122"/>
                <a:cs typeface="Arial" pitchFamily="34" charset="-120"/>
              </a:rPr>
              <a:t>info@educationai.group</a:t>
            </a:r>
            <a:endParaRPr lang="en-US" sz="1500" dirty="0"/>
          </a:p>
        </p:txBody>
      </p:sp>
      <p:sp>
        <p:nvSpPr>
          <p:cNvPr id="11" name="Shape 6"/>
          <p:cNvSpPr/>
          <p:nvPr/>
        </p:nvSpPr>
        <p:spPr>
          <a:xfrm>
            <a:off x="0" y="10229835"/>
            <a:ext cx="18287987" cy="57143"/>
          </a:xfrm>
          <a:prstGeom prst="rect">
            <a:avLst/>
          </a:prstGeom>
          <a:gradFill rotWithShape="1">
            <a:gsLst>
              <a:gs pos="0">
                <a:srgbClr val="2563FF">
                  <a:alpha val="100000"/>
                </a:srgbClr>
              </a:gs>
              <a:gs pos="100000">
                <a:srgbClr val="00D4C8">
                  <a:alpha val="100000"/>
                </a:srgbClr>
              </a:gs>
            </a:gsLst>
            <a:lin ang="0" scaled="0"/>
          </a:gra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2026-09-05T16:01:11Z</dcterms:created>
  <dcterms:modified xsi:type="dcterms:W3CDTF">2026-09-05T16:01:11Z</dcterms:modified>
</cp:coreProperties>
</file>